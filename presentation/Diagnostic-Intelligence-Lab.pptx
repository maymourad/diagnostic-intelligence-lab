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BD7165-628F-484E-892A-BA2F892B498D}"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0B87DA-BF7C-426D-AA8A-7773E041BDB4}" type="slidenum">
              <a:rPr lang="en-US" smtClean="0"/>
              <a:t>‹#›</a:t>
            </a:fld>
            <a:endParaRPr lang="en-US"/>
          </a:p>
        </p:txBody>
      </p:sp>
    </p:spTree>
    <p:extLst>
      <p:ext uri="{BB962C8B-B14F-4D97-AF65-F5344CB8AC3E}">
        <p14:creationId xmlns:p14="http://schemas.microsoft.com/office/powerpoint/2010/main" val="4002720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This is a student research prototype by May Ahmed Mourad, Shamsa Faris Almazrouei and Fatima Mohamed Almazrouei (Grade 12, ADNOC Schools - Madinat Zayed). The name is provisional. The question we ask is not "can AI diagnose?" but "how accurately is a diagnosis read, and how would we know?" The eye on the right is our own 3D model - a schematic, not clinical evidence.</a:t>
            </a:r>
          </a:p>
        </p:txBody>
      </p:sp>
      <p:sp>
        <p:nvSpPr>
          <p:cNvPr id="4" name="Slide Number Placeholder 3"/>
          <p:cNvSpPr>
            <a:spLocks noGrp="1"/>
          </p:cNvSpPr>
          <p:nvPr>
            <p:ph type="sldNum" sz="quarter" idx="5"/>
          </p:nvPr>
        </p:nvSpPr>
        <p:spPr/>
        <p:txBody>
          <a:bodyPr/>
          <a:lstStyle/>
          <a:p>
            <a:fld id="{970B87DA-BF7C-426D-AA8A-7773E041BDB4}" type="slidenum">
              <a:rPr lang="en-US" smtClean="0"/>
              <a:t>1</a:t>
            </a:fld>
            <a:endParaRPr lang="en-US"/>
          </a:p>
        </p:txBody>
      </p:sp>
    </p:spTree>
    <p:extLst>
      <p:ext uri="{BB962C8B-B14F-4D97-AF65-F5344CB8AC3E}">
        <p14:creationId xmlns:p14="http://schemas.microsoft.com/office/powerpoint/2010/main" val="2995283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 Diabetic retinopathy can damage sight before symptoms appear, so screening programmes photograph the retina and a reader decides: refer, or re-screen. That decision rests on small signs and on whether the image can be read at all. Two errors matter and they are not equal: a false negative sends disease home; a false positive causes an unnecessary referral. The screenshot is our viewer with the answer deliberately hidden.</a:t>
            </a:r>
          </a:p>
        </p:txBody>
      </p:sp>
      <p:sp>
        <p:nvSpPr>
          <p:cNvPr id="4" name="Slide Number Placeholder 3"/>
          <p:cNvSpPr>
            <a:spLocks noGrp="1"/>
          </p:cNvSpPr>
          <p:nvPr>
            <p:ph type="sldNum" sz="quarter" idx="5"/>
          </p:nvPr>
        </p:nvSpPr>
        <p:spPr/>
        <p:txBody>
          <a:bodyPr/>
          <a:lstStyle/>
          <a:p>
            <a:fld id="{970B87DA-BF7C-426D-AA8A-7773E041BDB4}" type="slidenum">
              <a:rPr lang="en-US" smtClean="0"/>
              <a:t>2</a:t>
            </a:fld>
            <a:endParaRPr lang="en-US"/>
          </a:p>
        </p:txBody>
      </p:sp>
    </p:spTree>
    <p:extLst>
      <p:ext uri="{BB962C8B-B14F-4D97-AF65-F5344CB8AC3E}">
        <p14:creationId xmlns:p14="http://schemas.microsoft.com/office/powerpoint/2010/main" val="14429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research hypothesis in three parts, each tagged honestly. H1 we demonstrate educationally: a reading can be scored against a reference. H2 is specified and the statistics engine is built and unit-tested, but no model has been evaluated. H3, whether an AI aid improves clinician accuracy, is future work and needs a controlled reader study - we make no such claim.</a:t>
            </a:r>
          </a:p>
        </p:txBody>
      </p:sp>
      <p:sp>
        <p:nvSpPr>
          <p:cNvPr id="4" name="Slide Number Placeholder 3"/>
          <p:cNvSpPr>
            <a:spLocks noGrp="1"/>
          </p:cNvSpPr>
          <p:nvPr>
            <p:ph type="sldNum" sz="quarter" idx="5"/>
          </p:nvPr>
        </p:nvSpPr>
        <p:spPr/>
        <p:txBody>
          <a:bodyPr/>
          <a:lstStyle/>
          <a:p>
            <a:fld id="{970B87DA-BF7C-426D-AA8A-7773E041BDB4}" type="slidenum">
              <a:rPr lang="en-US" smtClean="0"/>
              <a:t>3</a:t>
            </a:fld>
            <a:endParaRPr lang="en-US"/>
          </a:p>
        </p:txBody>
      </p:sp>
    </p:spTree>
    <p:extLst>
      <p:ext uri="{BB962C8B-B14F-4D97-AF65-F5344CB8AC3E}">
        <p14:creationId xmlns:p14="http://schemas.microsoft.com/office/powerpoint/2010/main" val="2196100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Expert reference standards. We use the ICDR five-level scale (Wilkinson et al., Ophthalmology 2003). Referable means moderate NPDR or worse, or suspected macular oedema. The 4-2-1 rule defines severe disease. Important honesty point: in this prototype the reference label is authored from each case's own lesion list and re-derived by an automated test - it is a teaching reference, not an independent expert panel. A real study needs several graders and adjudication.</a:t>
            </a:r>
          </a:p>
        </p:txBody>
      </p:sp>
      <p:sp>
        <p:nvSpPr>
          <p:cNvPr id="4" name="Slide Number Placeholder 3"/>
          <p:cNvSpPr>
            <a:spLocks noGrp="1"/>
          </p:cNvSpPr>
          <p:nvPr>
            <p:ph type="sldNum" sz="quarter" idx="5"/>
          </p:nvPr>
        </p:nvSpPr>
        <p:spPr/>
        <p:txBody>
          <a:bodyPr/>
          <a:lstStyle/>
          <a:p>
            <a:fld id="{970B87DA-BF7C-426D-AA8A-7773E041BDB4}" type="slidenum">
              <a:rPr lang="en-US" smtClean="0"/>
              <a:t>4</a:t>
            </a:fld>
            <a:endParaRPr lang="en-US"/>
          </a:p>
        </p:txBody>
      </p:sp>
    </p:spTree>
    <p:extLst>
      <p:ext uri="{BB962C8B-B14F-4D97-AF65-F5344CB8AC3E}">
        <p14:creationId xmlns:p14="http://schemas.microsoft.com/office/powerpoint/2010/main" val="2079996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Diagnostic Duel. The reader sees an image with no label, records an interpretation, locks it, and only then sees what the reference says. Because no model exists, the duel is Human vs Reference and is never labelled Human vs AI. The score is educational - a small synthetic set, not validated clinical performance - and it does not show that AI improves clinicians. If a reader opens the reference first, that case becomes practice-only and is excluded from the score.</a:t>
            </a:r>
          </a:p>
        </p:txBody>
      </p:sp>
      <p:sp>
        <p:nvSpPr>
          <p:cNvPr id="4" name="Slide Number Placeholder 3"/>
          <p:cNvSpPr>
            <a:spLocks noGrp="1"/>
          </p:cNvSpPr>
          <p:nvPr>
            <p:ph type="sldNum" sz="quarter" idx="5"/>
          </p:nvPr>
        </p:nvSpPr>
        <p:spPr/>
        <p:txBody>
          <a:bodyPr/>
          <a:lstStyle/>
          <a:p>
            <a:fld id="{970B87DA-BF7C-426D-AA8A-7773E041BDB4}" type="slidenum">
              <a:rPr lang="en-US" smtClean="0"/>
              <a:t>5</a:t>
            </a:fld>
            <a:endParaRPr lang="en-US"/>
          </a:p>
        </p:txBody>
      </p:sp>
    </p:spTree>
    <p:extLst>
      <p:ext uri="{BB962C8B-B14F-4D97-AF65-F5344CB8AC3E}">
        <p14:creationId xmlns:p14="http://schemas.microsoft.com/office/powerpoint/2010/main" val="1392870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EvidenceLens. A retinal viewer with smooth zoom and pan, layered reference annotations that reveal one layer at a time, an opacity control, a draggable before/after comparison, lesion information panels with source links, image-quality indicators measured from the pixels, and a side-by-side of reference versus model output where the model column reads not implemented. The annotations are drawn from the same lesion list that generated the synthetic image - never produced by an AI model - and we say so in the interface.</a:t>
            </a:r>
          </a:p>
        </p:txBody>
      </p:sp>
      <p:sp>
        <p:nvSpPr>
          <p:cNvPr id="4" name="Slide Number Placeholder 3"/>
          <p:cNvSpPr>
            <a:spLocks noGrp="1"/>
          </p:cNvSpPr>
          <p:nvPr>
            <p:ph type="sldNum" sz="quarter" idx="5"/>
          </p:nvPr>
        </p:nvSpPr>
        <p:spPr/>
        <p:txBody>
          <a:bodyPr/>
          <a:lstStyle/>
          <a:p>
            <a:fld id="{970B87DA-BF7C-426D-AA8A-7773E041BDB4}" type="slidenum">
              <a:rPr lang="en-US" smtClean="0"/>
              <a:t>6</a:t>
            </a:fld>
            <a:endParaRPr lang="en-US"/>
          </a:p>
        </p:txBody>
      </p:sp>
    </p:spTree>
    <p:extLst>
      <p:ext uri="{BB962C8B-B14F-4D97-AF65-F5344CB8AC3E}">
        <p14:creationId xmlns:p14="http://schemas.microsoft.com/office/powerpoint/2010/main" val="2511901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Accuracy Laboratory. Confusion matrix, sensitivity and specificity with Wilson intervals, threshold exploration, error-case inspection and research limits. The statistics are exact and unit-tested. Three provenance treatments can never be confused: real held-out predictions in solid navy, educational simulation in dashed teal with a stamp, and the learner's own duel record in ochre. What you see in the screenshot is the simulator - stamped SIMULATION - not a research result.</a:t>
            </a:r>
          </a:p>
        </p:txBody>
      </p:sp>
      <p:sp>
        <p:nvSpPr>
          <p:cNvPr id="4" name="Slide Number Placeholder 3"/>
          <p:cNvSpPr>
            <a:spLocks noGrp="1"/>
          </p:cNvSpPr>
          <p:nvPr>
            <p:ph type="sldNum" sz="quarter" idx="5"/>
          </p:nvPr>
        </p:nvSpPr>
        <p:spPr/>
        <p:txBody>
          <a:bodyPr/>
          <a:lstStyle/>
          <a:p>
            <a:fld id="{970B87DA-BF7C-426D-AA8A-7773E041BDB4}" type="slidenum">
              <a:rPr lang="en-US" smtClean="0"/>
              <a:t>7</a:t>
            </a:fld>
            <a:endParaRPr lang="en-US"/>
          </a:p>
        </p:txBody>
      </p:sp>
    </p:spTree>
    <p:extLst>
      <p:ext uri="{BB962C8B-B14F-4D97-AF65-F5344CB8AC3E}">
        <p14:creationId xmlns:p14="http://schemas.microsoft.com/office/powerpoint/2010/main" val="3046114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False negatives and diagnostic uncertainty. On the left, what the Duel says after a false negative: the costly error, the consequence, and a hint drawn from the reference lesion list. On the right, the Reliability Stress Test: blur, brightness and contrast change the image in real time and the quality indicators are measured from the pixels. When the image becomes unsuitable the app gives no result and shows a recapture pathway. It never invents a model confidence - there is no model.</a:t>
            </a:r>
          </a:p>
        </p:txBody>
      </p:sp>
      <p:sp>
        <p:nvSpPr>
          <p:cNvPr id="4" name="Slide Number Placeholder 3"/>
          <p:cNvSpPr>
            <a:spLocks noGrp="1"/>
          </p:cNvSpPr>
          <p:nvPr>
            <p:ph type="sldNum" sz="quarter" idx="5"/>
          </p:nvPr>
        </p:nvSpPr>
        <p:spPr/>
        <p:txBody>
          <a:bodyPr/>
          <a:lstStyle/>
          <a:p>
            <a:fld id="{970B87DA-BF7C-426D-AA8A-7773E041BDB4}" type="slidenum">
              <a:rPr lang="en-US" smtClean="0"/>
              <a:t>8</a:t>
            </a:fld>
            <a:endParaRPr lang="en-US"/>
          </a:p>
        </p:txBody>
      </p:sp>
    </p:spTree>
    <p:extLst>
      <p:ext uri="{BB962C8B-B14F-4D97-AF65-F5344CB8AC3E}">
        <p14:creationId xmlns:p14="http://schemas.microsoft.com/office/powerpoint/2010/main" val="747921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research-model evaluation. The honest answer: there is none. This machine has no Python environment, no GPU and no licensed research dataset, and training a toy model on sixteen synthetic drawings would be meaningless. So the protocol is specified in full, the statistics engine is implemented and tested, and the Laboratory will compute real results the moment a held-out predictions file is supplied. Until then every empty state says not implemented.</a:t>
            </a:r>
          </a:p>
        </p:txBody>
      </p:sp>
      <p:sp>
        <p:nvSpPr>
          <p:cNvPr id="4" name="Slide Number Placeholder 3"/>
          <p:cNvSpPr>
            <a:spLocks noGrp="1"/>
          </p:cNvSpPr>
          <p:nvPr>
            <p:ph type="sldNum" sz="quarter" idx="5"/>
          </p:nvPr>
        </p:nvSpPr>
        <p:spPr/>
        <p:txBody>
          <a:bodyPr/>
          <a:lstStyle/>
          <a:p>
            <a:fld id="{970B87DA-BF7C-426D-AA8A-7773E041BDB4}" type="slidenum">
              <a:rPr lang="en-US" smtClean="0"/>
              <a:t>9</a:t>
            </a:fld>
            <a:endParaRPr lang="en-US"/>
          </a:p>
        </p:txBody>
      </p:sp>
    </p:spTree>
    <p:extLst>
      <p:ext uri="{BB962C8B-B14F-4D97-AF65-F5344CB8AC3E}">
        <p14:creationId xmlns:p14="http://schemas.microsoft.com/office/powerpoint/2010/main" val="2002261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Responsible clinical integration. Before any clinical use there is a path: retrospective validation on a locally representative, patient-split dataset; silent prospective evaluation; an assisted-reading study that measures accuracy, time and automation bias; and regulated deployment with monitoring. This prototype stops before step one. Inside the prototype the safeguards are a human in the loop, a blind-first duel, five-way provenance, no fabrication, a no-result pathway, leakage control and privacy by design. The ledger on the right shows the five things we never merge.</a:t>
            </a:r>
          </a:p>
        </p:txBody>
      </p:sp>
      <p:sp>
        <p:nvSpPr>
          <p:cNvPr id="4" name="Slide Number Placeholder 3"/>
          <p:cNvSpPr>
            <a:spLocks noGrp="1"/>
          </p:cNvSpPr>
          <p:nvPr>
            <p:ph type="sldNum" sz="quarter" idx="5"/>
          </p:nvPr>
        </p:nvSpPr>
        <p:spPr/>
        <p:txBody>
          <a:bodyPr/>
          <a:lstStyle/>
          <a:p>
            <a:fld id="{970B87DA-BF7C-426D-AA8A-7773E041BDB4}" type="slidenum">
              <a:rPr lang="en-US" smtClean="0"/>
              <a:t>10</a:t>
            </a:fld>
            <a:endParaRPr lang="en-US"/>
          </a:p>
        </p:txBody>
      </p:sp>
    </p:spTree>
    <p:extLst>
      <p:ext uri="{BB962C8B-B14F-4D97-AF65-F5344CB8AC3E}">
        <p14:creationId xmlns:p14="http://schemas.microsoft.com/office/powerpoint/2010/main" val="1558181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Feature status, in three columns. Implemented means working and tested. Simulated means a clearly labelled educational stand-in. Future means not built. Test results: 35 browser tests in real Chrome (35 passing) plus unit tests for the statistics engine, ICDR reference consistency, bilingual parity and the identifier scanner.</a:t>
            </a:r>
          </a:p>
        </p:txBody>
      </p:sp>
      <p:sp>
        <p:nvSpPr>
          <p:cNvPr id="4" name="Slide Number Placeholder 3"/>
          <p:cNvSpPr>
            <a:spLocks noGrp="1"/>
          </p:cNvSpPr>
          <p:nvPr>
            <p:ph type="sldNum" sz="quarter" idx="5"/>
          </p:nvPr>
        </p:nvSpPr>
        <p:spPr/>
        <p:txBody>
          <a:bodyPr/>
          <a:lstStyle/>
          <a:p>
            <a:fld id="{970B87DA-BF7C-426D-AA8A-7773E041BDB4}" type="slidenum">
              <a:rPr lang="en-US" smtClean="0"/>
              <a:t>11</a:t>
            </a:fld>
            <a:endParaRPr lang="en-US"/>
          </a:p>
        </p:txBody>
      </p:sp>
    </p:spTree>
    <p:extLst>
      <p:ext uri="{BB962C8B-B14F-4D97-AF65-F5344CB8AC3E}">
        <p14:creationId xmlns:p14="http://schemas.microsoft.com/office/powerpoint/2010/main" val="2378552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steps and credits. The next scientific step is to obtain a licensed dataset and run the specified protocol - training a baseline, fixing the threshold on validation data and spending the test partition once - and only then think about a reader study. Thank the team and the school. Sources: ICDR and ETDRS grading criteria.</a:t>
            </a:r>
          </a:p>
        </p:txBody>
      </p:sp>
      <p:sp>
        <p:nvSpPr>
          <p:cNvPr id="4" name="Slide Number Placeholder 3"/>
          <p:cNvSpPr>
            <a:spLocks noGrp="1"/>
          </p:cNvSpPr>
          <p:nvPr>
            <p:ph type="sldNum" sz="quarter" idx="5"/>
          </p:nvPr>
        </p:nvSpPr>
        <p:spPr/>
        <p:txBody>
          <a:bodyPr/>
          <a:lstStyle/>
          <a:p>
            <a:fld id="{970B87DA-BF7C-426D-AA8A-7773E041BDB4}" type="slidenum">
              <a:rPr lang="en-US" smtClean="0"/>
              <a:t>12</a:t>
            </a:fld>
            <a:endParaRPr lang="en-US"/>
          </a:p>
        </p:txBody>
      </p:sp>
    </p:spTree>
    <p:extLst>
      <p:ext uri="{BB962C8B-B14F-4D97-AF65-F5344CB8AC3E}">
        <p14:creationId xmlns:p14="http://schemas.microsoft.com/office/powerpoint/2010/main" val="3718749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3548-0F7E-470B-AF21-0B65BF01FA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90E1C7-BBAB-B1DC-2DB8-7079488BB3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B34A2-8CD1-B556-AA86-46FF5E3513A4}"/>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5" name="Footer Placeholder 4">
            <a:extLst>
              <a:ext uri="{FF2B5EF4-FFF2-40B4-BE49-F238E27FC236}">
                <a16:creationId xmlns:a16="http://schemas.microsoft.com/office/drawing/2014/main" id="{70DB3D70-8093-7F1E-673D-78CBC3FC99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217D99-9087-FD84-DB67-64602DDEFACB}"/>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351873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7726B-5CB0-9E28-5DBA-4DCC0D0881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1E1FFB-093D-1172-2DB4-E710A7ADA1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1A49C-F643-E4E4-D498-7132E77C74A9}"/>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5" name="Footer Placeholder 4">
            <a:extLst>
              <a:ext uri="{FF2B5EF4-FFF2-40B4-BE49-F238E27FC236}">
                <a16:creationId xmlns:a16="http://schemas.microsoft.com/office/drawing/2014/main" id="{93EF5186-7A29-8DDF-2880-22407FF0D9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E4DCFA-BB3D-7CB4-1EBE-59942E7358E3}"/>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565938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EF813-1CDF-4753-EABA-10D789FFA2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D3BA30-A33E-2B0F-922A-6D24277E4A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C1093F-55C5-0A4B-687C-8F4F6404691C}"/>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5" name="Footer Placeholder 4">
            <a:extLst>
              <a:ext uri="{FF2B5EF4-FFF2-40B4-BE49-F238E27FC236}">
                <a16:creationId xmlns:a16="http://schemas.microsoft.com/office/drawing/2014/main" id="{02B3D965-ABA5-92CA-56E9-0DF5F5F9D0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C52087-C4E2-F6CF-F25D-810ABADA8215}"/>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3574606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78C2D-582C-F220-2646-37A1C5F696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38C908-33BE-4F0B-66E4-697CBC4F0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5863C3-ED15-CE7C-B8EE-FFC14241C4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8FA846-7D25-D69F-05F8-7F9076395F3E}"/>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6" name="Footer Placeholder 5">
            <a:extLst>
              <a:ext uri="{FF2B5EF4-FFF2-40B4-BE49-F238E27FC236}">
                <a16:creationId xmlns:a16="http://schemas.microsoft.com/office/drawing/2014/main" id="{D39516E3-1DB6-0B5C-8754-9A562D680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BA6C46-71E5-2E29-BD2C-B7E8504D77D4}"/>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2798477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F1BD7-3902-2EEE-6E75-5E837456FA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D2D88D-D937-DF9B-A781-5C5C1FF844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7DB7FE-BFBA-C48E-F07E-3FA3D9A26A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D7AAFC-7F81-C39B-EBBD-B95738F4CB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C5333B-1DAA-4C55-2E29-5766E691A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E5EF2C-BF22-B490-F380-71933A4D3B91}"/>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8" name="Footer Placeholder 7">
            <a:extLst>
              <a:ext uri="{FF2B5EF4-FFF2-40B4-BE49-F238E27FC236}">
                <a16:creationId xmlns:a16="http://schemas.microsoft.com/office/drawing/2014/main" id="{50250574-EAF8-8FBA-4636-0A9C375E91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310510-8027-A01B-D553-089EF6CFA069}"/>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2746351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9EF8-00F0-11DA-1CEE-22B8DB9BE5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092B23-AA95-8117-7326-3FAB33669355}"/>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4" name="Footer Placeholder 3">
            <a:extLst>
              <a:ext uri="{FF2B5EF4-FFF2-40B4-BE49-F238E27FC236}">
                <a16:creationId xmlns:a16="http://schemas.microsoft.com/office/drawing/2014/main" id="{83619A89-5AC6-A439-CF8B-0BC2E05117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E34780-0D78-78BE-A740-4A4F31DAC02D}"/>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1816540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6B8F1E-3C1D-13A6-976D-403BFD1952F5}"/>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3" name="Footer Placeholder 2">
            <a:extLst>
              <a:ext uri="{FF2B5EF4-FFF2-40B4-BE49-F238E27FC236}">
                <a16:creationId xmlns:a16="http://schemas.microsoft.com/office/drawing/2014/main" id="{40872151-9850-DB11-214B-5D4D98139D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36C51C-902C-33CB-0DAB-59CE3B39704A}"/>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364684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45746-4464-5532-4B03-D4B8C2C6E8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1765E4-46E6-9C27-0620-7AC4CE2016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16F780-E12F-74CB-B8F8-280A422E0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C7C249-6BC6-3734-3ABD-298F3BB705E0}"/>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6" name="Footer Placeholder 5">
            <a:extLst>
              <a:ext uri="{FF2B5EF4-FFF2-40B4-BE49-F238E27FC236}">
                <a16:creationId xmlns:a16="http://schemas.microsoft.com/office/drawing/2014/main" id="{EB58B96D-CC9E-25EB-FBAF-C2084EF3C3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EE1C80-D9BE-69B1-FEF0-56EF1A750283}"/>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52649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ADB19-4803-9BFA-0F4B-CD4A89C738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82FD22-5CC1-4B39-7AA5-CA67DC2CB6C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F2248F-FAF2-3D2E-F035-E8949FF59E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C772D9-5D02-2195-AB04-C41462886F67}"/>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6" name="Footer Placeholder 5">
            <a:extLst>
              <a:ext uri="{FF2B5EF4-FFF2-40B4-BE49-F238E27FC236}">
                <a16:creationId xmlns:a16="http://schemas.microsoft.com/office/drawing/2014/main" id="{D979B3C9-D073-FF52-87D8-2859560A10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4BBB14-70AD-2684-C6DD-2C347A78AB57}"/>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1549273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A4600-09A3-EBFD-6FF9-D16F92DB15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EF2411A-F6DC-1217-44D2-9FD0423CAA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6036A4-B4BF-6DF8-D03D-C606B2B8AE96}"/>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5" name="Footer Placeholder 4">
            <a:extLst>
              <a:ext uri="{FF2B5EF4-FFF2-40B4-BE49-F238E27FC236}">
                <a16:creationId xmlns:a16="http://schemas.microsoft.com/office/drawing/2014/main" id="{B805EB82-05CF-981D-4498-12FB5F8BA6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EC7B0A-D244-DAD6-1577-FBA369326092}"/>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3585718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EC8CF5-81F0-2B56-7E73-6600216736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138B44-C4F6-AAB3-C3D5-B352241340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ADDF2D-2A06-8832-9E6A-C0A5E24DD5EC}"/>
              </a:ext>
            </a:extLst>
          </p:cNvPr>
          <p:cNvSpPr>
            <a:spLocks noGrp="1"/>
          </p:cNvSpPr>
          <p:nvPr>
            <p:ph type="dt" sz="half" idx="10"/>
          </p:nvPr>
        </p:nvSpPr>
        <p:spPr/>
        <p:txBody>
          <a:bodyPr/>
          <a:lstStyle/>
          <a:p>
            <a:fld id="{2B4C642B-AFB3-4536-A591-2F1BDD61D7AD}" type="datetimeFigureOut">
              <a:rPr lang="en-US" smtClean="0"/>
              <a:t>10/27/2026</a:t>
            </a:fld>
            <a:endParaRPr lang="en-US"/>
          </a:p>
        </p:txBody>
      </p:sp>
      <p:sp>
        <p:nvSpPr>
          <p:cNvPr id="5" name="Footer Placeholder 4">
            <a:extLst>
              <a:ext uri="{FF2B5EF4-FFF2-40B4-BE49-F238E27FC236}">
                <a16:creationId xmlns:a16="http://schemas.microsoft.com/office/drawing/2014/main" id="{DC318445-599B-5DF4-FCA2-DBD5A3AD68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4C31AE-DDF1-D990-5BA4-CE74B67E6F3A}"/>
              </a:ext>
            </a:extLst>
          </p:cNvPr>
          <p:cNvSpPr>
            <a:spLocks noGrp="1"/>
          </p:cNvSpPr>
          <p:nvPr>
            <p:ph type="sldNum" sz="quarter" idx="12"/>
          </p:nvPr>
        </p:nvSpPr>
        <p:spPr/>
        <p:txBody>
          <a:bodyPr/>
          <a:lstStyle/>
          <a:p>
            <a:fld id="{38B5292E-831F-4B71-AA17-57DF3D673E0F}" type="slidenum">
              <a:rPr lang="en-US" smtClean="0"/>
              <a:t>‹#›</a:t>
            </a:fld>
            <a:endParaRPr lang="en-US"/>
          </a:p>
        </p:txBody>
      </p:sp>
    </p:spTree>
    <p:extLst>
      <p:ext uri="{BB962C8B-B14F-4D97-AF65-F5344CB8AC3E}">
        <p14:creationId xmlns:p14="http://schemas.microsoft.com/office/powerpoint/2010/main" val="425466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874575-7874-4178-001D-FC7ED42858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1CFF5C-B433-3F9A-4326-54274378EB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B8361D-9BE7-6A9E-10BA-FB45A5AD7A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4C642B-AFB3-4536-A591-2F1BDD61D7AD}" type="datetimeFigureOut">
              <a:rPr lang="en-US" smtClean="0"/>
              <a:t>10/27/2026</a:t>
            </a:fld>
            <a:endParaRPr lang="en-US"/>
          </a:p>
        </p:txBody>
      </p:sp>
      <p:sp>
        <p:nvSpPr>
          <p:cNvPr id="5" name="Footer Placeholder 4">
            <a:extLst>
              <a:ext uri="{FF2B5EF4-FFF2-40B4-BE49-F238E27FC236}">
                <a16:creationId xmlns:a16="http://schemas.microsoft.com/office/drawing/2014/main" id="{4810F813-B94C-99C9-D2A7-37D9338880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8F1569-0494-93AA-C160-AE2E864084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8B5292E-831F-4B71-AA17-57DF3D673E0F}" type="slidenum">
              <a:rPr lang="en-US" smtClean="0"/>
              <a:t>‹#›</a:t>
            </a:fld>
            <a:endParaRPr lang="en-US"/>
          </a:p>
        </p:txBody>
      </p:sp>
    </p:spTree>
    <p:extLst>
      <p:ext uri="{BB962C8B-B14F-4D97-AF65-F5344CB8AC3E}">
        <p14:creationId xmlns:p14="http://schemas.microsoft.com/office/powerpoint/2010/main" val="523484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A2C"/>
        </a:solidFill>
        <a:effectLst/>
      </p:bgPr>
    </p:bg>
    <p:spTree>
      <p:nvGrpSpPr>
        <p:cNvPr id="1" name=""/>
        <p:cNvGrpSpPr/>
        <p:nvPr/>
      </p:nvGrpSpPr>
      <p:grpSpPr>
        <a:xfrm>
          <a:off x="0" y="0"/>
          <a:ext cx="0" cy="0"/>
          <a:chOff x="0" y="0"/>
          <a:chExt cx="0" cy="0"/>
        </a:xfrm>
      </p:grpSpPr>
      <p:sp>
        <p:nvSpPr>
          <p:cNvPr id="2" name="txt-1">
            <a:extLst>
              <a:ext uri="{FF2B5EF4-FFF2-40B4-BE49-F238E27FC236}">
                <a16:creationId xmlns:a16="http://schemas.microsoft.com/office/drawing/2014/main" id="{20843706-15DC-879B-144D-0AE162435A7C}"/>
              </a:ext>
            </a:extLst>
          </p:cNvPr>
          <p:cNvSpPr txBox="1"/>
          <p:nvPr/>
        </p:nvSpPr>
        <p:spPr>
          <a:xfrm>
            <a:off x="609600" y="685800"/>
            <a:ext cx="7620000" cy="203200"/>
          </a:xfrm>
          <a:prstGeom prst="rect">
            <a:avLst/>
          </a:prstGeom>
          <a:noFill/>
        </p:spPr>
        <p:txBody>
          <a:bodyPr vert="horz" wrap="square" lIns="0" tIns="0" rIns="0" bIns="0" rtlCol="0" anchor="t">
            <a:noAutofit/>
          </a:bodyPr>
          <a:lstStyle/>
          <a:p>
            <a:r>
              <a:rPr lang="en-US" sz="1100">
                <a:solidFill>
                  <a:srgbClr val="4A9A92"/>
                </a:solidFill>
                <a:latin typeface="Consolas" panose="020B0609020204030204" pitchFamily="49" charset="0"/>
              </a:rPr>
              <a:t>STUDENT RESEARCH PROTOTYPE · ADNOC SCHOOLS — MADINAT ZAYED</a:t>
            </a:r>
          </a:p>
        </p:txBody>
      </p:sp>
      <p:sp>
        <p:nvSpPr>
          <p:cNvPr id="3" name="txt-2">
            <a:extLst>
              <a:ext uri="{FF2B5EF4-FFF2-40B4-BE49-F238E27FC236}">
                <a16:creationId xmlns:a16="http://schemas.microsoft.com/office/drawing/2014/main" id="{AEB0C3CF-3FA0-4664-0A6A-568371B55270}"/>
              </a:ext>
            </a:extLst>
          </p:cNvPr>
          <p:cNvSpPr txBox="1"/>
          <p:nvPr/>
        </p:nvSpPr>
        <p:spPr>
          <a:xfrm>
            <a:off x="609600" y="1219200"/>
            <a:ext cx="5969000" cy="2921000"/>
          </a:xfrm>
          <a:prstGeom prst="rect">
            <a:avLst/>
          </a:prstGeom>
          <a:noFill/>
        </p:spPr>
        <p:txBody>
          <a:bodyPr vert="horz" wrap="square" lIns="0" tIns="0" rIns="0" bIns="0" rtlCol="0" anchor="t">
            <a:noAutofit/>
          </a:bodyPr>
          <a:lstStyle/>
          <a:p>
            <a:pPr>
              <a:lnSpc>
                <a:spcPct val="92000"/>
              </a:lnSpc>
            </a:pPr>
            <a:r>
              <a:rPr lang="en-US" sz="5800">
                <a:solidFill>
                  <a:srgbClr val="F7F2E8"/>
                </a:solidFill>
                <a:latin typeface="Georgia" panose="02040502050405020303" pitchFamily="18" charset="0"/>
              </a:rPr>
              <a:t>Diagnostic</a:t>
            </a:r>
          </a:p>
          <a:p>
            <a:pPr>
              <a:lnSpc>
                <a:spcPct val="92000"/>
              </a:lnSpc>
            </a:pPr>
            <a:r>
              <a:rPr lang="en-US" sz="5800">
                <a:solidFill>
                  <a:srgbClr val="F7F2E8"/>
                </a:solidFill>
                <a:latin typeface="Georgia" panose="02040502050405020303" pitchFamily="18" charset="0"/>
              </a:rPr>
              <a:t>Intelligence</a:t>
            </a:r>
          </a:p>
          <a:p>
            <a:pPr>
              <a:lnSpc>
                <a:spcPct val="92000"/>
              </a:lnSpc>
            </a:pPr>
            <a:r>
              <a:rPr lang="en-US" sz="5800" i="1">
                <a:solidFill>
                  <a:srgbClr val="8FD0C8"/>
                </a:solidFill>
                <a:latin typeface="Georgia" panose="02040502050405020303" pitchFamily="18" charset="0"/>
              </a:rPr>
              <a:t>Lab</a:t>
            </a:r>
          </a:p>
        </p:txBody>
      </p:sp>
      <p:sp>
        <p:nvSpPr>
          <p:cNvPr id="4" name="txt-3">
            <a:extLst>
              <a:ext uri="{FF2B5EF4-FFF2-40B4-BE49-F238E27FC236}">
                <a16:creationId xmlns:a16="http://schemas.microsoft.com/office/drawing/2014/main" id="{D51EEF13-8624-EA06-1521-26B84DDD6C95}"/>
              </a:ext>
            </a:extLst>
          </p:cNvPr>
          <p:cNvSpPr txBox="1"/>
          <p:nvPr/>
        </p:nvSpPr>
        <p:spPr>
          <a:xfrm>
            <a:off x="609600" y="4241800"/>
            <a:ext cx="5588000" cy="762000"/>
          </a:xfrm>
          <a:prstGeom prst="rect">
            <a:avLst/>
          </a:prstGeom>
          <a:noFill/>
        </p:spPr>
        <p:txBody>
          <a:bodyPr vert="horz" wrap="square" lIns="0" tIns="0" rIns="0" bIns="0" rtlCol="0" anchor="t">
            <a:noAutofit/>
          </a:bodyPr>
          <a:lstStyle/>
          <a:p>
            <a:r>
              <a:rPr lang="en-US" sz="2000" i="1">
                <a:solidFill>
                  <a:srgbClr val="C9CFD6"/>
                </a:solidFill>
                <a:latin typeface="Georgia" panose="02040502050405020303" pitchFamily="18" charset="0"/>
              </a:rPr>
              <a:t>How accurately is a diagnosis read — and how would we know?</a:t>
            </a:r>
          </a:p>
        </p:txBody>
      </p:sp>
      <p:sp>
        <p:nvSpPr>
          <p:cNvPr id="5" name="txt-4">
            <a:extLst>
              <a:ext uri="{FF2B5EF4-FFF2-40B4-BE49-F238E27FC236}">
                <a16:creationId xmlns:a16="http://schemas.microsoft.com/office/drawing/2014/main" id="{465CC976-3988-5EFA-135C-7F143973FBFF}"/>
              </a:ext>
            </a:extLst>
          </p:cNvPr>
          <p:cNvSpPr txBox="1"/>
          <p:nvPr/>
        </p:nvSpPr>
        <p:spPr>
          <a:xfrm>
            <a:off x="609600" y="5207000"/>
            <a:ext cx="5588000" cy="965200"/>
          </a:xfrm>
          <a:prstGeom prst="rect">
            <a:avLst/>
          </a:prstGeom>
          <a:noFill/>
        </p:spPr>
        <p:txBody>
          <a:bodyPr vert="horz" wrap="square" lIns="0" tIns="0" rIns="0" bIns="0" rtlCol="0" anchor="t">
            <a:noAutofit/>
          </a:bodyPr>
          <a:lstStyle/>
          <a:p>
            <a:pPr>
              <a:lnSpc>
                <a:spcPct val="105000"/>
              </a:lnSpc>
              <a:spcAft>
                <a:spcPts val="200"/>
              </a:spcAft>
            </a:pPr>
            <a:r>
              <a:rPr lang="en-US" sz="1400">
                <a:solidFill>
                  <a:srgbClr val="F7F2E8"/>
                </a:solidFill>
                <a:latin typeface="Calibri" panose="020F0502020204030204" pitchFamily="34" charset="0"/>
              </a:rPr>
              <a:t>May Ahmed Mourad · G12</a:t>
            </a:r>
          </a:p>
          <a:p>
            <a:pPr>
              <a:lnSpc>
                <a:spcPct val="105000"/>
              </a:lnSpc>
              <a:spcAft>
                <a:spcPts val="200"/>
              </a:spcAft>
            </a:pPr>
            <a:r>
              <a:rPr lang="en-US" sz="1400">
                <a:solidFill>
                  <a:srgbClr val="F7F2E8"/>
                </a:solidFill>
                <a:latin typeface="Calibri" panose="020F0502020204030204" pitchFamily="34" charset="0"/>
              </a:rPr>
              <a:t>Shamsa Faris Almazrouei · G12</a:t>
            </a:r>
          </a:p>
          <a:p>
            <a:pPr>
              <a:lnSpc>
                <a:spcPct val="105000"/>
              </a:lnSpc>
              <a:spcAft>
                <a:spcPts val="200"/>
              </a:spcAft>
            </a:pPr>
            <a:r>
              <a:rPr lang="en-US" sz="1400">
                <a:solidFill>
                  <a:srgbClr val="F7F2E8"/>
                </a:solidFill>
                <a:latin typeface="Calibri" panose="020F0502020204030204" pitchFamily="34" charset="0"/>
              </a:rPr>
              <a:t>Fatima Mohamed Almazrouei · G12</a:t>
            </a:r>
          </a:p>
        </p:txBody>
      </p:sp>
      <p:sp>
        <p:nvSpPr>
          <p:cNvPr id="6" name="txt-5">
            <a:extLst>
              <a:ext uri="{FF2B5EF4-FFF2-40B4-BE49-F238E27FC236}">
                <a16:creationId xmlns:a16="http://schemas.microsoft.com/office/drawing/2014/main" id="{8618CF59-0CCF-25A7-78C8-CB91273E40EC}"/>
              </a:ext>
            </a:extLst>
          </p:cNvPr>
          <p:cNvSpPr txBox="1"/>
          <p:nvPr/>
        </p:nvSpPr>
        <p:spPr>
          <a:xfrm>
            <a:off x="609600" y="6197600"/>
            <a:ext cx="5588000" cy="2032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rPr>
              <a:t>Provisional project title · a final brand has not been chosen</a:t>
            </a:r>
          </a:p>
        </p:txBody>
      </p:sp>
      <p:pic>
        <p:nvPicPr>
          <p:cNvPr id="8" name="pic-6" descr="Screenshot of the prototype entry page: an original 3D model of a human right eye, cut in section, showing the lens, vitreous body and retina.">
            <a:extLst>
              <a:ext uri="{FF2B5EF4-FFF2-40B4-BE49-F238E27FC236}">
                <a16:creationId xmlns:a16="http://schemas.microsoft.com/office/drawing/2014/main" id="{DC1D7A5A-2E2E-9F33-4528-B0DB0D6BCA62}"/>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a:xfrm>
            <a:off x="6096000" y="1905000"/>
            <a:ext cx="5486400" cy="3086100"/>
          </a:xfrm>
          <a:prstGeom prst="rect">
            <a:avLst/>
          </a:prstGeom>
          <a:ln w="9525">
            <a:solidFill>
              <a:srgbClr val="234A73"/>
            </a:solidFill>
          </a:ln>
        </p:spPr>
      </p:pic>
      <p:sp>
        <p:nvSpPr>
          <p:cNvPr id="9" name="txt-7">
            <a:extLst>
              <a:ext uri="{FF2B5EF4-FFF2-40B4-BE49-F238E27FC236}">
                <a16:creationId xmlns:a16="http://schemas.microsoft.com/office/drawing/2014/main" id="{E8A01F6D-892E-1828-51CF-79C5BEEFA6D2}"/>
              </a:ext>
            </a:extLst>
          </p:cNvPr>
          <p:cNvSpPr txBox="1"/>
          <p:nvPr/>
        </p:nvSpPr>
        <p:spPr>
          <a:xfrm>
            <a:off x="6096000" y="5105400"/>
            <a:ext cx="5486400" cy="355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rPr>
              <a:t>Screenshot · original WebGL eye, schematic and not to scale</a:t>
            </a:r>
          </a:p>
        </p:txBody>
      </p:sp>
    </p:spTree>
    <p:extLst>
      <p:ext uri="{BB962C8B-B14F-4D97-AF65-F5344CB8AC3E}">
        <p14:creationId xmlns:p14="http://schemas.microsoft.com/office/powerpoint/2010/main" val="423379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8">
            <a:extLst>
              <a:ext uri="{FF2B5EF4-FFF2-40B4-BE49-F238E27FC236}">
                <a16:creationId xmlns:a16="http://schemas.microsoft.com/office/drawing/2014/main" id="{ABC16F2A-36CA-EDE5-1B5E-DC274F2A4E70}"/>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01 · THE DIAGNOSTIC PROBLEM</a:t>
            </a:r>
          </a:p>
        </p:txBody>
      </p:sp>
      <p:sp>
        <p:nvSpPr>
          <p:cNvPr id="3" name="txt-9">
            <a:extLst>
              <a:ext uri="{FF2B5EF4-FFF2-40B4-BE49-F238E27FC236}">
                <a16:creationId xmlns:a16="http://schemas.microsoft.com/office/drawing/2014/main" id="{F98B364D-B09C-8187-4C98-AD2CA19A5A75}"/>
              </a:ext>
            </a:extLst>
          </p:cNvPr>
          <p:cNvSpPr txBox="1"/>
          <p:nvPr/>
        </p:nvSpPr>
        <p:spPr>
          <a:xfrm>
            <a:off x="609600" y="736600"/>
            <a:ext cx="5334000" cy="1066800"/>
          </a:xfrm>
          <a:prstGeom prst="rect">
            <a:avLst/>
          </a:prstGeom>
          <a:noFill/>
        </p:spPr>
        <p:txBody>
          <a:bodyPr vert="horz" wrap="square" lIns="0" tIns="0" rIns="0" bIns="0" rtlCol="0" anchor="t">
            <a:noAutofit/>
          </a:bodyPr>
          <a:lstStyle/>
          <a:p>
            <a:pPr>
              <a:lnSpc>
                <a:spcPct val="95000"/>
              </a:lnSpc>
            </a:pPr>
            <a:r>
              <a:rPr lang="en-US" sz="3200">
                <a:solidFill>
                  <a:srgbClr val="0A1A2C"/>
                </a:solidFill>
                <a:latin typeface="Georgia" panose="02040502050405020303" pitchFamily="18" charset="0"/>
              </a:rPr>
              <a:t>A photograph is only as useful as its reading.</a:t>
            </a:r>
          </a:p>
        </p:txBody>
      </p:sp>
      <p:sp>
        <p:nvSpPr>
          <p:cNvPr id="4" name="txt-10">
            <a:extLst>
              <a:ext uri="{FF2B5EF4-FFF2-40B4-BE49-F238E27FC236}">
                <a16:creationId xmlns:a16="http://schemas.microsoft.com/office/drawing/2014/main" id="{B84E2BC3-AA5A-8C13-9770-6CFC8145956C}"/>
              </a:ext>
            </a:extLst>
          </p:cNvPr>
          <p:cNvSpPr txBox="1"/>
          <p:nvPr/>
        </p:nvSpPr>
        <p:spPr>
          <a:xfrm>
            <a:off x="609600" y="2133600"/>
            <a:ext cx="4978400" cy="2921000"/>
          </a:xfrm>
          <a:prstGeom prst="rect">
            <a:avLst/>
          </a:prstGeom>
          <a:noFill/>
        </p:spPr>
        <p:txBody>
          <a:bodyPr vert="horz" wrap="square" lIns="0" tIns="0" rIns="0" bIns="0" rtlCol="0" anchor="t">
            <a:noAutofit/>
          </a:bodyPr>
          <a:lstStyle/>
          <a:p>
            <a:pPr marL="177800" indent="-177800">
              <a:spcAft>
                <a:spcPts val="900"/>
              </a:spcAft>
              <a:buClr>
                <a:srgbClr val="3B4A5C"/>
              </a:buClr>
              <a:buFont typeface="+mj-lt"/>
              <a:buChar char="•"/>
            </a:pPr>
            <a:r>
              <a:rPr lang="en-US" sz="1600" b="1">
                <a:solidFill>
                  <a:srgbClr val="3B4A5C"/>
                </a:solidFill>
                <a:latin typeface="Calibri" panose="020F0502020204030204" pitchFamily="34" charset="0"/>
              </a:rPr>
              <a:t>Screening asks one question per image: </a:t>
            </a:r>
            <a:r>
              <a:rPr lang="en-US" sz="1600">
                <a:solidFill>
                  <a:srgbClr val="3B4A5C"/>
                </a:solidFill>
                <a:latin typeface="Calibri" panose="020F0502020204030204" pitchFamily="34" charset="0"/>
              </a:rPr>
              <a:t>refer, or re-screen?</a:t>
            </a:r>
          </a:p>
          <a:p>
            <a:pPr marL="177800" indent="-177800">
              <a:spcAft>
                <a:spcPts val="900"/>
              </a:spcAft>
              <a:buClr>
                <a:srgbClr val="3B4A5C"/>
              </a:buClr>
              <a:buFont typeface="+mj-lt"/>
              <a:buChar char="•"/>
            </a:pPr>
            <a:r>
              <a:rPr lang="en-US" sz="1600">
                <a:solidFill>
                  <a:srgbClr val="3B4A5C"/>
                </a:solidFill>
                <a:latin typeface="Calibri" panose="020F0502020204030204" pitchFamily="34" charset="0"/>
              </a:rPr>
              <a:t>The answer rests on small signs — a few microaneurysms, a haemorrhage near the edge — and on whether the image can be read at all.</a:t>
            </a:r>
          </a:p>
          <a:p>
            <a:pPr marL="177800" indent="-177800">
              <a:spcAft>
                <a:spcPts val="900"/>
              </a:spcAft>
              <a:buClr>
                <a:srgbClr val="3B4A5C"/>
              </a:buClr>
              <a:buFont typeface="+mj-lt"/>
              <a:buChar char="•"/>
            </a:pPr>
            <a:r>
              <a:rPr lang="en-US" sz="1600">
                <a:solidFill>
                  <a:srgbClr val="3B4A5C"/>
                </a:solidFill>
                <a:latin typeface="Calibri" panose="020F0502020204030204" pitchFamily="34" charset="0"/>
              </a:rPr>
              <a:t>Readers disagree, and cases near a boundary are where errors cluster.</a:t>
            </a:r>
          </a:p>
        </p:txBody>
      </p:sp>
      <p:pic>
        <p:nvPicPr>
          <p:cNvPr id="6" name="pic-11" descr="Screenshot of the EvidenceLens viewer showing a synthetic retinal image with no annotations: reference labels are hidden until the reader locks an interpretation.">
            <a:extLst>
              <a:ext uri="{FF2B5EF4-FFF2-40B4-BE49-F238E27FC236}">
                <a16:creationId xmlns:a16="http://schemas.microsoft.com/office/drawing/2014/main" id="{6344CD39-BEA1-9687-C47E-781977505517}"/>
              </a:ext>
            </a:extLst>
          </p:cNvPr>
          <p:cNvPicPr>
            <a:picLocks/>
          </p:cNvPicPr>
          <p:nvPr/>
        </p:nvPicPr>
        <p:blipFill>
          <a:blip r:embed="rId3">
            <a:extLst>
              <a:ext uri="{28A0092B-C50C-407E-A947-70E740481C1C}">
                <a14:useLocalDpi xmlns:a14="http://schemas.microsoft.com/office/drawing/2010/main" val="0"/>
              </a:ext>
            </a:extLst>
          </a:blip>
          <a:srcRect t="1" b="1"/>
          <a:stretch>
            <a:fillRect/>
          </a:stretch>
        </p:blipFill>
        <p:spPr>
          <a:xfrm>
            <a:off x="5969000" y="508000"/>
            <a:ext cx="5613400" cy="3157537"/>
          </a:xfrm>
          <a:prstGeom prst="rect">
            <a:avLst/>
          </a:prstGeom>
          <a:ln w="9525">
            <a:solidFill>
              <a:srgbClr val="CFC6B3"/>
            </a:solidFill>
          </a:ln>
        </p:spPr>
      </p:pic>
      <p:sp>
        <p:nvSpPr>
          <p:cNvPr id="7" name="txt-12">
            <a:extLst>
              <a:ext uri="{FF2B5EF4-FFF2-40B4-BE49-F238E27FC236}">
                <a16:creationId xmlns:a16="http://schemas.microsoft.com/office/drawing/2014/main" id="{FB0C4D82-72BD-0A0D-49C4-C45EEC43C4AF}"/>
              </a:ext>
            </a:extLst>
          </p:cNvPr>
          <p:cNvSpPr txBox="1"/>
          <p:nvPr/>
        </p:nvSpPr>
        <p:spPr>
          <a:xfrm>
            <a:off x="5969000" y="3759200"/>
            <a:ext cx="56134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the viewer in blind mode: labels and annotations are locked</a:t>
            </a:r>
          </a:p>
        </p:txBody>
      </p:sp>
      <p:sp>
        <p:nvSpPr>
          <p:cNvPr id="8" name="shape-13">
            <a:extLst>
              <a:ext uri="{FF2B5EF4-FFF2-40B4-BE49-F238E27FC236}">
                <a16:creationId xmlns:a16="http://schemas.microsoft.com/office/drawing/2014/main" id="{730FE838-A11B-2DC3-C902-7DF608FD2DA6}"/>
              </a:ext>
            </a:extLst>
          </p:cNvPr>
          <p:cNvSpPr/>
          <p:nvPr/>
        </p:nvSpPr>
        <p:spPr>
          <a:xfrm>
            <a:off x="5969000" y="4318000"/>
            <a:ext cx="2730500" cy="1905000"/>
          </a:xfrm>
          <a:prstGeom prst="rect">
            <a:avLst/>
          </a:prstGeom>
          <a:solidFill>
            <a:srgbClr val="FCFAF4"/>
          </a:solidFill>
          <a:ln w="9525">
            <a:solidFill>
              <a:srgbClr val="A946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xt-14">
            <a:extLst>
              <a:ext uri="{FF2B5EF4-FFF2-40B4-BE49-F238E27FC236}">
                <a16:creationId xmlns:a16="http://schemas.microsoft.com/office/drawing/2014/main" id="{A99D1769-B219-C60D-AD98-98FCD5A11F35}"/>
              </a:ext>
            </a:extLst>
          </p:cNvPr>
          <p:cNvSpPr txBox="1"/>
          <p:nvPr/>
        </p:nvSpPr>
        <p:spPr>
          <a:xfrm>
            <a:off x="6121400" y="4445000"/>
            <a:ext cx="2438400" cy="1651000"/>
          </a:xfrm>
          <a:prstGeom prst="rect">
            <a:avLst/>
          </a:prstGeom>
          <a:noFill/>
        </p:spPr>
        <p:txBody>
          <a:bodyPr vert="horz" wrap="square" lIns="0" tIns="0" rIns="0" bIns="0" rtlCol="0" anchor="t">
            <a:noAutofit/>
          </a:bodyPr>
          <a:lstStyle/>
          <a:p>
            <a:pPr>
              <a:spcAft>
                <a:spcPts val="400"/>
              </a:spcAft>
            </a:pPr>
            <a:r>
              <a:rPr lang="en-US" sz="1000">
                <a:solidFill>
                  <a:srgbClr val="A94632"/>
                </a:solidFill>
                <a:latin typeface="Consolas" panose="020B0609020204030204" pitchFamily="49" charset="0"/>
              </a:rPr>
              <a:t>FALSE NEGATIVE</a:t>
            </a:r>
          </a:p>
          <a:p>
            <a:pPr>
              <a:spcAft>
                <a:spcPts val="400"/>
              </a:spcAft>
            </a:pPr>
            <a:r>
              <a:rPr lang="en-US" sz="1700">
                <a:solidFill>
                  <a:srgbClr val="0A1A2C"/>
                </a:solidFill>
                <a:latin typeface="Georgia" panose="02040502050405020303" pitchFamily="18" charset="0"/>
              </a:rPr>
              <a:t>Disease sent home as normal.</a:t>
            </a:r>
          </a:p>
          <a:p>
            <a:pPr>
              <a:spcAft>
                <a:spcPts val="400"/>
              </a:spcAft>
            </a:pPr>
            <a:r>
              <a:rPr lang="en-US" sz="1300">
                <a:solidFill>
                  <a:srgbClr val="3B4A5C"/>
                </a:solidFill>
                <a:latin typeface="Calibri" panose="020F0502020204030204" pitchFamily="34" charset="0"/>
              </a:rPr>
              <a:t>The costly error: treatment is delayed and sight-threatening disease can progress unseen.</a:t>
            </a:r>
          </a:p>
        </p:txBody>
      </p:sp>
      <p:sp>
        <p:nvSpPr>
          <p:cNvPr id="10" name="shape-15">
            <a:extLst>
              <a:ext uri="{FF2B5EF4-FFF2-40B4-BE49-F238E27FC236}">
                <a16:creationId xmlns:a16="http://schemas.microsoft.com/office/drawing/2014/main" id="{2A9CB663-9B49-0910-315A-84E0A47E58C9}"/>
              </a:ext>
            </a:extLst>
          </p:cNvPr>
          <p:cNvSpPr/>
          <p:nvPr/>
        </p:nvSpPr>
        <p:spPr>
          <a:xfrm>
            <a:off x="8851900" y="4318000"/>
            <a:ext cx="2730500" cy="1905000"/>
          </a:xfrm>
          <a:prstGeom prst="rect">
            <a:avLst/>
          </a:prstGeom>
          <a:solidFill>
            <a:srgbClr val="FCFAF4"/>
          </a:solidFill>
          <a:ln w="9525">
            <a:solidFill>
              <a:srgbClr val="8F6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xt-16">
            <a:extLst>
              <a:ext uri="{FF2B5EF4-FFF2-40B4-BE49-F238E27FC236}">
                <a16:creationId xmlns:a16="http://schemas.microsoft.com/office/drawing/2014/main" id="{69603E12-FBB0-5CB9-557B-5B298BA1274F}"/>
              </a:ext>
            </a:extLst>
          </p:cNvPr>
          <p:cNvSpPr txBox="1"/>
          <p:nvPr/>
        </p:nvSpPr>
        <p:spPr>
          <a:xfrm>
            <a:off x="9004300" y="4445000"/>
            <a:ext cx="2438400" cy="1651000"/>
          </a:xfrm>
          <a:prstGeom prst="rect">
            <a:avLst/>
          </a:prstGeom>
          <a:noFill/>
        </p:spPr>
        <p:txBody>
          <a:bodyPr vert="horz" wrap="square" lIns="0" tIns="0" rIns="0" bIns="0" rtlCol="0" anchor="t">
            <a:noAutofit/>
          </a:bodyPr>
          <a:lstStyle/>
          <a:p>
            <a:pPr>
              <a:spcAft>
                <a:spcPts val="400"/>
              </a:spcAft>
            </a:pPr>
            <a:r>
              <a:rPr lang="en-US" sz="1000">
                <a:solidFill>
                  <a:srgbClr val="8F6614"/>
                </a:solidFill>
                <a:latin typeface="Consolas" panose="020B0609020204030204" pitchFamily="49" charset="0"/>
              </a:rPr>
              <a:t>FALSE POSITIVE</a:t>
            </a:r>
          </a:p>
          <a:p>
            <a:pPr>
              <a:spcAft>
                <a:spcPts val="400"/>
              </a:spcAft>
            </a:pPr>
            <a:r>
              <a:rPr lang="en-US" sz="1700">
                <a:solidFill>
                  <a:srgbClr val="0A1A2C"/>
                </a:solidFill>
                <a:latin typeface="Georgia" panose="02040502050405020303" pitchFamily="18" charset="0"/>
              </a:rPr>
              <a:t>A needless referral.</a:t>
            </a:r>
          </a:p>
          <a:p>
            <a:pPr>
              <a:spcAft>
                <a:spcPts val="400"/>
              </a:spcAft>
            </a:pPr>
            <a:r>
              <a:rPr lang="en-US" sz="1300">
                <a:solidFill>
                  <a:srgbClr val="3B4A5C"/>
                </a:solidFill>
                <a:latin typeface="Calibri" panose="020F0502020204030204" pitchFamily="34" charset="0"/>
              </a:rPr>
              <a:t>Cost, worry and queue pressure — usually the safer error, but at scale it can overwhelm a service.</a:t>
            </a:r>
          </a:p>
        </p:txBody>
      </p:sp>
      <p:sp>
        <p:nvSpPr>
          <p:cNvPr id="12" name="txt-17">
            <a:extLst>
              <a:ext uri="{FF2B5EF4-FFF2-40B4-BE49-F238E27FC236}">
                <a16:creationId xmlns:a16="http://schemas.microsoft.com/office/drawing/2014/main" id="{9B4C6553-3999-8C42-6F9A-DA3D646E28B8}"/>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13" name="txt-18">
            <a:extLst>
              <a:ext uri="{FF2B5EF4-FFF2-40B4-BE49-F238E27FC236}">
                <a16:creationId xmlns:a16="http://schemas.microsoft.com/office/drawing/2014/main" id="{A666613F-33B9-5D0F-DB04-FC2509FB3E0E}"/>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02</a:t>
            </a:r>
          </a:p>
        </p:txBody>
      </p:sp>
    </p:spTree>
    <p:extLst>
      <p:ext uri="{BB962C8B-B14F-4D97-AF65-F5344CB8AC3E}">
        <p14:creationId xmlns:p14="http://schemas.microsoft.com/office/powerpoint/2010/main" val="3046770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19">
            <a:extLst>
              <a:ext uri="{FF2B5EF4-FFF2-40B4-BE49-F238E27FC236}">
                <a16:creationId xmlns:a16="http://schemas.microsoft.com/office/drawing/2014/main" id="{58722810-607B-841E-B8CB-E51D13998896}"/>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02 · RESEARCH HYPOTHESIS</a:t>
            </a:r>
          </a:p>
        </p:txBody>
      </p:sp>
      <p:sp>
        <p:nvSpPr>
          <p:cNvPr id="3" name="txt-20">
            <a:extLst>
              <a:ext uri="{FF2B5EF4-FFF2-40B4-BE49-F238E27FC236}">
                <a16:creationId xmlns:a16="http://schemas.microsoft.com/office/drawing/2014/main" id="{7EC85EA4-6B93-380C-8150-5BD1DEF1D43C}"/>
              </a:ext>
            </a:extLst>
          </p:cNvPr>
          <p:cNvSpPr txBox="1"/>
          <p:nvPr/>
        </p:nvSpPr>
        <p:spPr>
          <a:xfrm>
            <a:off x="609600" y="736600"/>
            <a:ext cx="10972800" cy="1066800"/>
          </a:xfrm>
          <a:prstGeom prst="rect">
            <a:avLst/>
          </a:prstGeom>
          <a:noFill/>
        </p:spPr>
        <p:txBody>
          <a:bodyPr vert="horz" wrap="square" lIns="0" tIns="0" rIns="0" bIns="0" rtlCol="0" anchor="t">
            <a:noAutofit/>
          </a:bodyPr>
          <a:lstStyle/>
          <a:p>
            <a:pPr>
              <a:lnSpc>
                <a:spcPct val="95000"/>
              </a:lnSpc>
            </a:pPr>
            <a:r>
              <a:rPr lang="en-US" sz="3000">
                <a:solidFill>
                  <a:srgbClr val="0A1A2C"/>
                </a:solidFill>
                <a:latin typeface="Georgia" panose="02040502050405020303" pitchFamily="18" charset="0"/>
              </a:rPr>
              <a:t>Reading accuracy can be measured — case by case.</a:t>
            </a:r>
          </a:p>
        </p:txBody>
      </p:sp>
      <p:sp>
        <p:nvSpPr>
          <p:cNvPr id="4" name="shape-21">
            <a:extLst>
              <a:ext uri="{FF2B5EF4-FFF2-40B4-BE49-F238E27FC236}">
                <a16:creationId xmlns:a16="http://schemas.microsoft.com/office/drawing/2014/main" id="{5020DC7F-972C-31F7-36CE-7AFFA0ACC62D}"/>
              </a:ext>
            </a:extLst>
          </p:cNvPr>
          <p:cNvSpPr/>
          <p:nvPr/>
        </p:nvSpPr>
        <p:spPr>
          <a:xfrm>
            <a:off x="609600" y="2006600"/>
            <a:ext cx="3454400" cy="40640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22">
            <a:extLst>
              <a:ext uri="{FF2B5EF4-FFF2-40B4-BE49-F238E27FC236}">
                <a16:creationId xmlns:a16="http://schemas.microsoft.com/office/drawing/2014/main" id="{3772303B-B86F-7D07-554E-EEDAD6681073}"/>
              </a:ext>
            </a:extLst>
          </p:cNvPr>
          <p:cNvSpPr txBox="1"/>
          <p:nvPr/>
        </p:nvSpPr>
        <p:spPr>
          <a:xfrm>
            <a:off x="838200" y="2184400"/>
            <a:ext cx="1016000" cy="635000"/>
          </a:xfrm>
          <a:prstGeom prst="rect">
            <a:avLst/>
          </a:prstGeom>
          <a:noFill/>
        </p:spPr>
        <p:txBody>
          <a:bodyPr vert="horz" wrap="square" lIns="0" tIns="0" rIns="0" bIns="0" rtlCol="0" anchor="t">
            <a:noAutofit/>
          </a:bodyPr>
          <a:lstStyle/>
          <a:p>
            <a:r>
              <a:rPr lang="en-US" sz="4000" i="1">
                <a:solidFill>
                  <a:srgbClr val="2A665F"/>
                </a:solidFill>
                <a:latin typeface="Georgia" panose="02040502050405020303" pitchFamily="18" charset="0"/>
              </a:rPr>
              <a:t>H1</a:t>
            </a:r>
          </a:p>
        </p:txBody>
      </p:sp>
      <p:sp>
        <p:nvSpPr>
          <p:cNvPr id="6" name="shape-23">
            <a:extLst>
              <a:ext uri="{FF2B5EF4-FFF2-40B4-BE49-F238E27FC236}">
                <a16:creationId xmlns:a16="http://schemas.microsoft.com/office/drawing/2014/main" id="{32D65C1C-EBBA-C23E-9781-B12F2D9EEA2C}"/>
              </a:ext>
            </a:extLst>
          </p:cNvPr>
          <p:cNvSpPr/>
          <p:nvPr/>
        </p:nvSpPr>
        <p:spPr>
          <a:xfrm>
            <a:off x="838200" y="2946400"/>
            <a:ext cx="2682240" cy="254000"/>
          </a:xfrm>
          <a:prstGeom prst="rect">
            <a:avLst/>
          </a:prstGeom>
          <a:solidFill>
            <a:srgbClr val="FCFAF4"/>
          </a:solidFill>
          <a:ln w="9525">
            <a:solidFill>
              <a:srgbClr val="2A66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xt-24">
            <a:extLst>
              <a:ext uri="{FF2B5EF4-FFF2-40B4-BE49-F238E27FC236}">
                <a16:creationId xmlns:a16="http://schemas.microsoft.com/office/drawing/2014/main" id="{935BD28F-9681-2340-A82C-967432273889}"/>
              </a:ext>
            </a:extLst>
          </p:cNvPr>
          <p:cNvSpPr txBox="1"/>
          <p:nvPr/>
        </p:nvSpPr>
        <p:spPr>
          <a:xfrm>
            <a:off x="838200" y="2984500"/>
            <a:ext cx="2682240" cy="177800"/>
          </a:xfrm>
          <a:prstGeom prst="rect">
            <a:avLst/>
          </a:prstGeom>
          <a:noFill/>
        </p:spPr>
        <p:txBody>
          <a:bodyPr vert="horz" wrap="square" lIns="0" tIns="0" rIns="0" bIns="0" rtlCol="0" anchor="t">
            <a:noAutofit/>
          </a:bodyPr>
          <a:lstStyle/>
          <a:p>
            <a:pPr algn="ctr"/>
            <a:r>
              <a:rPr lang="en-US" sz="1000">
                <a:solidFill>
                  <a:srgbClr val="2A665F"/>
                </a:solidFill>
                <a:latin typeface="Consolas" panose="020B0609020204030204" pitchFamily="49" charset="0"/>
              </a:rPr>
              <a:t>DEMONSTRATED · EDUCATIONAL</a:t>
            </a:r>
          </a:p>
        </p:txBody>
      </p:sp>
      <p:sp>
        <p:nvSpPr>
          <p:cNvPr id="8" name="txt-25">
            <a:extLst>
              <a:ext uri="{FF2B5EF4-FFF2-40B4-BE49-F238E27FC236}">
                <a16:creationId xmlns:a16="http://schemas.microsoft.com/office/drawing/2014/main" id="{90C5C287-082E-F771-3543-21C438C9D442}"/>
              </a:ext>
            </a:extLst>
          </p:cNvPr>
          <p:cNvSpPr txBox="1"/>
          <p:nvPr/>
        </p:nvSpPr>
        <p:spPr>
          <a:xfrm>
            <a:off x="838200" y="3378200"/>
            <a:ext cx="2997200" cy="762000"/>
          </a:xfrm>
          <a:prstGeom prst="rect">
            <a:avLst/>
          </a:prstGeom>
          <a:noFill/>
        </p:spPr>
        <p:txBody>
          <a:bodyPr vert="horz" wrap="square" lIns="0" tIns="0" rIns="0" bIns="0" rtlCol="0" anchor="t">
            <a:noAutofit/>
          </a:bodyPr>
          <a:lstStyle/>
          <a:p>
            <a:r>
              <a:rPr lang="en-US">
                <a:solidFill>
                  <a:srgbClr val="0A1A2C"/>
                </a:solidFill>
                <a:latin typeface="Georgia" panose="02040502050405020303" pitchFamily="18" charset="0"/>
              </a:rPr>
              <a:t>Readings can be scored against a reference.</a:t>
            </a:r>
          </a:p>
        </p:txBody>
      </p:sp>
      <p:sp>
        <p:nvSpPr>
          <p:cNvPr id="9" name="txt-26">
            <a:extLst>
              <a:ext uri="{FF2B5EF4-FFF2-40B4-BE49-F238E27FC236}">
                <a16:creationId xmlns:a16="http://schemas.microsoft.com/office/drawing/2014/main" id="{F01B0B67-7F5B-B8D3-B53F-8C253A858C50}"/>
              </a:ext>
            </a:extLst>
          </p:cNvPr>
          <p:cNvSpPr txBox="1"/>
          <p:nvPr/>
        </p:nvSpPr>
        <p:spPr>
          <a:xfrm>
            <a:off x="838200" y="4292600"/>
            <a:ext cx="3022600" cy="1701800"/>
          </a:xfrm>
          <a:prstGeom prst="rect">
            <a:avLst/>
          </a:prstGeom>
          <a:noFill/>
        </p:spPr>
        <p:txBody>
          <a:bodyPr vert="horz" wrap="square" lIns="0" tIns="0" rIns="0" bIns="0" rtlCol="0" anchor="t">
            <a:noAutofit/>
          </a:bodyPr>
          <a:lstStyle/>
          <a:p>
            <a:r>
              <a:rPr lang="en-US" sz="1400">
                <a:solidFill>
                  <a:srgbClr val="3B4A5C"/>
                </a:solidFill>
                <a:latin typeface="Calibri" panose="020F0502020204030204" pitchFamily="34" charset="0"/>
              </a:rPr>
              <a:t>On a defined set, each human reading is compared with a reference label: sensitivity, specificity — and where the errors cluster.</a:t>
            </a:r>
          </a:p>
        </p:txBody>
      </p:sp>
      <p:sp>
        <p:nvSpPr>
          <p:cNvPr id="10" name="shape-27">
            <a:extLst>
              <a:ext uri="{FF2B5EF4-FFF2-40B4-BE49-F238E27FC236}">
                <a16:creationId xmlns:a16="http://schemas.microsoft.com/office/drawing/2014/main" id="{42423F37-7B89-1234-A0E8-044BB9E1AF3C}"/>
              </a:ext>
            </a:extLst>
          </p:cNvPr>
          <p:cNvSpPr/>
          <p:nvPr/>
        </p:nvSpPr>
        <p:spPr>
          <a:xfrm>
            <a:off x="4368800" y="2006600"/>
            <a:ext cx="3454400" cy="40640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xt-28">
            <a:extLst>
              <a:ext uri="{FF2B5EF4-FFF2-40B4-BE49-F238E27FC236}">
                <a16:creationId xmlns:a16="http://schemas.microsoft.com/office/drawing/2014/main" id="{FAAE114C-8F32-34F4-32E8-43C1E81F9D39}"/>
              </a:ext>
            </a:extLst>
          </p:cNvPr>
          <p:cNvSpPr txBox="1"/>
          <p:nvPr/>
        </p:nvSpPr>
        <p:spPr>
          <a:xfrm>
            <a:off x="4597400" y="2184400"/>
            <a:ext cx="1016000" cy="635000"/>
          </a:xfrm>
          <a:prstGeom prst="rect">
            <a:avLst/>
          </a:prstGeom>
          <a:noFill/>
        </p:spPr>
        <p:txBody>
          <a:bodyPr vert="horz" wrap="square" lIns="0" tIns="0" rIns="0" bIns="0" rtlCol="0" anchor="t">
            <a:noAutofit/>
          </a:bodyPr>
          <a:lstStyle/>
          <a:p>
            <a:r>
              <a:rPr lang="en-US" sz="4000" i="1">
                <a:solidFill>
                  <a:srgbClr val="2A665F"/>
                </a:solidFill>
                <a:latin typeface="Georgia" panose="02040502050405020303" pitchFamily="18" charset="0"/>
              </a:rPr>
              <a:t>H2</a:t>
            </a:r>
          </a:p>
        </p:txBody>
      </p:sp>
      <p:sp>
        <p:nvSpPr>
          <p:cNvPr id="12" name="shape-29">
            <a:extLst>
              <a:ext uri="{FF2B5EF4-FFF2-40B4-BE49-F238E27FC236}">
                <a16:creationId xmlns:a16="http://schemas.microsoft.com/office/drawing/2014/main" id="{343EF2B9-CF23-7C7F-DAB1-0B7B90BCF92F}"/>
              </a:ext>
            </a:extLst>
          </p:cNvPr>
          <p:cNvSpPr/>
          <p:nvPr/>
        </p:nvSpPr>
        <p:spPr>
          <a:xfrm>
            <a:off x="4597400" y="2946400"/>
            <a:ext cx="2499360" cy="254000"/>
          </a:xfrm>
          <a:prstGeom prst="rect">
            <a:avLst/>
          </a:prstGeom>
          <a:solidFill>
            <a:srgbClr val="FCFAF4"/>
          </a:solidFill>
          <a:ln w="9525">
            <a:solidFill>
              <a:srgbClr val="8F6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xt-30">
            <a:extLst>
              <a:ext uri="{FF2B5EF4-FFF2-40B4-BE49-F238E27FC236}">
                <a16:creationId xmlns:a16="http://schemas.microsoft.com/office/drawing/2014/main" id="{7CE7EF61-88F0-66D5-1026-AC15F70475DF}"/>
              </a:ext>
            </a:extLst>
          </p:cNvPr>
          <p:cNvSpPr txBox="1"/>
          <p:nvPr/>
        </p:nvSpPr>
        <p:spPr>
          <a:xfrm>
            <a:off x="4597400" y="2984500"/>
            <a:ext cx="2499360" cy="177800"/>
          </a:xfrm>
          <a:prstGeom prst="rect">
            <a:avLst/>
          </a:prstGeom>
          <a:noFill/>
        </p:spPr>
        <p:txBody>
          <a:bodyPr vert="horz" wrap="square" lIns="0" tIns="0" rIns="0" bIns="0" rtlCol="0" anchor="t">
            <a:noAutofit/>
          </a:bodyPr>
          <a:lstStyle/>
          <a:p>
            <a:pPr algn="ctr"/>
            <a:r>
              <a:rPr lang="en-US" sz="1000">
                <a:solidFill>
                  <a:srgbClr val="8F6614"/>
                </a:solidFill>
                <a:latin typeface="Consolas" panose="020B0609020204030204" pitchFamily="49" charset="0"/>
              </a:rPr>
              <a:t>SPECIFIED · ENGINE BUILT</a:t>
            </a:r>
          </a:p>
        </p:txBody>
      </p:sp>
      <p:sp>
        <p:nvSpPr>
          <p:cNvPr id="14" name="txt-31">
            <a:extLst>
              <a:ext uri="{FF2B5EF4-FFF2-40B4-BE49-F238E27FC236}">
                <a16:creationId xmlns:a16="http://schemas.microsoft.com/office/drawing/2014/main" id="{564BE0AC-4BE6-07D2-617A-C9EF7308F1F3}"/>
              </a:ext>
            </a:extLst>
          </p:cNvPr>
          <p:cNvSpPr txBox="1"/>
          <p:nvPr/>
        </p:nvSpPr>
        <p:spPr>
          <a:xfrm>
            <a:off x="4597400" y="3378200"/>
            <a:ext cx="2997200" cy="762000"/>
          </a:xfrm>
          <a:prstGeom prst="rect">
            <a:avLst/>
          </a:prstGeom>
          <a:noFill/>
        </p:spPr>
        <p:txBody>
          <a:bodyPr vert="horz" wrap="square" lIns="0" tIns="0" rIns="0" bIns="0" rtlCol="0" anchor="t">
            <a:noAutofit/>
          </a:bodyPr>
          <a:lstStyle/>
          <a:p>
            <a:r>
              <a:rPr lang="en-US">
                <a:solidFill>
                  <a:srgbClr val="0A1A2C"/>
                </a:solidFill>
                <a:latin typeface="Georgia" panose="02040502050405020303" pitchFamily="18" charset="0"/>
              </a:rPr>
              <a:t>The same protocol can test any AI aid, honestly.</a:t>
            </a:r>
          </a:p>
        </p:txBody>
      </p:sp>
      <p:sp>
        <p:nvSpPr>
          <p:cNvPr id="15" name="txt-32">
            <a:extLst>
              <a:ext uri="{FF2B5EF4-FFF2-40B4-BE49-F238E27FC236}">
                <a16:creationId xmlns:a16="http://schemas.microsoft.com/office/drawing/2014/main" id="{F9D2B168-235E-A929-CB33-FA9B5674E616}"/>
              </a:ext>
            </a:extLst>
          </p:cNvPr>
          <p:cNvSpPr txBox="1"/>
          <p:nvPr/>
        </p:nvSpPr>
        <p:spPr>
          <a:xfrm>
            <a:off x="4597400" y="4292600"/>
            <a:ext cx="3022600" cy="1701800"/>
          </a:xfrm>
          <a:prstGeom prst="rect">
            <a:avLst/>
          </a:prstGeom>
          <a:noFill/>
        </p:spPr>
        <p:txBody>
          <a:bodyPr vert="horz" wrap="square" lIns="0" tIns="0" rIns="0" bIns="0" rtlCol="0" anchor="t">
            <a:noAutofit/>
          </a:bodyPr>
          <a:lstStyle/>
          <a:p>
            <a:r>
              <a:rPr lang="en-US" sz="1400">
                <a:solidFill>
                  <a:srgbClr val="3B4A5C"/>
                </a:solidFill>
                <a:latin typeface="Calibri" panose="020F0502020204030204" pitchFamily="34" charset="0"/>
              </a:rPr>
              <a:t>Patient-level split, threshold fixed on validation data only, one test pass. No model has been evaluated yet.</a:t>
            </a:r>
          </a:p>
        </p:txBody>
      </p:sp>
      <p:sp>
        <p:nvSpPr>
          <p:cNvPr id="16" name="shape-33">
            <a:extLst>
              <a:ext uri="{FF2B5EF4-FFF2-40B4-BE49-F238E27FC236}">
                <a16:creationId xmlns:a16="http://schemas.microsoft.com/office/drawing/2014/main" id="{CF617DCB-FEC9-7F50-1F02-C835DEAFC569}"/>
              </a:ext>
            </a:extLst>
          </p:cNvPr>
          <p:cNvSpPr/>
          <p:nvPr/>
        </p:nvSpPr>
        <p:spPr>
          <a:xfrm>
            <a:off x="8128000" y="2006600"/>
            <a:ext cx="3454400" cy="40640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xt-34">
            <a:extLst>
              <a:ext uri="{FF2B5EF4-FFF2-40B4-BE49-F238E27FC236}">
                <a16:creationId xmlns:a16="http://schemas.microsoft.com/office/drawing/2014/main" id="{E497D68E-BB0C-2792-59D1-312C0CA9BFFA}"/>
              </a:ext>
            </a:extLst>
          </p:cNvPr>
          <p:cNvSpPr txBox="1"/>
          <p:nvPr/>
        </p:nvSpPr>
        <p:spPr>
          <a:xfrm>
            <a:off x="8356600" y="2184400"/>
            <a:ext cx="1016000" cy="635000"/>
          </a:xfrm>
          <a:prstGeom prst="rect">
            <a:avLst/>
          </a:prstGeom>
          <a:noFill/>
        </p:spPr>
        <p:txBody>
          <a:bodyPr vert="horz" wrap="square" lIns="0" tIns="0" rIns="0" bIns="0" rtlCol="0" anchor="t">
            <a:noAutofit/>
          </a:bodyPr>
          <a:lstStyle/>
          <a:p>
            <a:r>
              <a:rPr lang="en-US" sz="4000" i="1">
                <a:solidFill>
                  <a:srgbClr val="2A665F"/>
                </a:solidFill>
                <a:latin typeface="Georgia" panose="02040502050405020303" pitchFamily="18" charset="0"/>
              </a:rPr>
              <a:t>H3</a:t>
            </a:r>
          </a:p>
        </p:txBody>
      </p:sp>
      <p:sp>
        <p:nvSpPr>
          <p:cNvPr id="18" name="shape-35">
            <a:extLst>
              <a:ext uri="{FF2B5EF4-FFF2-40B4-BE49-F238E27FC236}">
                <a16:creationId xmlns:a16="http://schemas.microsoft.com/office/drawing/2014/main" id="{CDFC8949-D3C9-A784-5585-2356F32C6321}"/>
              </a:ext>
            </a:extLst>
          </p:cNvPr>
          <p:cNvSpPr/>
          <p:nvPr/>
        </p:nvSpPr>
        <p:spPr>
          <a:xfrm>
            <a:off x="8356600" y="2946400"/>
            <a:ext cx="2133600" cy="254000"/>
          </a:xfrm>
          <a:prstGeom prst="rect">
            <a:avLst/>
          </a:prstGeom>
          <a:solidFill>
            <a:srgbClr val="FCFAF4"/>
          </a:solidFill>
          <a:ln w="9525">
            <a:solidFill>
              <a:srgbClr val="A946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xt-36">
            <a:extLst>
              <a:ext uri="{FF2B5EF4-FFF2-40B4-BE49-F238E27FC236}">
                <a16:creationId xmlns:a16="http://schemas.microsoft.com/office/drawing/2014/main" id="{F4F774FE-7A3D-1F1D-49B8-9093A7C55D1E}"/>
              </a:ext>
            </a:extLst>
          </p:cNvPr>
          <p:cNvSpPr txBox="1"/>
          <p:nvPr/>
        </p:nvSpPr>
        <p:spPr>
          <a:xfrm>
            <a:off x="8356600" y="2984500"/>
            <a:ext cx="2133600" cy="177800"/>
          </a:xfrm>
          <a:prstGeom prst="rect">
            <a:avLst/>
          </a:prstGeom>
          <a:noFill/>
        </p:spPr>
        <p:txBody>
          <a:bodyPr vert="horz" wrap="square" lIns="0" tIns="0" rIns="0" bIns="0" rtlCol="0" anchor="t">
            <a:noAutofit/>
          </a:bodyPr>
          <a:lstStyle/>
          <a:p>
            <a:pPr algn="ctr"/>
            <a:r>
              <a:rPr lang="en-US" sz="1000">
                <a:solidFill>
                  <a:srgbClr val="A94632"/>
                </a:solidFill>
                <a:latin typeface="Consolas" panose="020B0609020204030204" pitchFamily="49" charset="0"/>
              </a:rPr>
              <a:t>FUTURE · NOT CLAIMED</a:t>
            </a:r>
          </a:p>
        </p:txBody>
      </p:sp>
      <p:sp>
        <p:nvSpPr>
          <p:cNvPr id="20" name="txt-37">
            <a:extLst>
              <a:ext uri="{FF2B5EF4-FFF2-40B4-BE49-F238E27FC236}">
                <a16:creationId xmlns:a16="http://schemas.microsoft.com/office/drawing/2014/main" id="{CD8B2F56-17CF-FB35-B0CB-F13B361D670D}"/>
              </a:ext>
            </a:extLst>
          </p:cNvPr>
          <p:cNvSpPr txBox="1"/>
          <p:nvPr/>
        </p:nvSpPr>
        <p:spPr>
          <a:xfrm>
            <a:off x="8356600" y="3378200"/>
            <a:ext cx="2997200" cy="762000"/>
          </a:xfrm>
          <a:prstGeom prst="rect">
            <a:avLst/>
          </a:prstGeom>
          <a:noFill/>
        </p:spPr>
        <p:txBody>
          <a:bodyPr vert="horz" wrap="square" lIns="0" tIns="0" rIns="0" bIns="0" rtlCol="0" anchor="t">
            <a:noAutofit/>
          </a:bodyPr>
          <a:lstStyle/>
          <a:p>
            <a:r>
              <a:rPr lang="en-US">
                <a:solidFill>
                  <a:srgbClr val="0A1A2C"/>
                </a:solidFill>
                <a:latin typeface="Georgia" panose="02040502050405020303" pitchFamily="18" charset="0"/>
              </a:rPr>
              <a:t>Does an AI aid improve clinicians?</a:t>
            </a:r>
          </a:p>
        </p:txBody>
      </p:sp>
      <p:sp>
        <p:nvSpPr>
          <p:cNvPr id="21" name="txt-38">
            <a:extLst>
              <a:ext uri="{FF2B5EF4-FFF2-40B4-BE49-F238E27FC236}">
                <a16:creationId xmlns:a16="http://schemas.microsoft.com/office/drawing/2014/main" id="{4867A26E-5604-3165-696F-7805A7A060FE}"/>
              </a:ext>
            </a:extLst>
          </p:cNvPr>
          <p:cNvSpPr txBox="1"/>
          <p:nvPr/>
        </p:nvSpPr>
        <p:spPr>
          <a:xfrm>
            <a:off x="8356600" y="4292600"/>
            <a:ext cx="3022600" cy="1701800"/>
          </a:xfrm>
          <a:prstGeom prst="rect">
            <a:avLst/>
          </a:prstGeom>
          <a:noFill/>
        </p:spPr>
        <p:txBody>
          <a:bodyPr vert="horz" wrap="square" lIns="0" tIns="0" rIns="0" bIns="0" rtlCol="0" anchor="t">
            <a:noAutofit/>
          </a:bodyPr>
          <a:lstStyle/>
          <a:p>
            <a:r>
              <a:rPr lang="en-US" sz="1400">
                <a:solidFill>
                  <a:srgbClr val="3B4A5C"/>
                </a:solidFill>
                <a:latin typeface="Calibri" panose="020F0502020204030204" pitchFamily="34" charset="0"/>
              </a:rPr>
              <a:t>That needs a controlled reader study. This project makes no such claim and the app says so.</a:t>
            </a:r>
          </a:p>
        </p:txBody>
      </p:sp>
      <p:sp>
        <p:nvSpPr>
          <p:cNvPr id="22" name="txt-39">
            <a:extLst>
              <a:ext uri="{FF2B5EF4-FFF2-40B4-BE49-F238E27FC236}">
                <a16:creationId xmlns:a16="http://schemas.microsoft.com/office/drawing/2014/main" id="{E1AC54A7-E45B-69C1-4200-2436AF879D11}"/>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23" name="txt-40">
            <a:extLst>
              <a:ext uri="{FF2B5EF4-FFF2-40B4-BE49-F238E27FC236}">
                <a16:creationId xmlns:a16="http://schemas.microsoft.com/office/drawing/2014/main" id="{1FA33447-2B88-E1AF-3B85-E24D36A27A30}"/>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03</a:t>
            </a:r>
          </a:p>
        </p:txBody>
      </p:sp>
    </p:spTree>
    <p:extLst>
      <p:ext uri="{BB962C8B-B14F-4D97-AF65-F5344CB8AC3E}">
        <p14:creationId xmlns:p14="http://schemas.microsoft.com/office/powerpoint/2010/main" val="2248595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41">
            <a:extLst>
              <a:ext uri="{FF2B5EF4-FFF2-40B4-BE49-F238E27FC236}">
                <a16:creationId xmlns:a16="http://schemas.microsoft.com/office/drawing/2014/main" id="{68AF2F8B-0FDC-06ED-3C7C-9452CBAFD9EA}"/>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03 · EXPERT REFERENCE STANDARDS</a:t>
            </a:r>
          </a:p>
        </p:txBody>
      </p:sp>
      <p:sp>
        <p:nvSpPr>
          <p:cNvPr id="3" name="txt-42">
            <a:extLst>
              <a:ext uri="{FF2B5EF4-FFF2-40B4-BE49-F238E27FC236}">
                <a16:creationId xmlns:a16="http://schemas.microsoft.com/office/drawing/2014/main" id="{8159AC41-B1FE-BEDF-B303-9DBDF158674D}"/>
              </a:ext>
            </a:extLst>
          </p:cNvPr>
          <p:cNvSpPr txBox="1"/>
          <p:nvPr/>
        </p:nvSpPr>
        <p:spPr>
          <a:xfrm>
            <a:off x="609600" y="736600"/>
            <a:ext cx="7112000" cy="1066800"/>
          </a:xfrm>
          <a:prstGeom prst="rect">
            <a:avLst/>
          </a:prstGeom>
          <a:noFill/>
        </p:spPr>
        <p:txBody>
          <a:bodyPr vert="horz" wrap="square" lIns="0" tIns="0" rIns="0" bIns="0" rtlCol="0" anchor="t">
            <a:noAutofit/>
          </a:bodyPr>
          <a:lstStyle/>
          <a:p>
            <a:pPr>
              <a:lnSpc>
                <a:spcPct val="95000"/>
              </a:lnSpc>
            </a:pPr>
            <a:r>
              <a:rPr lang="en-US" sz="3200">
                <a:solidFill>
                  <a:srgbClr val="0A1A2C"/>
                </a:solidFill>
                <a:latin typeface="Georgia" panose="02040502050405020303" pitchFamily="18" charset="0"/>
              </a:rPr>
              <a:t>What counts as the truth?</a:t>
            </a:r>
          </a:p>
        </p:txBody>
      </p:sp>
      <p:sp>
        <p:nvSpPr>
          <p:cNvPr id="4" name="shape-43">
            <a:extLst>
              <a:ext uri="{FF2B5EF4-FFF2-40B4-BE49-F238E27FC236}">
                <a16:creationId xmlns:a16="http://schemas.microsoft.com/office/drawing/2014/main" id="{9DD065DA-69B4-5C6B-5367-9D1C5A205B84}"/>
              </a:ext>
            </a:extLst>
          </p:cNvPr>
          <p:cNvSpPr/>
          <p:nvPr/>
        </p:nvSpPr>
        <p:spPr>
          <a:xfrm>
            <a:off x="609600" y="1625600"/>
            <a:ext cx="965200" cy="685800"/>
          </a:xfrm>
          <a:prstGeom prst="rect">
            <a:avLst/>
          </a:prstGeom>
          <a:solidFill>
            <a:srgbClr val="4A9A9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44">
            <a:extLst>
              <a:ext uri="{FF2B5EF4-FFF2-40B4-BE49-F238E27FC236}">
                <a16:creationId xmlns:a16="http://schemas.microsoft.com/office/drawing/2014/main" id="{35711F7C-3530-3503-9572-67C73A74E664}"/>
              </a:ext>
            </a:extLst>
          </p:cNvPr>
          <p:cNvSpPr txBox="1"/>
          <p:nvPr/>
        </p:nvSpPr>
        <p:spPr>
          <a:xfrm>
            <a:off x="711200" y="1676400"/>
            <a:ext cx="762000" cy="355600"/>
          </a:xfrm>
          <a:prstGeom prst="rect">
            <a:avLst/>
          </a:prstGeom>
          <a:noFill/>
        </p:spPr>
        <p:txBody>
          <a:bodyPr vert="horz" wrap="square" lIns="0" tIns="0" rIns="0" bIns="0" rtlCol="0" anchor="t">
            <a:noAutofit/>
          </a:bodyPr>
          <a:lstStyle/>
          <a:p>
            <a:r>
              <a:rPr lang="en-US" sz="2400">
                <a:solidFill>
                  <a:srgbClr val="FFFFFF"/>
                </a:solidFill>
                <a:latin typeface="Georgia" panose="02040502050405020303" pitchFamily="18" charset="0"/>
              </a:rPr>
              <a:t>0</a:t>
            </a:r>
          </a:p>
        </p:txBody>
      </p:sp>
      <p:sp>
        <p:nvSpPr>
          <p:cNvPr id="6" name="txt-45">
            <a:extLst>
              <a:ext uri="{FF2B5EF4-FFF2-40B4-BE49-F238E27FC236}">
                <a16:creationId xmlns:a16="http://schemas.microsoft.com/office/drawing/2014/main" id="{ABF133CF-A081-C9A1-7043-E40F33FE5D43}"/>
              </a:ext>
            </a:extLst>
          </p:cNvPr>
          <p:cNvSpPr txBox="1"/>
          <p:nvPr/>
        </p:nvSpPr>
        <p:spPr>
          <a:xfrm>
            <a:off x="711200" y="2057400"/>
            <a:ext cx="838200" cy="203200"/>
          </a:xfrm>
          <a:prstGeom prst="rect">
            <a:avLst/>
          </a:prstGeom>
          <a:noFill/>
        </p:spPr>
        <p:txBody>
          <a:bodyPr vert="horz" wrap="square" lIns="0" tIns="0" rIns="0" bIns="0" rtlCol="0" anchor="t">
            <a:noAutofit/>
          </a:bodyPr>
          <a:lstStyle/>
          <a:p>
            <a:r>
              <a:rPr lang="en-US" sz="1100">
                <a:solidFill>
                  <a:srgbClr val="FFFFFF"/>
                </a:solidFill>
                <a:latin typeface="Calibri" panose="020F0502020204030204" pitchFamily="34" charset="0"/>
              </a:rPr>
              <a:t>None</a:t>
            </a:r>
          </a:p>
        </p:txBody>
      </p:sp>
      <p:sp>
        <p:nvSpPr>
          <p:cNvPr id="7" name="shape-46">
            <a:extLst>
              <a:ext uri="{FF2B5EF4-FFF2-40B4-BE49-F238E27FC236}">
                <a16:creationId xmlns:a16="http://schemas.microsoft.com/office/drawing/2014/main" id="{E1138524-8BDF-FFE9-C3B4-5D5D39FC27D3}"/>
              </a:ext>
            </a:extLst>
          </p:cNvPr>
          <p:cNvSpPr/>
          <p:nvPr/>
        </p:nvSpPr>
        <p:spPr>
          <a:xfrm>
            <a:off x="1651000" y="1625600"/>
            <a:ext cx="965200" cy="685800"/>
          </a:xfrm>
          <a:prstGeom prst="rect">
            <a:avLst/>
          </a:prstGeom>
          <a:solidFill>
            <a:srgbClr val="4A9A9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xt-47">
            <a:extLst>
              <a:ext uri="{FF2B5EF4-FFF2-40B4-BE49-F238E27FC236}">
                <a16:creationId xmlns:a16="http://schemas.microsoft.com/office/drawing/2014/main" id="{A5EBA1C6-9715-4389-6691-971C83CC383E}"/>
              </a:ext>
            </a:extLst>
          </p:cNvPr>
          <p:cNvSpPr txBox="1"/>
          <p:nvPr/>
        </p:nvSpPr>
        <p:spPr>
          <a:xfrm>
            <a:off x="1752600" y="1676400"/>
            <a:ext cx="762000" cy="355600"/>
          </a:xfrm>
          <a:prstGeom prst="rect">
            <a:avLst/>
          </a:prstGeom>
          <a:noFill/>
        </p:spPr>
        <p:txBody>
          <a:bodyPr vert="horz" wrap="square" lIns="0" tIns="0" rIns="0" bIns="0" rtlCol="0" anchor="t">
            <a:noAutofit/>
          </a:bodyPr>
          <a:lstStyle/>
          <a:p>
            <a:r>
              <a:rPr lang="en-US" sz="2400">
                <a:solidFill>
                  <a:srgbClr val="FFFFFF"/>
                </a:solidFill>
                <a:latin typeface="Georgia" panose="02040502050405020303" pitchFamily="18" charset="0"/>
              </a:rPr>
              <a:t>1</a:t>
            </a:r>
          </a:p>
        </p:txBody>
      </p:sp>
      <p:sp>
        <p:nvSpPr>
          <p:cNvPr id="9" name="txt-48">
            <a:extLst>
              <a:ext uri="{FF2B5EF4-FFF2-40B4-BE49-F238E27FC236}">
                <a16:creationId xmlns:a16="http://schemas.microsoft.com/office/drawing/2014/main" id="{146AB82E-3D94-DFA3-66FD-2922CD4B67F8}"/>
              </a:ext>
            </a:extLst>
          </p:cNvPr>
          <p:cNvSpPr txBox="1"/>
          <p:nvPr/>
        </p:nvSpPr>
        <p:spPr>
          <a:xfrm>
            <a:off x="1752600" y="2057400"/>
            <a:ext cx="838200" cy="203200"/>
          </a:xfrm>
          <a:prstGeom prst="rect">
            <a:avLst/>
          </a:prstGeom>
          <a:noFill/>
        </p:spPr>
        <p:txBody>
          <a:bodyPr vert="horz" wrap="square" lIns="0" tIns="0" rIns="0" bIns="0" rtlCol="0" anchor="t">
            <a:noAutofit/>
          </a:bodyPr>
          <a:lstStyle/>
          <a:p>
            <a:r>
              <a:rPr lang="en-US" sz="1100">
                <a:solidFill>
                  <a:srgbClr val="FFFFFF"/>
                </a:solidFill>
                <a:latin typeface="Calibri" panose="020F0502020204030204" pitchFamily="34" charset="0"/>
              </a:rPr>
              <a:t>Mild</a:t>
            </a:r>
          </a:p>
        </p:txBody>
      </p:sp>
      <p:sp>
        <p:nvSpPr>
          <p:cNvPr id="10" name="shape-49">
            <a:extLst>
              <a:ext uri="{FF2B5EF4-FFF2-40B4-BE49-F238E27FC236}">
                <a16:creationId xmlns:a16="http://schemas.microsoft.com/office/drawing/2014/main" id="{8EA08FFA-0261-E7B4-B6F3-9A2D8037E9C1}"/>
              </a:ext>
            </a:extLst>
          </p:cNvPr>
          <p:cNvSpPr/>
          <p:nvPr/>
        </p:nvSpPr>
        <p:spPr>
          <a:xfrm>
            <a:off x="2692400" y="1625600"/>
            <a:ext cx="965200" cy="685800"/>
          </a:xfrm>
          <a:prstGeom prst="rect">
            <a:avLst/>
          </a:prstGeom>
          <a:solidFill>
            <a:srgbClr val="A946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xt-50">
            <a:extLst>
              <a:ext uri="{FF2B5EF4-FFF2-40B4-BE49-F238E27FC236}">
                <a16:creationId xmlns:a16="http://schemas.microsoft.com/office/drawing/2014/main" id="{B9E37E93-E730-541D-C4E6-14941A91A79E}"/>
              </a:ext>
            </a:extLst>
          </p:cNvPr>
          <p:cNvSpPr txBox="1"/>
          <p:nvPr/>
        </p:nvSpPr>
        <p:spPr>
          <a:xfrm>
            <a:off x="2794000" y="1676400"/>
            <a:ext cx="762000" cy="355600"/>
          </a:xfrm>
          <a:prstGeom prst="rect">
            <a:avLst/>
          </a:prstGeom>
          <a:noFill/>
        </p:spPr>
        <p:txBody>
          <a:bodyPr vert="horz" wrap="square" lIns="0" tIns="0" rIns="0" bIns="0" rtlCol="0" anchor="t">
            <a:noAutofit/>
          </a:bodyPr>
          <a:lstStyle/>
          <a:p>
            <a:r>
              <a:rPr lang="en-US" sz="2400">
                <a:solidFill>
                  <a:srgbClr val="FFFFFF"/>
                </a:solidFill>
                <a:latin typeface="Georgia" panose="02040502050405020303" pitchFamily="18" charset="0"/>
              </a:rPr>
              <a:t>2</a:t>
            </a:r>
          </a:p>
        </p:txBody>
      </p:sp>
      <p:sp>
        <p:nvSpPr>
          <p:cNvPr id="12" name="txt-51">
            <a:extLst>
              <a:ext uri="{FF2B5EF4-FFF2-40B4-BE49-F238E27FC236}">
                <a16:creationId xmlns:a16="http://schemas.microsoft.com/office/drawing/2014/main" id="{252049CF-07B8-D353-A6EB-8459A0FEDD08}"/>
              </a:ext>
            </a:extLst>
          </p:cNvPr>
          <p:cNvSpPr txBox="1"/>
          <p:nvPr/>
        </p:nvSpPr>
        <p:spPr>
          <a:xfrm>
            <a:off x="2794000" y="2057400"/>
            <a:ext cx="838200" cy="203200"/>
          </a:xfrm>
          <a:prstGeom prst="rect">
            <a:avLst/>
          </a:prstGeom>
          <a:noFill/>
        </p:spPr>
        <p:txBody>
          <a:bodyPr vert="horz" wrap="square" lIns="0" tIns="0" rIns="0" bIns="0" rtlCol="0" anchor="t">
            <a:noAutofit/>
          </a:bodyPr>
          <a:lstStyle/>
          <a:p>
            <a:r>
              <a:rPr lang="en-US" sz="1100">
                <a:solidFill>
                  <a:srgbClr val="FFFFFF"/>
                </a:solidFill>
                <a:latin typeface="Calibri" panose="020F0502020204030204" pitchFamily="34" charset="0"/>
              </a:rPr>
              <a:t>Moderate</a:t>
            </a:r>
          </a:p>
        </p:txBody>
      </p:sp>
      <p:sp>
        <p:nvSpPr>
          <p:cNvPr id="13" name="shape-52">
            <a:extLst>
              <a:ext uri="{FF2B5EF4-FFF2-40B4-BE49-F238E27FC236}">
                <a16:creationId xmlns:a16="http://schemas.microsoft.com/office/drawing/2014/main" id="{5349DAD5-12F7-A4EC-3DE2-4565E5DBA394}"/>
              </a:ext>
            </a:extLst>
          </p:cNvPr>
          <p:cNvSpPr/>
          <p:nvPr/>
        </p:nvSpPr>
        <p:spPr>
          <a:xfrm>
            <a:off x="3733800" y="1625600"/>
            <a:ext cx="965200" cy="685800"/>
          </a:xfrm>
          <a:prstGeom prst="rect">
            <a:avLst/>
          </a:prstGeom>
          <a:solidFill>
            <a:srgbClr val="A946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xt-53">
            <a:extLst>
              <a:ext uri="{FF2B5EF4-FFF2-40B4-BE49-F238E27FC236}">
                <a16:creationId xmlns:a16="http://schemas.microsoft.com/office/drawing/2014/main" id="{3554AABD-7A8B-14F0-E276-F05A01B832A3}"/>
              </a:ext>
            </a:extLst>
          </p:cNvPr>
          <p:cNvSpPr txBox="1"/>
          <p:nvPr/>
        </p:nvSpPr>
        <p:spPr>
          <a:xfrm>
            <a:off x="3835400" y="1676400"/>
            <a:ext cx="762000" cy="355600"/>
          </a:xfrm>
          <a:prstGeom prst="rect">
            <a:avLst/>
          </a:prstGeom>
          <a:noFill/>
        </p:spPr>
        <p:txBody>
          <a:bodyPr vert="horz" wrap="square" lIns="0" tIns="0" rIns="0" bIns="0" rtlCol="0" anchor="t">
            <a:noAutofit/>
          </a:bodyPr>
          <a:lstStyle/>
          <a:p>
            <a:r>
              <a:rPr lang="en-US" sz="2400">
                <a:solidFill>
                  <a:srgbClr val="FFFFFF"/>
                </a:solidFill>
                <a:latin typeface="Georgia" panose="02040502050405020303" pitchFamily="18" charset="0"/>
              </a:rPr>
              <a:t>3</a:t>
            </a:r>
          </a:p>
        </p:txBody>
      </p:sp>
      <p:sp>
        <p:nvSpPr>
          <p:cNvPr id="15" name="txt-54">
            <a:extLst>
              <a:ext uri="{FF2B5EF4-FFF2-40B4-BE49-F238E27FC236}">
                <a16:creationId xmlns:a16="http://schemas.microsoft.com/office/drawing/2014/main" id="{E707E25D-5364-BB7B-E309-8F9179560655}"/>
              </a:ext>
            </a:extLst>
          </p:cNvPr>
          <p:cNvSpPr txBox="1"/>
          <p:nvPr/>
        </p:nvSpPr>
        <p:spPr>
          <a:xfrm>
            <a:off x="3835400" y="2057400"/>
            <a:ext cx="838200" cy="203200"/>
          </a:xfrm>
          <a:prstGeom prst="rect">
            <a:avLst/>
          </a:prstGeom>
          <a:noFill/>
        </p:spPr>
        <p:txBody>
          <a:bodyPr vert="horz" wrap="square" lIns="0" tIns="0" rIns="0" bIns="0" rtlCol="0" anchor="t">
            <a:noAutofit/>
          </a:bodyPr>
          <a:lstStyle/>
          <a:p>
            <a:r>
              <a:rPr lang="en-US" sz="1100">
                <a:solidFill>
                  <a:srgbClr val="FFFFFF"/>
                </a:solidFill>
                <a:latin typeface="Calibri" panose="020F0502020204030204" pitchFamily="34" charset="0"/>
              </a:rPr>
              <a:t>Severe</a:t>
            </a:r>
          </a:p>
        </p:txBody>
      </p:sp>
      <p:sp>
        <p:nvSpPr>
          <p:cNvPr id="16" name="shape-55">
            <a:extLst>
              <a:ext uri="{FF2B5EF4-FFF2-40B4-BE49-F238E27FC236}">
                <a16:creationId xmlns:a16="http://schemas.microsoft.com/office/drawing/2014/main" id="{BBD7B2D3-76C8-6160-0F8C-CDD02E0669AE}"/>
              </a:ext>
            </a:extLst>
          </p:cNvPr>
          <p:cNvSpPr/>
          <p:nvPr/>
        </p:nvSpPr>
        <p:spPr>
          <a:xfrm>
            <a:off x="4775200" y="1625600"/>
            <a:ext cx="965200" cy="685800"/>
          </a:xfrm>
          <a:prstGeom prst="rect">
            <a:avLst/>
          </a:prstGeom>
          <a:solidFill>
            <a:srgbClr val="A946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xt-56">
            <a:extLst>
              <a:ext uri="{FF2B5EF4-FFF2-40B4-BE49-F238E27FC236}">
                <a16:creationId xmlns:a16="http://schemas.microsoft.com/office/drawing/2014/main" id="{4D43F271-D3F9-F4DD-F334-6DDBB2E84878}"/>
              </a:ext>
            </a:extLst>
          </p:cNvPr>
          <p:cNvSpPr txBox="1"/>
          <p:nvPr/>
        </p:nvSpPr>
        <p:spPr>
          <a:xfrm>
            <a:off x="4876800" y="1676400"/>
            <a:ext cx="762000" cy="355600"/>
          </a:xfrm>
          <a:prstGeom prst="rect">
            <a:avLst/>
          </a:prstGeom>
          <a:noFill/>
        </p:spPr>
        <p:txBody>
          <a:bodyPr vert="horz" wrap="square" lIns="0" tIns="0" rIns="0" bIns="0" rtlCol="0" anchor="t">
            <a:noAutofit/>
          </a:bodyPr>
          <a:lstStyle/>
          <a:p>
            <a:r>
              <a:rPr lang="en-US" sz="2400">
                <a:solidFill>
                  <a:srgbClr val="FFFFFF"/>
                </a:solidFill>
                <a:latin typeface="Georgia" panose="02040502050405020303" pitchFamily="18" charset="0"/>
              </a:rPr>
              <a:t>4</a:t>
            </a:r>
          </a:p>
        </p:txBody>
      </p:sp>
      <p:sp>
        <p:nvSpPr>
          <p:cNvPr id="18" name="txt-57">
            <a:extLst>
              <a:ext uri="{FF2B5EF4-FFF2-40B4-BE49-F238E27FC236}">
                <a16:creationId xmlns:a16="http://schemas.microsoft.com/office/drawing/2014/main" id="{2259BCCB-521D-3398-C1F8-9D61AB3C57F7}"/>
              </a:ext>
            </a:extLst>
          </p:cNvPr>
          <p:cNvSpPr txBox="1"/>
          <p:nvPr/>
        </p:nvSpPr>
        <p:spPr>
          <a:xfrm>
            <a:off x="4876800" y="2057400"/>
            <a:ext cx="838200" cy="203200"/>
          </a:xfrm>
          <a:prstGeom prst="rect">
            <a:avLst/>
          </a:prstGeom>
          <a:noFill/>
        </p:spPr>
        <p:txBody>
          <a:bodyPr vert="horz" wrap="square" lIns="0" tIns="0" rIns="0" bIns="0" rtlCol="0" anchor="t">
            <a:noAutofit/>
          </a:bodyPr>
          <a:lstStyle/>
          <a:p>
            <a:r>
              <a:rPr lang="en-US" sz="1100">
                <a:solidFill>
                  <a:srgbClr val="FFFFFF"/>
                </a:solidFill>
                <a:latin typeface="Calibri" panose="020F0502020204030204" pitchFamily="34" charset="0"/>
              </a:rPr>
              <a:t>Proliferative</a:t>
            </a:r>
          </a:p>
        </p:txBody>
      </p:sp>
      <p:sp>
        <p:nvSpPr>
          <p:cNvPr id="19" name="txt-58">
            <a:extLst>
              <a:ext uri="{FF2B5EF4-FFF2-40B4-BE49-F238E27FC236}">
                <a16:creationId xmlns:a16="http://schemas.microsoft.com/office/drawing/2014/main" id="{F45A0BD0-7A3B-C4A9-C749-1053E2005D96}"/>
              </a:ext>
            </a:extLst>
          </p:cNvPr>
          <p:cNvSpPr txBox="1"/>
          <p:nvPr/>
        </p:nvSpPr>
        <p:spPr>
          <a:xfrm>
            <a:off x="609600" y="2387600"/>
            <a:ext cx="2032000" cy="2032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rPr>
              <a:t>NON-REFERABLE</a:t>
            </a:r>
          </a:p>
        </p:txBody>
      </p:sp>
      <p:sp>
        <p:nvSpPr>
          <p:cNvPr id="20" name="txt-59">
            <a:extLst>
              <a:ext uri="{FF2B5EF4-FFF2-40B4-BE49-F238E27FC236}">
                <a16:creationId xmlns:a16="http://schemas.microsoft.com/office/drawing/2014/main" id="{C306E0B2-FEC6-ED12-48B7-622065C689D5}"/>
              </a:ext>
            </a:extLst>
          </p:cNvPr>
          <p:cNvSpPr txBox="1"/>
          <p:nvPr/>
        </p:nvSpPr>
        <p:spPr>
          <a:xfrm>
            <a:off x="2692400" y="2387600"/>
            <a:ext cx="3124200" cy="203200"/>
          </a:xfrm>
          <a:prstGeom prst="rect">
            <a:avLst/>
          </a:prstGeom>
          <a:noFill/>
        </p:spPr>
        <p:txBody>
          <a:bodyPr vert="horz" wrap="square" lIns="0" tIns="0" rIns="0" bIns="0" rtlCol="0" anchor="t">
            <a:noAutofit/>
          </a:bodyPr>
          <a:lstStyle/>
          <a:p>
            <a:r>
              <a:rPr lang="en-US" sz="1000">
                <a:solidFill>
                  <a:srgbClr val="A94632"/>
                </a:solidFill>
                <a:latin typeface="Consolas" panose="020B0609020204030204" pitchFamily="49" charset="0"/>
              </a:rPr>
              <a:t>REFERABLE · or suspected DME</a:t>
            </a:r>
          </a:p>
        </p:txBody>
      </p:sp>
      <p:sp>
        <p:nvSpPr>
          <p:cNvPr id="21" name="txt-60">
            <a:extLst>
              <a:ext uri="{FF2B5EF4-FFF2-40B4-BE49-F238E27FC236}">
                <a16:creationId xmlns:a16="http://schemas.microsoft.com/office/drawing/2014/main" id="{BB954A7B-AC57-D035-E6A4-F0AB80303B63}"/>
              </a:ext>
            </a:extLst>
          </p:cNvPr>
          <p:cNvSpPr txBox="1"/>
          <p:nvPr/>
        </p:nvSpPr>
        <p:spPr>
          <a:xfrm>
            <a:off x="609600" y="2768600"/>
            <a:ext cx="5207000" cy="3327400"/>
          </a:xfrm>
          <a:prstGeom prst="rect">
            <a:avLst/>
          </a:prstGeom>
          <a:noFill/>
        </p:spPr>
        <p:txBody>
          <a:bodyPr vert="horz" wrap="square" lIns="0" tIns="0" rIns="0" bIns="0" rtlCol="0" anchor="t">
            <a:noAutofit/>
          </a:bodyPr>
          <a:lstStyle/>
          <a:p>
            <a:pPr marL="177800" indent="-177800">
              <a:spcAft>
                <a:spcPts val="700"/>
              </a:spcAft>
              <a:buClr>
                <a:srgbClr val="3B4A5C"/>
              </a:buClr>
              <a:buFont typeface="+mj-lt"/>
              <a:buChar char="•"/>
            </a:pPr>
            <a:r>
              <a:rPr lang="en-US" sz="1500" b="1">
                <a:solidFill>
                  <a:srgbClr val="3B4A5C"/>
                </a:solidFill>
                <a:latin typeface="Calibri" panose="020F0502020204030204" pitchFamily="34" charset="0"/>
              </a:rPr>
              <a:t>ICDR scale, 5 levels. </a:t>
            </a:r>
            <a:r>
              <a:rPr lang="en-US" sz="1500">
                <a:solidFill>
                  <a:srgbClr val="3B4A5C"/>
                </a:solidFill>
                <a:latin typeface="Calibri" panose="020F0502020204030204" pitchFamily="34" charset="0"/>
              </a:rPr>
              <a:t>Referable = moderate NPDR or worse, or suspected macular oedema.</a:t>
            </a:r>
          </a:p>
          <a:p>
            <a:pPr marL="177800" indent="-177800">
              <a:spcAft>
                <a:spcPts val="700"/>
              </a:spcAft>
              <a:buClr>
                <a:srgbClr val="3B4A5C"/>
              </a:buClr>
              <a:buFont typeface="+mj-lt"/>
              <a:buChar char="•"/>
            </a:pPr>
            <a:r>
              <a:rPr lang="en-US" sz="1500" b="1">
                <a:solidFill>
                  <a:srgbClr val="3B4A5C"/>
                </a:solidFill>
                <a:latin typeface="Calibri" panose="020F0502020204030204" pitchFamily="34" charset="0"/>
              </a:rPr>
              <a:t>4-2-1 rule </a:t>
            </a:r>
            <a:r>
              <a:rPr lang="en-US" sz="1500">
                <a:solidFill>
                  <a:srgbClr val="3B4A5C"/>
                </a:solidFill>
                <a:latin typeface="Calibri" panose="020F0502020204030204" pitchFamily="34" charset="0"/>
              </a:rPr>
              <a:t>for severe: haemorrhages in 4 quadrants, venous beading in 2, or IRMA in 1.</a:t>
            </a:r>
          </a:p>
          <a:p>
            <a:pPr marL="177800" indent="-177800">
              <a:spcAft>
                <a:spcPts val="700"/>
              </a:spcAft>
              <a:buClr>
                <a:srgbClr val="3B4A5C"/>
              </a:buClr>
              <a:buFont typeface="+mj-lt"/>
              <a:buChar char="•"/>
            </a:pPr>
            <a:r>
              <a:rPr lang="en-US" sz="1500" b="1">
                <a:solidFill>
                  <a:srgbClr val="3B4A5C"/>
                </a:solidFill>
                <a:latin typeface="Calibri" panose="020F0502020204030204" pitchFamily="34" charset="0"/>
              </a:rPr>
              <a:t>Here the reference is authored </a:t>
            </a:r>
            <a:r>
              <a:rPr lang="en-US" sz="1500">
                <a:solidFill>
                  <a:srgbClr val="3B4A5C"/>
                </a:solidFill>
                <a:latin typeface="Calibri" panose="020F0502020204030204" pitchFamily="34" charset="0"/>
              </a:rPr>
              <a:t>from each case’s lesion list and re-derived by an automated test — a teaching reference, not an expert panel.</a:t>
            </a:r>
          </a:p>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A real study needs several graders, adjudication, and disclosed disagreement.</a:t>
            </a:r>
          </a:p>
        </p:txBody>
      </p:sp>
      <p:pic>
        <p:nvPicPr>
          <p:cNvPr id="23" name="pic-61" descr="Screenshot of the EvidenceLens finding panel for a neovascularisation annotation, with its description, location, grading relevance and a link to the ICDR source.">
            <a:extLst>
              <a:ext uri="{FF2B5EF4-FFF2-40B4-BE49-F238E27FC236}">
                <a16:creationId xmlns:a16="http://schemas.microsoft.com/office/drawing/2014/main" id="{991BF315-E61E-21B0-E422-9491E89B9C89}"/>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a:xfrm>
            <a:off x="6096000" y="1524000"/>
            <a:ext cx="5486400" cy="3086100"/>
          </a:xfrm>
          <a:prstGeom prst="rect">
            <a:avLst/>
          </a:prstGeom>
          <a:ln w="9525">
            <a:solidFill>
              <a:srgbClr val="CFC6B3"/>
            </a:solidFill>
          </a:ln>
        </p:spPr>
      </p:pic>
      <p:sp>
        <p:nvSpPr>
          <p:cNvPr id="24" name="txt-62">
            <a:extLst>
              <a:ext uri="{FF2B5EF4-FFF2-40B4-BE49-F238E27FC236}">
                <a16:creationId xmlns:a16="http://schemas.microsoft.com/office/drawing/2014/main" id="{C306700D-2D8D-D085-7E2B-EFB8D4A52385}"/>
              </a:ext>
            </a:extLst>
          </p:cNvPr>
          <p:cNvSpPr txBox="1"/>
          <p:nvPr/>
        </p:nvSpPr>
        <p:spPr>
          <a:xfrm>
            <a:off x="6096000" y="4648200"/>
            <a:ext cx="54864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every annotation links to its grading source and states who authored it</a:t>
            </a:r>
          </a:p>
        </p:txBody>
      </p:sp>
      <p:sp>
        <p:nvSpPr>
          <p:cNvPr id="25" name="txt-63">
            <a:extLst>
              <a:ext uri="{FF2B5EF4-FFF2-40B4-BE49-F238E27FC236}">
                <a16:creationId xmlns:a16="http://schemas.microsoft.com/office/drawing/2014/main" id="{68817894-1EFB-6FD1-AED4-EA7F0F019612}"/>
              </a:ext>
            </a:extLst>
          </p:cNvPr>
          <p:cNvSpPr txBox="1"/>
          <p:nvPr/>
        </p:nvSpPr>
        <p:spPr>
          <a:xfrm>
            <a:off x="6096000" y="5105400"/>
            <a:ext cx="5486400" cy="10160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Source: </a:t>
            </a:r>
            <a:r>
              <a:rPr lang="en-US" sz="1200">
                <a:solidFill>
                  <a:srgbClr val="3B4A5C"/>
                </a:solidFill>
                <a:latin typeface="Calibri" panose="020F0502020204030204" pitchFamily="34" charset="0"/>
              </a:rPr>
              <a:t>Wilkinson CP et al., Ophthalmology 2003;110(9):1677–82 · ETDRS Report 10 (1991).</a:t>
            </a:r>
          </a:p>
        </p:txBody>
      </p:sp>
      <p:sp>
        <p:nvSpPr>
          <p:cNvPr id="26" name="txt-64">
            <a:extLst>
              <a:ext uri="{FF2B5EF4-FFF2-40B4-BE49-F238E27FC236}">
                <a16:creationId xmlns:a16="http://schemas.microsoft.com/office/drawing/2014/main" id="{EA5AE899-809B-E48C-1482-926D2507BDBE}"/>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27" name="txt-65">
            <a:extLst>
              <a:ext uri="{FF2B5EF4-FFF2-40B4-BE49-F238E27FC236}">
                <a16:creationId xmlns:a16="http://schemas.microsoft.com/office/drawing/2014/main" id="{DC8A1154-4B3C-0B76-7FAB-46E8C5277AB7}"/>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04</a:t>
            </a:r>
          </a:p>
        </p:txBody>
      </p:sp>
    </p:spTree>
    <p:extLst>
      <p:ext uri="{BB962C8B-B14F-4D97-AF65-F5344CB8AC3E}">
        <p14:creationId xmlns:p14="http://schemas.microsoft.com/office/powerpoint/2010/main" val="1070754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66">
            <a:extLst>
              <a:ext uri="{FF2B5EF4-FFF2-40B4-BE49-F238E27FC236}">
                <a16:creationId xmlns:a16="http://schemas.microsoft.com/office/drawing/2014/main" id="{7777F0AD-2090-B68B-E4E5-68B380C63681}"/>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04 · DIAGNOSTIC DUEL</a:t>
            </a:r>
          </a:p>
        </p:txBody>
      </p:sp>
      <p:sp>
        <p:nvSpPr>
          <p:cNvPr id="3" name="txt-67">
            <a:extLst>
              <a:ext uri="{FF2B5EF4-FFF2-40B4-BE49-F238E27FC236}">
                <a16:creationId xmlns:a16="http://schemas.microsoft.com/office/drawing/2014/main" id="{9CDBA5BA-0F01-6A3B-CD10-F46CB476DBDF}"/>
              </a:ext>
            </a:extLst>
          </p:cNvPr>
          <p:cNvSpPr txBox="1"/>
          <p:nvPr/>
        </p:nvSpPr>
        <p:spPr>
          <a:xfrm>
            <a:off x="609600" y="736600"/>
            <a:ext cx="7112000" cy="1066800"/>
          </a:xfrm>
          <a:prstGeom prst="rect">
            <a:avLst/>
          </a:prstGeom>
          <a:noFill/>
        </p:spPr>
        <p:txBody>
          <a:bodyPr vert="horz" wrap="square" lIns="0" tIns="0" rIns="0" bIns="0" rtlCol="0" anchor="t">
            <a:noAutofit/>
          </a:bodyPr>
          <a:lstStyle/>
          <a:p>
            <a:pPr>
              <a:lnSpc>
                <a:spcPct val="95000"/>
              </a:lnSpc>
            </a:pPr>
            <a:r>
              <a:rPr lang="en-US" sz="3200">
                <a:solidFill>
                  <a:srgbClr val="0A1A2C"/>
                </a:solidFill>
                <a:latin typeface="Georgia" panose="02040502050405020303" pitchFamily="18" charset="0"/>
              </a:rPr>
              <a:t>Read it before you are told.</a:t>
            </a:r>
          </a:p>
        </p:txBody>
      </p:sp>
      <p:sp>
        <p:nvSpPr>
          <p:cNvPr id="4" name="shape-68">
            <a:extLst>
              <a:ext uri="{FF2B5EF4-FFF2-40B4-BE49-F238E27FC236}">
                <a16:creationId xmlns:a16="http://schemas.microsoft.com/office/drawing/2014/main" id="{E8CCFBCD-47B8-FA7F-388D-43A9924E7DFA}"/>
              </a:ext>
            </a:extLst>
          </p:cNvPr>
          <p:cNvSpPr/>
          <p:nvPr/>
        </p:nvSpPr>
        <p:spPr>
          <a:xfrm>
            <a:off x="609600" y="1625600"/>
            <a:ext cx="1270000" cy="76200"/>
          </a:xfrm>
          <a:prstGeom prst="rect">
            <a:avLst/>
          </a:prstGeom>
          <a:solidFill>
            <a:srgbClr val="0A1A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69">
            <a:extLst>
              <a:ext uri="{FF2B5EF4-FFF2-40B4-BE49-F238E27FC236}">
                <a16:creationId xmlns:a16="http://schemas.microsoft.com/office/drawing/2014/main" id="{6A17D11A-585B-C65B-E501-573FEB6DCC67}"/>
              </a:ext>
            </a:extLst>
          </p:cNvPr>
          <p:cNvSpPr txBox="1"/>
          <p:nvPr/>
        </p:nvSpPr>
        <p:spPr>
          <a:xfrm>
            <a:off x="609600" y="1778000"/>
            <a:ext cx="1270000" cy="355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rPr>
              <a:t>1 Observe</a:t>
            </a:r>
          </a:p>
        </p:txBody>
      </p:sp>
      <p:sp>
        <p:nvSpPr>
          <p:cNvPr id="6" name="shape-70">
            <a:extLst>
              <a:ext uri="{FF2B5EF4-FFF2-40B4-BE49-F238E27FC236}">
                <a16:creationId xmlns:a16="http://schemas.microsoft.com/office/drawing/2014/main" id="{8D82F710-0117-F8CF-7C26-51B7E4730D96}"/>
              </a:ext>
            </a:extLst>
          </p:cNvPr>
          <p:cNvSpPr/>
          <p:nvPr/>
        </p:nvSpPr>
        <p:spPr>
          <a:xfrm>
            <a:off x="1981200" y="1625600"/>
            <a:ext cx="1270000" cy="76200"/>
          </a:xfrm>
          <a:prstGeom prst="rect">
            <a:avLst/>
          </a:prstGeom>
          <a:solidFill>
            <a:srgbClr val="0A1A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xt-71">
            <a:extLst>
              <a:ext uri="{FF2B5EF4-FFF2-40B4-BE49-F238E27FC236}">
                <a16:creationId xmlns:a16="http://schemas.microsoft.com/office/drawing/2014/main" id="{5DF9356A-EECA-64E0-BC03-D831ED568EA0}"/>
              </a:ext>
            </a:extLst>
          </p:cNvPr>
          <p:cNvSpPr txBox="1"/>
          <p:nvPr/>
        </p:nvSpPr>
        <p:spPr>
          <a:xfrm>
            <a:off x="1981200" y="1778000"/>
            <a:ext cx="1270000" cy="355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rPr>
              <a:t>2 Record</a:t>
            </a:r>
          </a:p>
        </p:txBody>
      </p:sp>
      <p:sp>
        <p:nvSpPr>
          <p:cNvPr id="8" name="shape-72">
            <a:extLst>
              <a:ext uri="{FF2B5EF4-FFF2-40B4-BE49-F238E27FC236}">
                <a16:creationId xmlns:a16="http://schemas.microsoft.com/office/drawing/2014/main" id="{CDDE14D4-4FB8-22F8-0FE5-FC844B3DC80E}"/>
              </a:ext>
            </a:extLst>
          </p:cNvPr>
          <p:cNvSpPr/>
          <p:nvPr/>
        </p:nvSpPr>
        <p:spPr>
          <a:xfrm>
            <a:off x="3352800" y="1625600"/>
            <a:ext cx="1270000" cy="76200"/>
          </a:xfrm>
          <a:prstGeom prst="rect">
            <a:avLst/>
          </a:prstGeom>
          <a:solidFill>
            <a:srgbClr val="0A1A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xt-73">
            <a:extLst>
              <a:ext uri="{FF2B5EF4-FFF2-40B4-BE49-F238E27FC236}">
                <a16:creationId xmlns:a16="http://schemas.microsoft.com/office/drawing/2014/main" id="{51513323-76A6-C2A3-C549-AA465CCBC443}"/>
              </a:ext>
            </a:extLst>
          </p:cNvPr>
          <p:cNvSpPr txBox="1"/>
          <p:nvPr/>
        </p:nvSpPr>
        <p:spPr>
          <a:xfrm>
            <a:off x="3352800" y="1778000"/>
            <a:ext cx="1270000" cy="355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rPr>
              <a:t>3 Lock</a:t>
            </a:r>
          </a:p>
        </p:txBody>
      </p:sp>
      <p:sp>
        <p:nvSpPr>
          <p:cNvPr id="10" name="shape-74">
            <a:extLst>
              <a:ext uri="{FF2B5EF4-FFF2-40B4-BE49-F238E27FC236}">
                <a16:creationId xmlns:a16="http://schemas.microsoft.com/office/drawing/2014/main" id="{5AC6205A-C15E-2DE6-EE29-4442474B43D0}"/>
              </a:ext>
            </a:extLst>
          </p:cNvPr>
          <p:cNvSpPr/>
          <p:nvPr/>
        </p:nvSpPr>
        <p:spPr>
          <a:xfrm>
            <a:off x="4724400" y="1625600"/>
            <a:ext cx="1270000" cy="76200"/>
          </a:xfrm>
          <a:prstGeom prst="rect">
            <a:avLst/>
          </a:prstGeom>
          <a:solidFill>
            <a:srgbClr val="B8B1A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xt-75">
            <a:extLst>
              <a:ext uri="{FF2B5EF4-FFF2-40B4-BE49-F238E27FC236}">
                <a16:creationId xmlns:a16="http://schemas.microsoft.com/office/drawing/2014/main" id="{868628F0-FF57-BC43-1B94-15C0FE7CED30}"/>
              </a:ext>
            </a:extLst>
          </p:cNvPr>
          <p:cNvSpPr txBox="1"/>
          <p:nvPr/>
        </p:nvSpPr>
        <p:spPr>
          <a:xfrm>
            <a:off x="4724400" y="1778000"/>
            <a:ext cx="12700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4 Model</a:t>
            </a:r>
          </a:p>
        </p:txBody>
      </p:sp>
      <p:sp>
        <p:nvSpPr>
          <p:cNvPr id="12" name="shape-76">
            <a:extLst>
              <a:ext uri="{FF2B5EF4-FFF2-40B4-BE49-F238E27FC236}">
                <a16:creationId xmlns:a16="http://schemas.microsoft.com/office/drawing/2014/main" id="{6DD7EE1E-DB13-463C-94F5-01461B07173D}"/>
              </a:ext>
            </a:extLst>
          </p:cNvPr>
          <p:cNvSpPr/>
          <p:nvPr/>
        </p:nvSpPr>
        <p:spPr>
          <a:xfrm>
            <a:off x="6096000" y="1625600"/>
            <a:ext cx="1270000" cy="76200"/>
          </a:xfrm>
          <a:prstGeom prst="rect">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xt-77">
            <a:extLst>
              <a:ext uri="{FF2B5EF4-FFF2-40B4-BE49-F238E27FC236}">
                <a16:creationId xmlns:a16="http://schemas.microsoft.com/office/drawing/2014/main" id="{53816402-B155-2C21-788C-83C949E5B758}"/>
              </a:ext>
            </a:extLst>
          </p:cNvPr>
          <p:cNvSpPr txBox="1"/>
          <p:nvPr/>
        </p:nvSpPr>
        <p:spPr>
          <a:xfrm>
            <a:off x="6096000" y="1778000"/>
            <a:ext cx="1270000" cy="355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rPr>
              <a:t>5 Reference</a:t>
            </a:r>
          </a:p>
        </p:txBody>
      </p:sp>
      <p:sp>
        <p:nvSpPr>
          <p:cNvPr id="14" name="shape-78">
            <a:extLst>
              <a:ext uri="{FF2B5EF4-FFF2-40B4-BE49-F238E27FC236}">
                <a16:creationId xmlns:a16="http://schemas.microsoft.com/office/drawing/2014/main" id="{DD148971-6156-83CF-57C4-17818ED0306B}"/>
              </a:ext>
            </a:extLst>
          </p:cNvPr>
          <p:cNvSpPr/>
          <p:nvPr/>
        </p:nvSpPr>
        <p:spPr>
          <a:xfrm>
            <a:off x="7467600" y="1625600"/>
            <a:ext cx="1270000" cy="76200"/>
          </a:xfrm>
          <a:prstGeom prst="rect">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xt-79">
            <a:extLst>
              <a:ext uri="{FF2B5EF4-FFF2-40B4-BE49-F238E27FC236}">
                <a16:creationId xmlns:a16="http://schemas.microsoft.com/office/drawing/2014/main" id="{DA5ABD60-48BD-9FFF-5CDD-73B05D2488E7}"/>
              </a:ext>
            </a:extLst>
          </p:cNvPr>
          <p:cNvSpPr txBox="1"/>
          <p:nvPr/>
        </p:nvSpPr>
        <p:spPr>
          <a:xfrm>
            <a:off x="7467600" y="1778000"/>
            <a:ext cx="1270000" cy="355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rPr>
              <a:t>6 Compare</a:t>
            </a:r>
          </a:p>
        </p:txBody>
      </p:sp>
      <p:sp>
        <p:nvSpPr>
          <p:cNvPr id="16" name="shape-80">
            <a:extLst>
              <a:ext uri="{FF2B5EF4-FFF2-40B4-BE49-F238E27FC236}">
                <a16:creationId xmlns:a16="http://schemas.microsoft.com/office/drawing/2014/main" id="{47ABC7EE-2F6A-59C5-C111-C938D282B40C}"/>
              </a:ext>
            </a:extLst>
          </p:cNvPr>
          <p:cNvSpPr/>
          <p:nvPr/>
        </p:nvSpPr>
        <p:spPr>
          <a:xfrm>
            <a:off x="8839200" y="1625600"/>
            <a:ext cx="1270000" cy="76200"/>
          </a:xfrm>
          <a:prstGeom prst="rect">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xt-81">
            <a:extLst>
              <a:ext uri="{FF2B5EF4-FFF2-40B4-BE49-F238E27FC236}">
                <a16:creationId xmlns:a16="http://schemas.microsoft.com/office/drawing/2014/main" id="{94186E93-1560-52CC-3DAF-8490B4EB3C30}"/>
              </a:ext>
            </a:extLst>
          </p:cNvPr>
          <p:cNvSpPr txBox="1"/>
          <p:nvPr/>
        </p:nvSpPr>
        <p:spPr>
          <a:xfrm>
            <a:off x="8839200" y="1778000"/>
            <a:ext cx="1270000" cy="355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rPr>
              <a:t>7 Meaning</a:t>
            </a:r>
          </a:p>
        </p:txBody>
      </p:sp>
      <p:sp>
        <p:nvSpPr>
          <p:cNvPr id="18" name="shape-82">
            <a:extLst>
              <a:ext uri="{FF2B5EF4-FFF2-40B4-BE49-F238E27FC236}">
                <a16:creationId xmlns:a16="http://schemas.microsoft.com/office/drawing/2014/main" id="{D059D649-F2B6-956D-21F6-3C972982FAD4}"/>
              </a:ext>
            </a:extLst>
          </p:cNvPr>
          <p:cNvSpPr/>
          <p:nvPr/>
        </p:nvSpPr>
        <p:spPr>
          <a:xfrm>
            <a:off x="10210800" y="1625600"/>
            <a:ext cx="1270000" cy="76200"/>
          </a:xfrm>
          <a:prstGeom prst="rect">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xt-83">
            <a:extLst>
              <a:ext uri="{FF2B5EF4-FFF2-40B4-BE49-F238E27FC236}">
                <a16:creationId xmlns:a16="http://schemas.microsoft.com/office/drawing/2014/main" id="{93D08472-3A5A-70F8-6621-1A5656C9C034}"/>
              </a:ext>
            </a:extLst>
          </p:cNvPr>
          <p:cNvSpPr txBox="1"/>
          <p:nvPr/>
        </p:nvSpPr>
        <p:spPr>
          <a:xfrm>
            <a:off x="10210800" y="1778000"/>
            <a:ext cx="1270000" cy="355600"/>
          </a:xfrm>
          <a:prstGeom prst="rect">
            <a:avLst/>
          </a:prstGeom>
          <a:noFill/>
        </p:spPr>
        <p:txBody>
          <a:bodyPr vert="horz" wrap="square" lIns="0" tIns="0" rIns="0" bIns="0" rtlCol="0" anchor="t">
            <a:noAutofit/>
          </a:bodyPr>
          <a:lstStyle/>
          <a:p>
            <a:r>
              <a:rPr lang="en-US" sz="1000">
                <a:solidFill>
                  <a:srgbClr val="0A1A2C"/>
                </a:solidFill>
                <a:latin typeface="Consolas" panose="020B0609020204030204" pitchFamily="49" charset="0"/>
              </a:rPr>
              <a:t>8 Record</a:t>
            </a:r>
          </a:p>
        </p:txBody>
      </p:sp>
      <p:sp>
        <p:nvSpPr>
          <p:cNvPr id="20" name="txt-84">
            <a:extLst>
              <a:ext uri="{FF2B5EF4-FFF2-40B4-BE49-F238E27FC236}">
                <a16:creationId xmlns:a16="http://schemas.microsoft.com/office/drawing/2014/main" id="{188C6D3B-1EDF-E0AD-3D93-F97D3879CA05}"/>
              </a:ext>
            </a:extLst>
          </p:cNvPr>
          <p:cNvSpPr txBox="1"/>
          <p:nvPr/>
        </p:nvSpPr>
        <p:spPr>
          <a:xfrm>
            <a:off x="609600" y="2489200"/>
            <a:ext cx="4826000" cy="3683000"/>
          </a:xfrm>
          <a:prstGeom prst="rect">
            <a:avLst/>
          </a:prstGeom>
          <a:noFill/>
        </p:spPr>
        <p:txBody>
          <a:bodyPr vert="horz" wrap="square" lIns="0" tIns="0" rIns="0" bIns="0" rtlCol="0" anchor="t">
            <a:noAutofit/>
          </a:bodyPr>
          <a:lstStyle/>
          <a:p>
            <a:pPr marL="177800" indent="-177800">
              <a:spcAft>
                <a:spcPts val="800"/>
              </a:spcAft>
              <a:buClr>
                <a:srgbClr val="3B4A5C"/>
              </a:buClr>
              <a:buFont typeface="+mj-lt"/>
              <a:buChar char="•"/>
            </a:pPr>
            <a:r>
              <a:rPr lang="en-US" sz="1500" b="1">
                <a:solidFill>
                  <a:srgbClr val="3B4A5C"/>
                </a:solidFill>
                <a:latin typeface="Calibri" panose="020F0502020204030204" pitchFamily="34" charset="0"/>
              </a:rPr>
              <a:t>Human vs Reference. </a:t>
            </a:r>
            <a:r>
              <a:rPr lang="en-US" sz="1500">
                <a:solidFill>
                  <a:srgbClr val="3B4A5C"/>
                </a:solidFill>
                <a:latin typeface="Calibri" panose="020F0502020204030204" pitchFamily="34" charset="0"/>
              </a:rPr>
              <a:t>No model exists, so the model seat says “not implemented” — never “Human vs AI”.</a:t>
            </a:r>
          </a:p>
          <a:p>
            <a:pPr marL="177800" indent="-177800">
              <a:spcAft>
                <a:spcPts val="800"/>
              </a:spcAft>
              <a:buClr>
                <a:srgbClr val="3B4A5C"/>
              </a:buClr>
              <a:buFont typeface="+mj-lt"/>
              <a:buChar char="•"/>
            </a:pPr>
            <a:r>
              <a:rPr lang="en-US" sz="1500" b="1">
                <a:solidFill>
                  <a:srgbClr val="3B4A5C"/>
                </a:solidFill>
                <a:latin typeface="Calibri" panose="020F0502020204030204" pitchFamily="34" charset="0"/>
              </a:rPr>
              <a:t>Locked first. </a:t>
            </a:r>
            <a:r>
              <a:rPr lang="en-US" sz="1500">
                <a:solidFill>
                  <a:srgbClr val="3B4A5C"/>
                </a:solidFill>
                <a:latin typeface="Calibri" panose="020F0502020204030204" pitchFamily="34" charset="0"/>
              </a:rPr>
              <a:t>Opening reference layers earlier makes a case practice-only.</a:t>
            </a:r>
          </a:p>
          <a:p>
            <a:pPr marL="177800" indent="-177800">
              <a:spcAft>
                <a:spcPts val="800"/>
              </a:spcAft>
              <a:buClr>
                <a:srgbClr val="3B4A5C"/>
              </a:buClr>
              <a:buFont typeface="+mj-lt"/>
              <a:buChar char="•"/>
            </a:pPr>
            <a:r>
              <a:rPr lang="en-US" sz="1500" b="1">
                <a:solidFill>
                  <a:srgbClr val="3B4A5C"/>
                </a:solidFill>
                <a:latin typeface="Calibri" panose="020F0502020204030204" pitchFamily="34" charset="0"/>
              </a:rPr>
              <a:t>Why it matters. </a:t>
            </a:r>
            <a:r>
              <a:rPr lang="en-US" sz="1500">
                <a:solidFill>
                  <a:srgbClr val="3B4A5C"/>
                </a:solidFill>
                <a:latin typeface="Calibri" panose="020F0502020204030204" pitchFamily="34" charset="0"/>
              </a:rPr>
              <a:t>A false negative is explained as the costly error; a false positive as a trade-off.</a:t>
            </a:r>
          </a:p>
          <a:p>
            <a:pPr marL="177800" indent="-177800">
              <a:spcAft>
                <a:spcPts val="800"/>
              </a:spcAft>
              <a:buClr>
                <a:srgbClr val="3B4A5C"/>
              </a:buClr>
              <a:buFont typeface="+mj-lt"/>
              <a:buChar char="•"/>
            </a:pPr>
            <a:r>
              <a:rPr lang="en-US" sz="1500" b="1">
                <a:solidFill>
                  <a:srgbClr val="3B4A5C"/>
                </a:solidFill>
                <a:latin typeface="Calibri" panose="020F0502020204030204" pitchFamily="34" charset="0"/>
              </a:rPr>
              <a:t>Educational score </a:t>
            </a:r>
            <a:r>
              <a:rPr lang="en-US" sz="1500">
                <a:solidFill>
                  <a:srgbClr val="3B4A5C"/>
                </a:solidFill>
                <a:latin typeface="Calibri" panose="020F0502020204030204" pitchFamily="34" charset="0"/>
              </a:rPr>
              <a:t>with 95% intervals — not validated clinical performance.</a:t>
            </a:r>
          </a:p>
        </p:txBody>
      </p:sp>
      <p:pic>
        <p:nvPicPr>
          <p:cNvPr id="22" name="pic-85" descr="Screenshot of the Diagnostic Duel after locking an interpretation: the reader’s answer, the reference label and a model seat reading not implemented.">
            <a:extLst>
              <a:ext uri="{FF2B5EF4-FFF2-40B4-BE49-F238E27FC236}">
                <a16:creationId xmlns:a16="http://schemas.microsoft.com/office/drawing/2014/main" id="{8CCCFA77-3F43-AAD6-5198-614D79F83F53}"/>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a:xfrm>
            <a:off x="5715000" y="2336800"/>
            <a:ext cx="5867400" cy="3667125"/>
          </a:xfrm>
          <a:prstGeom prst="rect">
            <a:avLst/>
          </a:prstGeom>
          <a:ln w="9525">
            <a:solidFill>
              <a:srgbClr val="CFC6B3"/>
            </a:solidFill>
          </a:ln>
        </p:spPr>
      </p:pic>
      <p:sp>
        <p:nvSpPr>
          <p:cNvPr id="23" name="txt-86">
            <a:extLst>
              <a:ext uri="{FF2B5EF4-FFF2-40B4-BE49-F238E27FC236}">
                <a16:creationId xmlns:a16="http://schemas.microsoft.com/office/drawing/2014/main" id="{02899643-ADA1-7161-67DC-24053B5FD80A}"/>
              </a:ext>
            </a:extLst>
          </p:cNvPr>
          <p:cNvSpPr txBox="1"/>
          <p:nvPr/>
        </p:nvSpPr>
        <p:spPr>
          <a:xfrm>
            <a:off x="5715000" y="6197600"/>
            <a:ext cx="58674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a locked reading beside the reference; model seat: not implemented</a:t>
            </a:r>
          </a:p>
        </p:txBody>
      </p:sp>
      <p:sp>
        <p:nvSpPr>
          <p:cNvPr id="24" name="txt-87">
            <a:extLst>
              <a:ext uri="{FF2B5EF4-FFF2-40B4-BE49-F238E27FC236}">
                <a16:creationId xmlns:a16="http://schemas.microsoft.com/office/drawing/2014/main" id="{807F2FE9-C32F-B08C-FB2C-5EA83E9414C4}"/>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25" name="txt-88">
            <a:extLst>
              <a:ext uri="{FF2B5EF4-FFF2-40B4-BE49-F238E27FC236}">
                <a16:creationId xmlns:a16="http://schemas.microsoft.com/office/drawing/2014/main" id="{BFDC12C1-11E7-97A6-5DFF-F327A215E5D9}"/>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05</a:t>
            </a:r>
          </a:p>
        </p:txBody>
      </p:sp>
    </p:spTree>
    <p:extLst>
      <p:ext uri="{BB962C8B-B14F-4D97-AF65-F5344CB8AC3E}">
        <p14:creationId xmlns:p14="http://schemas.microsoft.com/office/powerpoint/2010/main" val="2162984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89">
            <a:extLst>
              <a:ext uri="{FF2B5EF4-FFF2-40B4-BE49-F238E27FC236}">
                <a16:creationId xmlns:a16="http://schemas.microsoft.com/office/drawing/2014/main" id="{166F8C05-7BEF-8C7A-1324-62DB776873E8}"/>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05 · EVIDENCELENS</a:t>
            </a:r>
          </a:p>
        </p:txBody>
      </p:sp>
      <p:sp>
        <p:nvSpPr>
          <p:cNvPr id="3" name="txt-90">
            <a:extLst>
              <a:ext uri="{FF2B5EF4-FFF2-40B4-BE49-F238E27FC236}">
                <a16:creationId xmlns:a16="http://schemas.microsoft.com/office/drawing/2014/main" id="{FDF31F30-1897-BC5D-25A0-61E2DAA0CAAB}"/>
              </a:ext>
            </a:extLst>
          </p:cNvPr>
          <p:cNvSpPr txBox="1"/>
          <p:nvPr/>
        </p:nvSpPr>
        <p:spPr>
          <a:xfrm>
            <a:off x="609600" y="736600"/>
            <a:ext cx="5080000" cy="1066800"/>
          </a:xfrm>
          <a:prstGeom prst="rect">
            <a:avLst/>
          </a:prstGeom>
          <a:noFill/>
        </p:spPr>
        <p:txBody>
          <a:bodyPr vert="horz" wrap="square" lIns="0" tIns="0" rIns="0" bIns="0" rtlCol="0" anchor="t">
            <a:noAutofit/>
          </a:bodyPr>
          <a:lstStyle/>
          <a:p>
            <a:pPr>
              <a:lnSpc>
                <a:spcPct val="95000"/>
              </a:lnSpc>
            </a:pPr>
            <a:r>
              <a:rPr lang="en-US" sz="2700">
                <a:solidFill>
                  <a:srgbClr val="0A1A2C"/>
                </a:solidFill>
                <a:latin typeface="Georgia" panose="02040502050405020303" pitchFamily="18" charset="0"/>
              </a:rPr>
              <a:t>Every annotation has an author and a source.</a:t>
            </a:r>
          </a:p>
        </p:txBody>
      </p:sp>
      <p:sp>
        <p:nvSpPr>
          <p:cNvPr id="4" name="txt-91">
            <a:extLst>
              <a:ext uri="{FF2B5EF4-FFF2-40B4-BE49-F238E27FC236}">
                <a16:creationId xmlns:a16="http://schemas.microsoft.com/office/drawing/2014/main" id="{4F319B3A-B383-0ED4-A541-398CBC1CF00B}"/>
              </a:ext>
            </a:extLst>
          </p:cNvPr>
          <p:cNvSpPr txBox="1"/>
          <p:nvPr/>
        </p:nvSpPr>
        <p:spPr>
          <a:xfrm>
            <a:off x="609600" y="2235200"/>
            <a:ext cx="4953000" cy="3937000"/>
          </a:xfrm>
          <a:prstGeom prst="rect">
            <a:avLst/>
          </a:prstGeom>
          <a:noFill/>
        </p:spPr>
        <p:txBody>
          <a:bodyPr vert="horz" wrap="square" lIns="0" tIns="0" rIns="0" bIns="0" rtlCol="0" anchor="t">
            <a:noAutofit/>
          </a:bodyPr>
          <a:lstStyle/>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Zoom, pan, fit and native resolution; keyboard operable.</a:t>
            </a:r>
          </a:p>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Layered reference annotations, revealed one layer at a time, with an opacity control.</a:t>
            </a:r>
          </a:p>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Draggable before / after: plain | annotated, and colour | green-channel enhanced.</a:t>
            </a:r>
          </a:p>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Lesion panels with location in disc diameters, grading relevance and source links.</a:t>
            </a:r>
          </a:p>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Image-quality indicators measured from pixels — not authored.</a:t>
            </a:r>
          </a:p>
          <a:p>
            <a:pPr marL="177800" indent="-177800">
              <a:spcAft>
                <a:spcPts val="700"/>
              </a:spcAft>
              <a:buClr>
                <a:srgbClr val="3B4A5C"/>
              </a:buClr>
              <a:buFont typeface="+mj-lt"/>
              <a:buChar char="•"/>
            </a:pPr>
            <a:r>
              <a:rPr lang="en-US" sz="1500" b="1">
                <a:solidFill>
                  <a:srgbClr val="3B4A5C"/>
                </a:solidFill>
                <a:latin typeface="Calibri" panose="020F0502020204030204" pitchFamily="34" charset="0"/>
              </a:rPr>
              <a:t>Reference vs model side by side; the model column reads “not implemented”.</a:t>
            </a:r>
          </a:p>
        </p:txBody>
      </p:sp>
      <p:pic>
        <p:nvPicPr>
          <p:cNvPr id="6" name="pic-92" descr="Screenshot of the draggable before and after comparison: the left half is the plain retinal image and the right half shows reference annotations over it.">
            <a:extLst>
              <a:ext uri="{FF2B5EF4-FFF2-40B4-BE49-F238E27FC236}">
                <a16:creationId xmlns:a16="http://schemas.microsoft.com/office/drawing/2014/main" id="{2FA9455F-C5E3-2445-2CAE-BACA1DED8256}"/>
              </a:ext>
            </a:extLst>
          </p:cNvPr>
          <p:cNvPicPr>
            <a:picLocks/>
          </p:cNvPicPr>
          <p:nvPr/>
        </p:nvPicPr>
        <p:blipFill>
          <a:blip r:embed="rId3">
            <a:extLst>
              <a:ext uri="{28A0092B-C50C-407E-A947-70E740481C1C}">
                <a14:useLocalDpi xmlns:a14="http://schemas.microsoft.com/office/drawing/2010/main" val="0"/>
              </a:ext>
            </a:extLst>
          </a:blip>
          <a:srcRect l="-1" r="-1"/>
          <a:stretch>
            <a:fillRect/>
          </a:stretch>
        </p:blipFill>
        <p:spPr>
          <a:xfrm>
            <a:off x="5969000" y="660400"/>
            <a:ext cx="5588000" cy="3143250"/>
          </a:xfrm>
          <a:prstGeom prst="rect">
            <a:avLst/>
          </a:prstGeom>
          <a:ln w="9525">
            <a:solidFill>
              <a:srgbClr val="CFC6B3"/>
            </a:solidFill>
          </a:ln>
        </p:spPr>
      </p:pic>
      <p:sp>
        <p:nvSpPr>
          <p:cNvPr id="7" name="txt-93">
            <a:extLst>
              <a:ext uri="{FF2B5EF4-FFF2-40B4-BE49-F238E27FC236}">
                <a16:creationId xmlns:a16="http://schemas.microsoft.com/office/drawing/2014/main" id="{A5E16657-AE51-C309-5709-B78EF719B848}"/>
              </a:ext>
            </a:extLst>
          </p:cNvPr>
          <p:cNvSpPr txBox="1"/>
          <p:nvPr/>
        </p:nvSpPr>
        <p:spPr>
          <a:xfrm>
            <a:off x="5969000" y="3810000"/>
            <a:ext cx="55880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draggable divider: plain | annotated</a:t>
            </a:r>
          </a:p>
        </p:txBody>
      </p:sp>
      <p:pic>
        <p:nvPicPr>
          <p:cNvPr id="9" name="pic-94" descr="Screenshot of the green-channel enhanced comparison view of a retinal image, a standard preprocessing display.">
            <a:extLst>
              <a:ext uri="{FF2B5EF4-FFF2-40B4-BE49-F238E27FC236}">
                <a16:creationId xmlns:a16="http://schemas.microsoft.com/office/drawing/2014/main" id="{1AFD5CFD-D8E3-D835-05A1-4268E8545269}"/>
              </a:ext>
            </a:extLst>
          </p:cNvPr>
          <p:cNvPicPr>
            <a:picLocks/>
          </p:cNvPicPr>
          <p:nvPr/>
        </p:nvPicPr>
        <p:blipFill>
          <a:blip r:embed="rId4">
            <a:extLst>
              <a:ext uri="{28A0092B-C50C-407E-A947-70E740481C1C}">
                <a14:useLocalDpi xmlns:a14="http://schemas.microsoft.com/office/drawing/2010/main" val="0"/>
              </a:ext>
            </a:extLst>
          </a:blip>
          <a:srcRect l="2000" t="35000" r="30000" b="2001"/>
          <a:stretch>
            <a:fillRect/>
          </a:stretch>
        </p:blipFill>
        <p:spPr>
          <a:xfrm>
            <a:off x="5969000" y="4267200"/>
            <a:ext cx="3704189" cy="1930400"/>
          </a:xfrm>
          <a:prstGeom prst="rect">
            <a:avLst/>
          </a:prstGeom>
          <a:ln w="9525">
            <a:solidFill>
              <a:srgbClr val="CFC6B3"/>
            </a:solidFill>
          </a:ln>
        </p:spPr>
      </p:pic>
      <p:sp>
        <p:nvSpPr>
          <p:cNvPr id="10" name="txt-95">
            <a:extLst>
              <a:ext uri="{FF2B5EF4-FFF2-40B4-BE49-F238E27FC236}">
                <a16:creationId xmlns:a16="http://schemas.microsoft.com/office/drawing/2014/main" id="{99FE6407-1080-5EB9-541C-73DBA8C494C8}"/>
              </a:ext>
            </a:extLst>
          </p:cNvPr>
          <p:cNvSpPr txBox="1"/>
          <p:nvPr/>
        </p:nvSpPr>
        <p:spPr>
          <a:xfrm>
            <a:off x="9931400" y="4318000"/>
            <a:ext cx="16510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colour | green-channel enhanced</a:t>
            </a:r>
          </a:p>
        </p:txBody>
      </p:sp>
      <p:sp>
        <p:nvSpPr>
          <p:cNvPr id="11" name="txt-96">
            <a:extLst>
              <a:ext uri="{FF2B5EF4-FFF2-40B4-BE49-F238E27FC236}">
                <a16:creationId xmlns:a16="http://schemas.microsoft.com/office/drawing/2014/main" id="{62ACCF86-0291-4D83-2DE7-635F5A704212}"/>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12" name="txt-97">
            <a:extLst>
              <a:ext uri="{FF2B5EF4-FFF2-40B4-BE49-F238E27FC236}">
                <a16:creationId xmlns:a16="http://schemas.microsoft.com/office/drawing/2014/main" id="{A87EBAC2-E4AF-A673-1825-D556F16E5FD6}"/>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06</a:t>
            </a:r>
          </a:p>
        </p:txBody>
      </p:sp>
    </p:spTree>
    <p:extLst>
      <p:ext uri="{BB962C8B-B14F-4D97-AF65-F5344CB8AC3E}">
        <p14:creationId xmlns:p14="http://schemas.microsoft.com/office/powerpoint/2010/main" val="2975412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98">
            <a:extLst>
              <a:ext uri="{FF2B5EF4-FFF2-40B4-BE49-F238E27FC236}">
                <a16:creationId xmlns:a16="http://schemas.microsoft.com/office/drawing/2014/main" id="{2A4FFD1E-45E5-0B47-4804-4680876BC94F}"/>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06 · ACCURACY LABORATORY</a:t>
            </a:r>
          </a:p>
        </p:txBody>
      </p:sp>
      <p:sp>
        <p:nvSpPr>
          <p:cNvPr id="3" name="txt-99">
            <a:extLst>
              <a:ext uri="{FF2B5EF4-FFF2-40B4-BE49-F238E27FC236}">
                <a16:creationId xmlns:a16="http://schemas.microsoft.com/office/drawing/2014/main" id="{34FE28AA-C096-0594-C42D-0BA1E00BB31B}"/>
              </a:ext>
            </a:extLst>
          </p:cNvPr>
          <p:cNvSpPr txBox="1"/>
          <p:nvPr/>
        </p:nvSpPr>
        <p:spPr>
          <a:xfrm>
            <a:off x="609600" y="736600"/>
            <a:ext cx="5334000" cy="1066800"/>
          </a:xfrm>
          <a:prstGeom prst="rect">
            <a:avLst/>
          </a:prstGeom>
          <a:noFill/>
        </p:spPr>
        <p:txBody>
          <a:bodyPr vert="horz" wrap="square" lIns="0" tIns="0" rIns="0" bIns="0" rtlCol="0" anchor="t">
            <a:noAutofit/>
          </a:bodyPr>
          <a:lstStyle/>
          <a:p>
            <a:pPr>
              <a:lnSpc>
                <a:spcPct val="95000"/>
              </a:lnSpc>
            </a:pPr>
            <a:r>
              <a:rPr lang="en-US" sz="3200">
                <a:solidFill>
                  <a:srgbClr val="0A1A2C"/>
                </a:solidFill>
                <a:latin typeface="Georgia" panose="02040502050405020303" pitchFamily="18" charset="0"/>
              </a:rPr>
              <a:t>Measured, not claimed.</a:t>
            </a:r>
          </a:p>
        </p:txBody>
      </p:sp>
      <p:pic>
        <p:nvPicPr>
          <p:cNvPr id="5" name="pic-100" descr="Screenshot of the Accuracy Laboratory simulator: a dashed banner reading educational simulation, a confusion matrix, sensitivity and specificity bars with intervals, and charts stamped simulation.">
            <a:extLst>
              <a:ext uri="{FF2B5EF4-FFF2-40B4-BE49-F238E27FC236}">
                <a16:creationId xmlns:a16="http://schemas.microsoft.com/office/drawing/2014/main" id="{4BB9A9C2-14A8-36C9-2CE8-447DC7A9B85E}"/>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a:xfrm>
            <a:off x="609600" y="1524000"/>
            <a:ext cx="5969000" cy="4103687"/>
          </a:xfrm>
          <a:prstGeom prst="rect">
            <a:avLst/>
          </a:prstGeom>
          <a:ln w="9525">
            <a:solidFill>
              <a:srgbClr val="CFC6B3"/>
            </a:solidFill>
          </a:ln>
        </p:spPr>
      </p:pic>
      <p:sp>
        <p:nvSpPr>
          <p:cNvPr id="6" name="txt-101">
            <a:extLst>
              <a:ext uri="{FF2B5EF4-FFF2-40B4-BE49-F238E27FC236}">
                <a16:creationId xmlns:a16="http://schemas.microsoft.com/office/drawing/2014/main" id="{0A0F4EC3-915C-721A-FABF-E970C1394641}"/>
              </a:ext>
            </a:extLst>
          </p:cNvPr>
          <p:cNvSpPr txBox="1"/>
          <p:nvPr/>
        </p:nvSpPr>
        <p:spPr>
          <a:xfrm>
            <a:off x="609600" y="5791200"/>
            <a:ext cx="59690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the simulator — stamped SIMULATION; not a research result</a:t>
            </a:r>
          </a:p>
        </p:txBody>
      </p:sp>
      <p:sp>
        <p:nvSpPr>
          <p:cNvPr id="7" name="txt-102">
            <a:extLst>
              <a:ext uri="{FF2B5EF4-FFF2-40B4-BE49-F238E27FC236}">
                <a16:creationId xmlns:a16="http://schemas.microsoft.com/office/drawing/2014/main" id="{89BF14C1-2420-24DE-1136-605769D88E82}"/>
              </a:ext>
            </a:extLst>
          </p:cNvPr>
          <p:cNvSpPr txBox="1"/>
          <p:nvPr/>
        </p:nvSpPr>
        <p:spPr>
          <a:xfrm>
            <a:off x="6959600" y="1625600"/>
            <a:ext cx="4622800" cy="2667000"/>
          </a:xfrm>
          <a:prstGeom prst="rect">
            <a:avLst/>
          </a:prstGeom>
          <a:noFill/>
        </p:spPr>
        <p:txBody>
          <a:bodyPr vert="horz" wrap="square" lIns="0" tIns="0" rIns="0" bIns="0" rtlCol="0" anchor="t">
            <a:noAutofit/>
          </a:bodyPr>
          <a:lstStyle/>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Confusion matrix, sensitivity, specificity, PPV, NPV, AUC, 95% intervals.</a:t>
            </a:r>
          </a:p>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Threshold chosen on validation data only; test partition counted so repeated peeking shows.</a:t>
            </a:r>
          </a:p>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Held-out file import refuses patient-level leakage.</a:t>
            </a:r>
          </a:p>
          <a:p>
            <a:pPr marL="177800" indent="-177800">
              <a:spcAft>
                <a:spcPts val="700"/>
              </a:spcAft>
              <a:buClr>
                <a:srgbClr val="3B4A5C"/>
              </a:buClr>
              <a:buFont typeface="+mj-lt"/>
              <a:buChar char="•"/>
            </a:pPr>
            <a:r>
              <a:rPr lang="en-US" sz="1500">
                <a:solidFill>
                  <a:srgbClr val="3B4A5C"/>
                </a:solidFill>
                <a:latin typeface="Calibri" panose="020F0502020204030204" pitchFamily="34" charset="0"/>
              </a:rPr>
              <a:t>Error cases listed with image ids.</a:t>
            </a:r>
          </a:p>
        </p:txBody>
      </p:sp>
      <p:sp>
        <p:nvSpPr>
          <p:cNvPr id="8" name="shape-103">
            <a:extLst>
              <a:ext uri="{FF2B5EF4-FFF2-40B4-BE49-F238E27FC236}">
                <a16:creationId xmlns:a16="http://schemas.microsoft.com/office/drawing/2014/main" id="{8C577930-A032-C4EB-F5A2-1D117E59B7C9}"/>
              </a:ext>
            </a:extLst>
          </p:cNvPr>
          <p:cNvSpPr/>
          <p:nvPr/>
        </p:nvSpPr>
        <p:spPr>
          <a:xfrm>
            <a:off x="6959600" y="4470400"/>
            <a:ext cx="4622800" cy="457200"/>
          </a:xfrm>
          <a:prstGeom prst="rect">
            <a:avLst/>
          </a:prstGeom>
          <a:solidFill>
            <a:srgbClr val="FCFAF4"/>
          </a:solidFill>
          <a:ln w="9525">
            <a:solidFill>
              <a:srgbClr val="2F6F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xt-104">
            <a:extLst>
              <a:ext uri="{FF2B5EF4-FFF2-40B4-BE49-F238E27FC236}">
                <a16:creationId xmlns:a16="http://schemas.microsoft.com/office/drawing/2014/main" id="{73449AB6-7033-A515-958D-453B17823A28}"/>
              </a:ext>
            </a:extLst>
          </p:cNvPr>
          <p:cNvSpPr txBox="1"/>
          <p:nvPr/>
        </p:nvSpPr>
        <p:spPr>
          <a:xfrm>
            <a:off x="7112000" y="4533900"/>
            <a:ext cx="1143000" cy="177800"/>
          </a:xfrm>
          <a:prstGeom prst="rect">
            <a:avLst/>
          </a:prstGeom>
          <a:noFill/>
        </p:spPr>
        <p:txBody>
          <a:bodyPr vert="horz" wrap="square" lIns="0" tIns="0" rIns="0" bIns="0" rtlCol="0" anchor="t">
            <a:noAutofit/>
          </a:bodyPr>
          <a:lstStyle/>
          <a:p>
            <a:r>
              <a:rPr lang="en-US" sz="1000">
                <a:solidFill>
                  <a:srgbClr val="2F6FB7"/>
                </a:solidFill>
                <a:latin typeface="Consolas" panose="020B0609020204030204" pitchFamily="49" charset="0"/>
              </a:rPr>
              <a:t>REAL</a:t>
            </a:r>
          </a:p>
        </p:txBody>
      </p:sp>
      <p:sp>
        <p:nvSpPr>
          <p:cNvPr id="10" name="txt-105">
            <a:extLst>
              <a:ext uri="{FF2B5EF4-FFF2-40B4-BE49-F238E27FC236}">
                <a16:creationId xmlns:a16="http://schemas.microsoft.com/office/drawing/2014/main" id="{AF81B6A9-633C-CF30-8DBA-65618A206448}"/>
              </a:ext>
            </a:extLst>
          </p:cNvPr>
          <p:cNvSpPr txBox="1"/>
          <p:nvPr/>
        </p:nvSpPr>
        <p:spPr>
          <a:xfrm>
            <a:off x="8255000" y="4584700"/>
            <a:ext cx="3251200" cy="228600"/>
          </a:xfrm>
          <a:prstGeom prst="rect">
            <a:avLst/>
          </a:prstGeom>
          <a:noFill/>
        </p:spPr>
        <p:txBody>
          <a:bodyPr vert="horz" wrap="square" lIns="0" tIns="0" rIns="0" bIns="0" rtlCol="0" anchor="t">
            <a:noAutofit/>
          </a:bodyPr>
          <a:lstStyle/>
          <a:p>
            <a:r>
              <a:rPr lang="en-US" sz="1300">
                <a:solidFill>
                  <a:srgbClr val="3B4A5C"/>
                </a:solidFill>
                <a:latin typeface="Calibri" panose="020F0502020204030204" pitchFamily="34" charset="0"/>
              </a:rPr>
              <a:t>Held-out predictions you supply</a:t>
            </a:r>
          </a:p>
        </p:txBody>
      </p:sp>
      <p:sp>
        <p:nvSpPr>
          <p:cNvPr id="11" name="shape-106">
            <a:extLst>
              <a:ext uri="{FF2B5EF4-FFF2-40B4-BE49-F238E27FC236}">
                <a16:creationId xmlns:a16="http://schemas.microsoft.com/office/drawing/2014/main" id="{FD554F67-C400-4CC8-9D85-8DB02F5CB9BE}"/>
              </a:ext>
            </a:extLst>
          </p:cNvPr>
          <p:cNvSpPr/>
          <p:nvPr/>
        </p:nvSpPr>
        <p:spPr>
          <a:xfrm>
            <a:off x="6959600" y="5029200"/>
            <a:ext cx="4622800" cy="457200"/>
          </a:xfrm>
          <a:prstGeom prst="rect">
            <a:avLst/>
          </a:prstGeom>
          <a:solidFill>
            <a:srgbClr val="FCFAF4"/>
          </a:solidFill>
          <a:ln w="9525">
            <a:solidFill>
              <a:srgbClr val="2A665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xt-107">
            <a:extLst>
              <a:ext uri="{FF2B5EF4-FFF2-40B4-BE49-F238E27FC236}">
                <a16:creationId xmlns:a16="http://schemas.microsoft.com/office/drawing/2014/main" id="{EB8389B6-6304-F9B1-7F07-9E29414EA59B}"/>
              </a:ext>
            </a:extLst>
          </p:cNvPr>
          <p:cNvSpPr txBox="1"/>
          <p:nvPr/>
        </p:nvSpPr>
        <p:spPr>
          <a:xfrm>
            <a:off x="7112000" y="5092700"/>
            <a:ext cx="1143000" cy="1778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rPr>
              <a:t>SIMULATED</a:t>
            </a:r>
          </a:p>
        </p:txBody>
      </p:sp>
      <p:sp>
        <p:nvSpPr>
          <p:cNvPr id="13" name="txt-108">
            <a:extLst>
              <a:ext uri="{FF2B5EF4-FFF2-40B4-BE49-F238E27FC236}">
                <a16:creationId xmlns:a16="http://schemas.microsoft.com/office/drawing/2014/main" id="{F3969193-23CB-4599-D751-73F47473840C}"/>
              </a:ext>
            </a:extLst>
          </p:cNvPr>
          <p:cNvSpPr txBox="1"/>
          <p:nvPr/>
        </p:nvSpPr>
        <p:spPr>
          <a:xfrm>
            <a:off x="8255000" y="5143500"/>
            <a:ext cx="3251200" cy="228600"/>
          </a:xfrm>
          <a:prstGeom prst="rect">
            <a:avLst/>
          </a:prstGeom>
          <a:noFill/>
        </p:spPr>
        <p:txBody>
          <a:bodyPr vert="horz" wrap="square" lIns="0" tIns="0" rIns="0" bIns="0" rtlCol="0" anchor="t">
            <a:noAutofit/>
          </a:bodyPr>
          <a:lstStyle/>
          <a:p>
            <a:r>
              <a:rPr lang="en-US" sz="1300">
                <a:solidFill>
                  <a:srgbClr val="3B4A5C"/>
                </a:solidFill>
                <a:latin typeface="Calibri" panose="020F0502020204030204" pitchFamily="34" charset="0"/>
              </a:rPr>
              <a:t>Educational, synthetic, stamped</a:t>
            </a:r>
          </a:p>
        </p:txBody>
      </p:sp>
      <p:sp>
        <p:nvSpPr>
          <p:cNvPr id="14" name="shape-109">
            <a:extLst>
              <a:ext uri="{FF2B5EF4-FFF2-40B4-BE49-F238E27FC236}">
                <a16:creationId xmlns:a16="http://schemas.microsoft.com/office/drawing/2014/main" id="{F9256CDD-4086-2A77-F40A-B645577C41D9}"/>
              </a:ext>
            </a:extLst>
          </p:cNvPr>
          <p:cNvSpPr/>
          <p:nvPr/>
        </p:nvSpPr>
        <p:spPr>
          <a:xfrm>
            <a:off x="6959600" y="5588000"/>
            <a:ext cx="4622800" cy="457200"/>
          </a:xfrm>
          <a:prstGeom prst="rect">
            <a:avLst/>
          </a:prstGeom>
          <a:solidFill>
            <a:srgbClr val="FCFAF4"/>
          </a:solidFill>
          <a:ln w="9525">
            <a:solidFill>
              <a:srgbClr val="8F661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xt-110">
            <a:extLst>
              <a:ext uri="{FF2B5EF4-FFF2-40B4-BE49-F238E27FC236}">
                <a16:creationId xmlns:a16="http://schemas.microsoft.com/office/drawing/2014/main" id="{CA4C4755-C957-74F3-7C03-86286A2FDBD6}"/>
              </a:ext>
            </a:extLst>
          </p:cNvPr>
          <p:cNvSpPr txBox="1"/>
          <p:nvPr/>
        </p:nvSpPr>
        <p:spPr>
          <a:xfrm>
            <a:off x="7112000" y="5651500"/>
            <a:ext cx="1143000" cy="177800"/>
          </a:xfrm>
          <a:prstGeom prst="rect">
            <a:avLst/>
          </a:prstGeom>
          <a:noFill/>
        </p:spPr>
        <p:txBody>
          <a:bodyPr vert="horz" wrap="square" lIns="0" tIns="0" rIns="0" bIns="0" rtlCol="0" anchor="t">
            <a:noAutofit/>
          </a:bodyPr>
          <a:lstStyle/>
          <a:p>
            <a:r>
              <a:rPr lang="en-US" sz="1000">
                <a:solidFill>
                  <a:srgbClr val="8F6614"/>
                </a:solidFill>
                <a:latin typeface="Consolas" panose="020B0609020204030204" pitchFamily="49" charset="0"/>
              </a:rPr>
              <a:t>LEARNER</a:t>
            </a:r>
          </a:p>
        </p:txBody>
      </p:sp>
      <p:sp>
        <p:nvSpPr>
          <p:cNvPr id="16" name="txt-111">
            <a:extLst>
              <a:ext uri="{FF2B5EF4-FFF2-40B4-BE49-F238E27FC236}">
                <a16:creationId xmlns:a16="http://schemas.microsoft.com/office/drawing/2014/main" id="{7FBDF981-F9F4-1816-7F70-6A4691E19051}"/>
              </a:ext>
            </a:extLst>
          </p:cNvPr>
          <p:cNvSpPr txBox="1"/>
          <p:nvPr/>
        </p:nvSpPr>
        <p:spPr>
          <a:xfrm>
            <a:off x="8255000" y="5702300"/>
            <a:ext cx="3251200" cy="228600"/>
          </a:xfrm>
          <a:prstGeom prst="rect">
            <a:avLst/>
          </a:prstGeom>
          <a:noFill/>
        </p:spPr>
        <p:txBody>
          <a:bodyPr vert="horz" wrap="square" lIns="0" tIns="0" rIns="0" bIns="0" rtlCol="0" anchor="t">
            <a:noAutofit/>
          </a:bodyPr>
          <a:lstStyle/>
          <a:p>
            <a:r>
              <a:rPr lang="en-US" sz="1300">
                <a:solidFill>
                  <a:srgbClr val="3B4A5C"/>
                </a:solidFill>
                <a:latin typeface="Calibri" panose="020F0502020204030204" pitchFamily="34" charset="0"/>
              </a:rPr>
              <a:t>Your duel record, educational</a:t>
            </a:r>
          </a:p>
        </p:txBody>
      </p:sp>
      <p:sp>
        <p:nvSpPr>
          <p:cNvPr id="17" name="txt-112">
            <a:extLst>
              <a:ext uri="{FF2B5EF4-FFF2-40B4-BE49-F238E27FC236}">
                <a16:creationId xmlns:a16="http://schemas.microsoft.com/office/drawing/2014/main" id="{D680B21F-9AD5-F425-6455-83231E6FE4B1}"/>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18" name="txt-113">
            <a:extLst>
              <a:ext uri="{FF2B5EF4-FFF2-40B4-BE49-F238E27FC236}">
                <a16:creationId xmlns:a16="http://schemas.microsoft.com/office/drawing/2014/main" id="{0A90F5A4-3A43-DA7F-526C-BBF53239E530}"/>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07</a:t>
            </a:r>
          </a:p>
        </p:txBody>
      </p:sp>
    </p:spTree>
    <p:extLst>
      <p:ext uri="{BB962C8B-B14F-4D97-AF65-F5344CB8AC3E}">
        <p14:creationId xmlns:p14="http://schemas.microsoft.com/office/powerpoint/2010/main" val="3898034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114">
            <a:extLst>
              <a:ext uri="{FF2B5EF4-FFF2-40B4-BE49-F238E27FC236}">
                <a16:creationId xmlns:a16="http://schemas.microsoft.com/office/drawing/2014/main" id="{302B7198-6BD9-EF3C-A310-73AACD71A036}"/>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07 · FALSE NEGATIVES AND DIAGNOSTIC UNCERTAINTY</a:t>
            </a:r>
          </a:p>
        </p:txBody>
      </p:sp>
      <p:sp>
        <p:nvSpPr>
          <p:cNvPr id="3" name="txt-115">
            <a:extLst>
              <a:ext uri="{FF2B5EF4-FFF2-40B4-BE49-F238E27FC236}">
                <a16:creationId xmlns:a16="http://schemas.microsoft.com/office/drawing/2014/main" id="{5DA49D6F-6D95-5145-C08A-B243028C4CB0}"/>
              </a:ext>
            </a:extLst>
          </p:cNvPr>
          <p:cNvSpPr txBox="1"/>
          <p:nvPr/>
        </p:nvSpPr>
        <p:spPr>
          <a:xfrm>
            <a:off x="609600" y="736600"/>
            <a:ext cx="6604000" cy="1066800"/>
          </a:xfrm>
          <a:prstGeom prst="rect">
            <a:avLst/>
          </a:prstGeom>
          <a:noFill/>
        </p:spPr>
        <p:txBody>
          <a:bodyPr vert="horz" wrap="square" lIns="0" tIns="0" rIns="0" bIns="0" rtlCol="0" anchor="t">
            <a:noAutofit/>
          </a:bodyPr>
          <a:lstStyle/>
          <a:p>
            <a:pPr>
              <a:lnSpc>
                <a:spcPct val="95000"/>
              </a:lnSpc>
            </a:pPr>
            <a:r>
              <a:rPr lang="en-US" sz="3200">
                <a:solidFill>
                  <a:srgbClr val="0A1A2C"/>
                </a:solidFill>
                <a:latin typeface="Georgia" panose="02040502050405020303" pitchFamily="18" charset="0"/>
              </a:rPr>
              <a:t>The costly error is the quiet one.</a:t>
            </a:r>
          </a:p>
        </p:txBody>
      </p:sp>
      <p:pic>
        <p:nvPicPr>
          <p:cNvPr id="5" name="pic-116" descr="Screenshot of the duel outcome panel explaining a false negative: the costly error in screening, with details from the reference lesion list and an educational record.">
            <a:extLst>
              <a:ext uri="{FF2B5EF4-FFF2-40B4-BE49-F238E27FC236}">
                <a16:creationId xmlns:a16="http://schemas.microsoft.com/office/drawing/2014/main" id="{9DC94CC1-07DE-71D4-9133-DE963860B6D5}"/>
              </a:ext>
            </a:extLst>
          </p:cNvPr>
          <p:cNvPicPr>
            <a:picLocks/>
          </p:cNvPicPr>
          <p:nvPr/>
        </p:nvPicPr>
        <p:blipFill>
          <a:blip r:embed="rId3">
            <a:extLst>
              <a:ext uri="{28A0092B-C50C-407E-A947-70E740481C1C}">
                <a14:useLocalDpi xmlns:a14="http://schemas.microsoft.com/office/drawing/2010/main" val="0"/>
              </a:ext>
            </a:extLst>
          </a:blip>
          <a:srcRect l="69000" t="9999" b="50000"/>
          <a:stretch>
            <a:fillRect/>
          </a:stretch>
        </p:blipFill>
        <p:spPr>
          <a:xfrm>
            <a:off x="609600" y="1727200"/>
            <a:ext cx="4094480" cy="3302000"/>
          </a:xfrm>
          <a:prstGeom prst="rect">
            <a:avLst/>
          </a:prstGeom>
          <a:ln w="9525">
            <a:solidFill>
              <a:srgbClr val="CFC6B3"/>
            </a:solidFill>
          </a:ln>
        </p:spPr>
      </p:pic>
      <p:sp>
        <p:nvSpPr>
          <p:cNvPr id="6" name="txt-117">
            <a:extLst>
              <a:ext uri="{FF2B5EF4-FFF2-40B4-BE49-F238E27FC236}">
                <a16:creationId xmlns:a16="http://schemas.microsoft.com/office/drawing/2014/main" id="{7D26BE5E-8F44-645C-2416-53006E494418}"/>
              </a:ext>
            </a:extLst>
          </p:cNvPr>
          <p:cNvSpPr txBox="1"/>
          <p:nvPr/>
        </p:nvSpPr>
        <p:spPr>
          <a:xfrm>
            <a:off x="609600" y="5080000"/>
            <a:ext cx="41910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duel outcome after a false negative</a:t>
            </a:r>
          </a:p>
        </p:txBody>
      </p:sp>
      <p:pic>
        <p:nvPicPr>
          <p:cNvPr id="8" name="pic-118" descr="Screenshot of the Reliability Stress Test with the transformed image heavily blurred, quality gauges flagging sharpness as insufficient, and a no-result verdict.">
            <a:extLst>
              <a:ext uri="{FF2B5EF4-FFF2-40B4-BE49-F238E27FC236}">
                <a16:creationId xmlns:a16="http://schemas.microsoft.com/office/drawing/2014/main" id="{62045FEB-A961-BDF2-73A3-0605B51BD72C}"/>
              </a:ext>
            </a:extLst>
          </p:cNvPr>
          <p:cNvPicPr>
            <a:picLocks/>
          </p:cNvPicPr>
          <p:nvPr/>
        </p:nvPicPr>
        <p:blipFill>
          <a:blip r:embed="rId4">
            <a:extLst>
              <a:ext uri="{28A0092B-C50C-407E-A947-70E740481C1C}">
                <a14:useLocalDpi xmlns:a14="http://schemas.microsoft.com/office/drawing/2010/main" val="0"/>
              </a:ext>
            </a:extLst>
          </a:blip>
          <a:srcRect t="21500" b="2000"/>
          <a:stretch>
            <a:fillRect/>
          </a:stretch>
        </p:blipFill>
        <p:spPr>
          <a:xfrm>
            <a:off x="5080000" y="1600200"/>
            <a:ext cx="5898616" cy="4089400"/>
          </a:xfrm>
          <a:prstGeom prst="rect">
            <a:avLst/>
          </a:prstGeom>
          <a:ln w="9525">
            <a:solidFill>
              <a:srgbClr val="CFC6B3"/>
            </a:solidFill>
          </a:ln>
        </p:spPr>
      </p:pic>
      <p:sp>
        <p:nvSpPr>
          <p:cNvPr id="9" name="txt-119">
            <a:extLst>
              <a:ext uri="{FF2B5EF4-FFF2-40B4-BE49-F238E27FC236}">
                <a16:creationId xmlns:a16="http://schemas.microsoft.com/office/drawing/2014/main" id="{BA78C09D-0B9E-C84D-08B0-5AAF647A7DDF}"/>
              </a:ext>
            </a:extLst>
          </p:cNvPr>
          <p:cNvSpPr txBox="1"/>
          <p:nvPr/>
        </p:nvSpPr>
        <p:spPr>
          <a:xfrm>
            <a:off x="5080000" y="5715000"/>
            <a:ext cx="65024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blur σ = 14: measured quality “insufficient” → no result, no confidence value</a:t>
            </a:r>
          </a:p>
        </p:txBody>
      </p:sp>
      <p:sp>
        <p:nvSpPr>
          <p:cNvPr id="10" name="txt-120">
            <a:extLst>
              <a:ext uri="{FF2B5EF4-FFF2-40B4-BE49-F238E27FC236}">
                <a16:creationId xmlns:a16="http://schemas.microsoft.com/office/drawing/2014/main" id="{54E8CEC4-BC62-651A-605C-F13E768F56EC}"/>
              </a:ext>
            </a:extLst>
          </p:cNvPr>
          <p:cNvSpPr txBox="1"/>
          <p:nvPr/>
        </p:nvSpPr>
        <p:spPr>
          <a:xfrm>
            <a:off x="609600" y="5537200"/>
            <a:ext cx="4318000" cy="838200"/>
          </a:xfrm>
          <a:prstGeom prst="rect">
            <a:avLst/>
          </a:prstGeom>
          <a:noFill/>
        </p:spPr>
        <p:txBody>
          <a:bodyPr vert="horz" wrap="square" lIns="0" tIns="0" rIns="0" bIns="0" rtlCol="0" anchor="t">
            <a:noAutofit/>
          </a:bodyPr>
          <a:lstStyle/>
          <a:p>
            <a:r>
              <a:rPr lang="en-US" sz="1400" b="1">
                <a:solidFill>
                  <a:srgbClr val="3B4A5C"/>
                </a:solidFill>
                <a:latin typeface="Calibri" panose="020F0502020204030204" pitchFamily="34" charset="0"/>
              </a:rPr>
              <a:t>Uncertainty is shown, not hidden: </a:t>
            </a:r>
            <a:r>
              <a:rPr lang="en-US" sz="1400">
                <a:solidFill>
                  <a:srgbClr val="3B4A5C"/>
                </a:solidFill>
                <a:latin typeface="Calibri" panose="020F0502020204030204" pitchFamily="34" charset="0"/>
              </a:rPr>
              <a:t>measured quality, a no-result pathway, and a register of what limits confidence.</a:t>
            </a:r>
          </a:p>
        </p:txBody>
      </p:sp>
      <p:sp>
        <p:nvSpPr>
          <p:cNvPr id="11" name="txt-121">
            <a:extLst>
              <a:ext uri="{FF2B5EF4-FFF2-40B4-BE49-F238E27FC236}">
                <a16:creationId xmlns:a16="http://schemas.microsoft.com/office/drawing/2014/main" id="{79944645-B177-EA07-2E68-84D5C0A30BFE}"/>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12" name="txt-122">
            <a:extLst>
              <a:ext uri="{FF2B5EF4-FFF2-40B4-BE49-F238E27FC236}">
                <a16:creationId xmlns:a16="http://schemas.microsoft.com/office/drawing/2014/main" id="{65E4CDA2-03DC-D405-6458-93F3B5C1150D}"/>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08</a:t>
            </a:r>
          </a:p>
        </p:txBody>
      </p:sp>
    </p:spTree>
    <p:extLst>
      <p:ext uri="{BB962C8B-B14F-4D97-AF65-F5344CB8AC3E}">
        <p14:creationId xmlns:p14="http://schemas.microsoft.com/office/powerpoint/2010/main" val="4161230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123">
            <a:extLst>
              <a:ext uri="{FF2B5EF4-FFF2-40B4-BE49-F238E27FC236}">
                <a16:creationId xmlns:a16="http://schemas.microsoft.com/office/drawing/2014/main" id="{4F8E188E-FC0C-09FF-E351-2A11C7558CBA}"/>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08 · ACTUAL RESEARCH-MODEL EVALUATION</a:t>
            </a:r>
          </a:p>
        </p:txBody>
      </p:sp>
      <p:sp>
        <p:nvSpPr>
          <p:cNvPr id="3" name="txt-124">
            <a:extLst>
              <a:ext uri="{FF2B5EF4-FFF2-40B4-BE49-F238E27FC236}">
                <a16:creationId xmlns:a16="http://schemas.microsoft.com/office/drawing/2014/main" id="{F81148B3-1080-BDB8-22DA-08A4DB366D96}"/>
              </a:ext>
            </a:extLst>
          </p:cNvPr>
          <p:cNvSpPr txBox="1"/>
          <p:nvPr/>
        </p:nvSpPr>
        <p:spPr>
          <a:xfrm>
            <a:off x="609600" y="736600"/>
            <a:ext cx="10972800" cy="1066800"/>
          </a:xfrm>
          <a:prstGeom prst="rect">
            <a:avLst/>
          </a:prstGeom>
          <a:noFill/>
        </p:spPr>
        <p:txBody>
          <a:bodyPr vert="horz" wrap="square" lIns="0" tIns="0" rIns="0" bIns="0" rtlCol="0" anchor="t">
            <a:noAutofit/>
          </a:bodyPr>
          <a:lstStyle/>
          <a:p>
            <a:pPr>
              <a:lnSpc>
                <a:spcPct val="95000"/>
              </a:lnSpc>
            </a:pPr>
            <a:r>
              <a:rPr lang="en-US" sz="3000">
                <a:solidFill>
                  <a:srgbClr val="0A1A2C"/>
                </a:solidFill>
                <a:latin typeface="Georgia" panose="02040502050405020303" pitchFamily="18" charset="0"/>
              </a:rPr>
              <a:t>No model has been evaluated — and the app says so.</a:t>
            </a:r>
          </a:p>
        </p:txBody>
      </p:sp>
      <p:cxnSp>
        <p:nvCxnSpPr>
          <p:cNvPr id="4" name="rule-125">
            <a:extLst>
              <a:ext uri="{FF2B5EF4-FFF2-40B4-BE49-F238E27FC236}">
                <a16:creationId xmlns:a16="http://schemas.microsoft.com/office/drawing/2014/main" id="{44586BF1-9636-9AD9-A33B-80B99C0FD519}"/>
              </a:ext>
            </a:extLst>
          </p:cNvPr>
          <p:cNvCxnSpPr/>
          <p:nvPr/>
        </p:nvCxnSpPr>
        <p:spPr>
          <a:xfrm>
            <a:off x="609600" y="2032000"/>
            <a:ext cx="59944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5" name="txt-126">
            <a:extLst>
              <a:ext uri="{FF2B5EF4-FFF2-40B4-BE49-F238E27FC236}">
                <a16:creationId xmlns:a16="http://schemas.microsoft.com/office/drawing/2014/main" id="{0F9A12CB-22B6-60AB-E0CC-A47CE2112E97}"/>
              </a:ext>
            </a:extLst>
          </p:cNvPr>
          <p:cNvSpPr txBox="1"/>
          <p:nvPr/>
        </p:nvSpPr>
        <p:spPr>
          <a:xfrm>
            <a:off x="609600" y="2120900"/>
            <a:ext cx="3429000" cy="2286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1. Task defined (referable DR)</a:t>
            </a:r>
          </a:p>
        </p:txBody>
      </p:sp>
      <p:sp>
        <p:nvSpPr>
          <p:cNvPr id="6" name="txt-127">
            <a:extLst>
              <a:ext uri="{FF2B5EF4-FFF2-40B4-BE49-F238E27FC236}">
                <a16:creationId xmlns:a16="http://schemas.microsoft.com/office/drawing/2014/main" id="{7B87B29D-0EBA-78AE-2CEB-62305F3DE9A1}"/>
              </a:ext>
            </a:extLst>
          </p:cNvPr>
          <p:cNvSpPr txBox="1"/>
          <p:nvPr/>
        </p:nvSpPr>
        <p:spPr>
          <a:xfrm>
            <a:off x="4191000" y="2133600"/>
            <a:ext cx="2413000" cy="203200"/>
          </a:xfrm>
          <a:prstGeom prst="rect">
            <a:avLst/>
          </a:prstGeom>
          <a:noFill/>
        </p:spPr>
        <p:txBody>
          <a:bodyPr vert="horz" wrap="square" lIns="0" tIns="0" rIns="0" bIns="0" rtlCol="0" anchor="t">
            <a:noAutofit/>
          </a:bodyPr>
          <a:lstStyle/>
          <a:p>
            <a:r>
              <a:rPr lang="en-US" sz="1000">
                <a:solidFill>
                  <a:srgbClr val="2A665F"/>
                </a:solidFill>
                <a:latin typeface="Consolas" panose="020B0609020204030204" pitchFamily="49" charset="0"/>
              </a:rPr>
              <a:t>DONE</a:t>
            </a:r>
          </a:p>
        </p:txBody>
      </p:sp>
      <p:cxnSp>
        <p:nvCxnSpPr>
          <p:cNvPr id="7" name="rule-128">
            <a:extLst>
              <a:ext uri="{FF2B5EF4-FFF2-40B4-BE49-F238E27FC236}">
                <a16:creationId xmlns:a16="http://schemas.microsoft.com/office/drawing/2014/main" id="{343EF49A-0D15-FA06-8774-DC87AACDACED}"/>
              </a:ext>
            </a:extLst>
          </p:cNvPr>
          <p:cNvCxnSpPr/>
          <p:nvPr/>
        </p:nvCxnSpPr>
        <p:spPr>
          <a:xfrm>
            <a:off x="609600" y="2425700"/>
            <a:ext cx="59944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8" name="txt-129">
            <a:extLst>
              <a:ext uri="{FF2B5EF4-FFF2-40B4-BE49-F238E27FC236}">
                <a16:creationId xmlns:a16="http://schemas.microsoft.com/office/drawing/2014/main" id="{959C0297-2823-C221-CA06-0D313E4BA41D}"/>
              </a:ext>
            </a:extLst>
          </p:cNvPr>
          <p:cNvSpPr txBox="1"/>
          <p:nvPr/>
        </p:nvSpPr>
        <p:spPr>
          <a:xfrm>
            <a:off x="609600" y="2514600"/>
            <a:ext cx="3429000" cy="2286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2. Dataset acquired, licence verified</a:t>
            </a:r>
          </a:p>
        </p:txBody>
      </p:sp>
      <p:sp>
        <p:nvSpPr>
          <p:cNvPr id="9" name="txt-130">
            <a:extLst>
              <a:ext uri="{FF2B5EF4-FFF2-40B4-BE49-F238E27FC236}">
                <a16:creationId xmlns:a16="http://schemas.microsoft.com/office/drawing/2014/main" id="{B55C260C-999D-51A6-16D5-8CEC3977DA07}"/>
              </a:ext>
            </a:extLst>
          </p:cNvPr>
          <p:cNvSpPr txBox="1"/>
          <p:nvPr/>
        </p:nvSpPr>
        <p:spPr>
          <a:xfrm>
            <a:off x="4191000" y="2527300"/>
            <a:ext cx="2413000" cy="203200"/>
          </a:xfrm>
          <a:prstGeom prst="rect">
            <a:avLst/>
          </a:prstGeom>
          <a:noFill/>
        </p:spPr>
        <p:txBody>
          <a:bodyPr vert="horz" wrap="square" lIns="0" tIns="0" rIns="0" bIns="0" rtlCol="0" anchor="t">
            <a:noAutofit/>
          </a:bodyPr>
          <a:lstStyle/>
          <a:p>
            <a:r>
              <a:rPr lang="en-US" sz="1000">
                <a:solidFill>
                  <a:srgbClr val="A94632"/>
                </a:solidFill>
                <a:latin typeface="Consolas" panose="020B0609020204030204" pitchFamily="49" charset="0"/>
              </a:rPr>
              <a:t>NOT DONE</a:t>
            </a:r>
          </a:p>
        </p:txBody>
      </p:sp>
      <p:cxnSp>
        <p:nvCxnSpPr>
          <p:cNvPr id="10" name="rule-131">
            <a:extLst>
              <a:ext uri="{FF2B5EF4-FFF2-40B4-BE49-F238E27FC236}">
                <a16:creationId xmlns:a16="http://schemas.microsoft.com/office/drawing/2014/main" id="{C76EB21A-242B-CFF0-AB62-DF4ADA0F73CC}"/>
              </a:ext>
            </a:extLst>
          </p:cNvPr>
          <p:cNvCxnSpPr/>
          <p:nvPr/>
        </p:nvCxnSpPr>
        <p:spPr>
          <a:xfrm>
            <a:off x="609600" y="2819400"/>
            <a:ext cx="59944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11" name="txt-132">
            <a:extLst>
              <a:ext uri="{FF2B5EF4-FFF2-40B4-BE49-F238E27FC236}">
                <a16:creationId xmlns:a16="http://schemas.microsoft.com/office/drawing/2014/main" id="{5D855134-9448-52BC-FD83-1C567D3C4B74}"/>
              </a:ext>
            </a:extLst>
          </p:cNvPr>
          <p:cNvSpPr txBox="1"/>
          <p:nvPr/>
        </p:nvSpPr>
        <p:spPr>
          <a:xfrm>
            <a:off x="609600" y="2908300"/>
            <a:ext cx="3429000" cy="2286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3. Patient-level split manifest</a:t>
            </a:r>
          </a:p>
        </p:txBody>
      </p:sp>
      <p:sp>
        <p:nvSpPr>
          <p:cNvPr id="12" name="txt-133">
            <a:extLst>
              <a:ext uri="{FF2B5EF4-FFF2-40B4-BE49-F238E27FC236}">
                <a16:creationId xmlns:a16="http://schemas.microsoft.com/office/drawing/2014/main" id="{D2B00AB0-7CB8-D8F3-81CA-2A94273ECAAE}"/>
              </a:ext>
            </a:extLst>
          </p:cNvPr>
          <p:cNvSpPr txBox="1"/>
          <p:nvPr/>
        </p:nvSpPr>
        <p:spPr>
          <a:xfrm>
            <a:off x="4191000" y="2921000"/>
            <a:ext cx="2413000" cy="203200"/>
          </a:xfrm>
          <a:prstGeom prst="rect">
            <a:avLst/>
          </a:prstGeom>
          <a:noFill/>
        </p:spPr>
        <p:txBody>
          <a:bodyPr vert="horz" wrap="square" lIns="0" tIns="0" rIns="0" bIns="0" rtlCol="0" anchor="t">
            <a:noAutofit/>
          </a:bodyPr>
          <a:lstStyle/>
          <a:p>
            <a:r>
              <a:rPr lang="en-US" sz="1000">
                <a:solidFill>
                  <a:srgbClr val="A94632"/>
                </a:solidFill>
                <a:latin typeface="Consolas" panose="020B0609020204030204" pitchFamily="49" charset="0"/>
              </a:rPr>
              <a:t>NOT DONE</a:t>
            </a:r>
          </a:p>
        </p:txBody>
      </p:sp>
      <p:cxnSp>
        <p:nvCxnSpPr>
          <p:cNvPr id="13" name="rule-134">
            <a:extLst>
              <a:ext uri="{FF2B5EF4-FFF2-40B4-BE49-F238E27FC236}">
                <a16:creationId xmlns:a16="http://schemas.microsoft.com/office/drawing/2014/main" id="{401624B6-4CE0-BA47-C9FE-BF260E180780}"/>
              </a:ext>
            </a:extLst>
          </p:cNvPr>
          <p:cNvCxnSpPr/>
          <p:nvPr/>
        </p:nvCxnSpPr>
        <p:spPr>
          <a:xfrm>
            <a:off x="609600" y="3213100"/>
            <a:ext cx="59944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14" name="txt-135">
            <a:extLst>
              <a:ext uri="{FF2B5EF4-FFF2-40B4-BE49-F238E27FC236}">
                <a16:creationId xmlns:a16="http://schemas.microsoft.com/office/drawing/2014/main" id="{A5D01F45-06CC-ACD6-0235-3B46DF4A983A}"/>
              </a:ext>
            </a:extLst>
          </p:cNvPr>
          <p:cNvSpPr txBox="1"/>
          <p:nvPr/>
        </p:nvSpPr>
        <p:spPr>
          <a:xfrm>
            <a:off x="609600" y="3302000"/>
            <a:ext cx="3429000" cy="2286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4. Preprocessing documented</a:t>
            </a:r>
          </a:p>
        </p:txBody>
      </p:sp>
      <p:sp>
        <p:nvSpPr>
          <p:cNvPr id="15" name="txt-136">
            <a:extLst>
              <a:ext uri="{FF2B5EF4-FFF2-40B4-BE49-F238E27FC236}">
                <a16:creationId xmlns:a16="http://schemas.microsoft.com/office/drawing/2014/main" id="{7D6C9BD4-34BA-20F7-AE95-B0FEC60F5965}"/>
              </a:ext>
            </a:extLst>
          </p:cNvPr>
          <p:cNvSpPr txBox="1"/>
          <p:nvPr/>
        </p:nvSpPr>
        <p:spPr>
          <a:xfrm>
            <a:off x="4191000" y="3314700"/>
            <a:ext cx="2413000" cy="203200"/>
          </a:xfrm>
          <a:prstGeom prst="rect">
            <a:avLst/>
          </a:prstGeom>
          <a:noFill/>
        </p:spPr>
        <p:txBody>
          <a:bodyPr vert="horz" wrap="square" lIns="0" tIns="0" rIns="0" bIns="0" rtlCol="0" anchor="t">
            <a:noAutofit/>
          </a:bodyPr>
          <a:lstStyle/>
          <a:p>
            <a:r>
              <a:rPr lang="en-US" sz="1000">
                <a:solidFill>
                  <a:srgbClr val="8F6614"/>
                </a:solidFill>
                <a:latin typeface="Consolas" panose="020B0609020204030204" pitchFamily="49" charset="0"/>
              </a:rPr>
              <a:t>SPECIFIED ONLY</a:t>
            </a:r>
          </a:p>
        </p:txBody>
      </p:sp>
      <p:cxnSp>
        <p:nvCxnSpPr>
          <p:cNvPr id="16" name="rule-137">
            <a:extLst>
              <a:ext uri="{FF2B5EF4-FFF2-40B4-BE49-F238E27FC236}">
                <a16:creationId xmlns:a16="http://schemas.microsoft.com/office/drawing/2014/main" id="{1CE8202B-85E0-137C-3BC0-4362687F7E45}"/>
              </a:ext>
            </a:extLst>
          </p:cNvPr>
          <p:cNvCxnSpPr/>
          <p:nvPr/>
        </p:nvCxnSpPr>
        <p:spPr>
          <a:xfrm>
            <a:off x="609600" y="3606800"/>
            <a:ext cx="59944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17" name="txt-138">
            <a:extLst>
              <a:ext uri="{FF2B5EF4-FFF2-40B4-BE49-F238E27FC236}">
                <a16:creationId xmlns:a16="http://schemas.microsoft.com/office/drawing/2014/main" id="{C8CBC133-76F0-6D99-5939-BA32FCF00B67}"/>
              </a:ext>
            </a:extLst>
          </p:cNvPr>
          <p:cNvSpPr txBox="1"/>
          <p:nvPr/>
        </p:nvSpPr>
        <p:spPr>
          <a:xfrm>
            <a:off x="609600" y="3695700"/>
            <a:ext cx="3429000" cy="2286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5. Model trained (transfer learning)</a:t>
            </a:r>
          </a:p>
        </p:txBody>
      </p:sp>
      <p:sp>
        <p:nvSpPr>
          <p:cNvPr id="18" name="txt-139">
            <a:extLst>
              <a:ext uri="{FF2B5EF4-FFF2-40B4-BE49-F238E27FC236}">
                <a16:creationId xmlns:a16="http://schemas.microsoft.com/office/drawing/2014/main" id="{266CD333-5E53-836F-54A4-6D2A5AD83087}"/>
              </a:ext>
            </a:extLst>
          </p:cNvPr>
          <p:cNvSpPr txBox="1"/>
          <p:nvPr/>
        </p:nvSpPr>
        <p:spPr>
          <a:xfrm>
            <a:off x="4191000" y="3708400"/>
            <a:ext cx="2413000" cy="203200"/>
          </a:xfrm>
          <a:prstGeom prst="rect">
            <a:avLst/>
          </a:prstGeom>
          <a:noFill/>
        </p:spPr>
        <p:txBody>
          <a:bodyPr vert="horz" wrap="square" lIns="0" tIns="0" rIns="0" bIns="0" rtlCol="0" anchor="t">
            <a:noAutofit/>
          </a:bodyPr>
          <a:lstStyle/>
          <a:p>
            <a:r>
              <a:rPr lang="en-US" sz="1000">
                <a:solidFill>
                  <a:srgbClr val="A94632"/>
                </a:solidFill>
                <a:latin typeface="Consolas" panose="020B0609020204030204" pitchFamily="49" charset="0"/>
              </a:rPr>
              <a:t>NOT DONE</a:t>
            </a:r>
          </a:p>
        </p:txBody>
      </p:sp>
      <p:cxnSp>
        <p:nvCxnSpPr>
          <p:cNvPr id="19" name="rule-140">
            <a:extLst>
              <a:ext uri="{FF2B5EF4-FFF2-40B4-BE49-F238E27FC236}">
                <a16:creationId xmlns:a16="http://schemas.microsoft.com/office/drawing/2014/main" id="{F498EA44-B2DE-EC92-BD2D-CC610BDCC777}"/>
              </a:ext>
            </a:extLst>
          </p:cNvPr>
          <p:cNvCxnSpPr/>
          <p:nvPr/>
        </p:nvCxnSpPr>
        <p:spPr>
          <a:xfrm>
            <a:off x="609600" y="4000500"/>
            <a:ext cx="59944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20" name="txt-141">
            <a:extLst>
              <a:ext uri="{FF2B5EF4-FFF2-40B4-BE49-F238E27FC236}">
                <a16:creationId xmlns:a16="http://schemas.microsoft.com/office/drawing/2014/main" id="{CF02D664-334A-5BED-F1EE-558BD2A22861}"/>
              </a:ext>
            </a:extLst>
          </p:cNvPr>
          <p:cNvSpPr txBox="1"/>
          <p:nvPr/>
        </p:nvSpPr>
        <p:spPr>
          <a:xfrm>
            <a:off x="609600" y="4089400"/>
            <a:ext cx="3429000" cy="2286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6. Threshold fixed on validation only</a:t>
            </a:r>
          </a:p>
        </p:txBody>
      </p:sp>
      <p:sp>
        <p:nvSpPr>
          <p:cNvPr id="21" name="txt-142">
            <a:extLst>
              <a:ext uri="{FF2B5EF4-FFF2-40B4-BE49-F238E27FC236}">
                <a16:creationId xmlns:a16="http://schemas.microsoft.com/office/drawing/2014/main" id="{BD6FCB93-20C3-4D9B-F37B-2046AD21F603}"/>
              </a:ext>
            </a:extLst>
          </p:cNvPr>
          <p:cNvSpPr txBox="1"/>
          <p:nvPr/>
        </p:nvSpPr>
        <p:spPr>
          <a:xfrm>
            <a:off x="4191000" y="4102100"/>
            <a:ext cx="2413000" cy="203200"/>
          </a:xfrm>
          <a:prstGeom prst="rect">
            <a:avLst/>
          </a:prstGeom>
          <a:noFill/>
        </p:spPr>
        <p:txBody>
          <a:bodyPr vert="horz" wrap="square" lIns="0" tIns="0" rIns="0" bIns="0" rtlCol="0" anchor="t">
            <a:noAutofit/>
          </a:bodyPr>
          <a:lstStyle/>
          <a:p>
            <a:r>
              <a:rPr lang="en-US" sz="1000">
                <a:solidFill>
                  <a:srgbClr val="8F6614"/>
                </a:solidFill>
                <a:latin typeface="Consolas" panose="020B0609020204030204" pitchFamily="49" charset="0"/>
              </a:rPr>
              <a:t>SPECIFIED · ENGINE BUILT</a:t>
            </a:r>
          </a:p>
        </p:txBody>
      </p:sp>
      <p:cxnSp>
        <p:nvCxnSpPr>
          <p:cNvPr id="22" name="rule-143">
            <a:extLst>
              <a:ext uri="{FF2B5EF4-FFF2-40B4-BE49-F238E27FC236}">
                <a16:creationId xmlns:a16="http://schemas.microsoft.com/office/drawing/2014/main" id="{4E6BA2CE-2F37-3422-3BF9-349FC0F49D8B}"/>
              </a:ext>
            </a:extLst>
          </p:cNvPr>
          <p:cNvCxnSpPr/>
          <p:nvPr/>
        </p:nvCxnSpPr>
        <p:spPr>
          <a:xfrm>
            <a:off x="609600" y="4394200"/>
            <a:ext cx="59944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23" name="txt-144">
            <a:extLst>
              <a:ext uri="{FF2B5EF4-FFF2-40B4-BE49-F238E27FC236}">
                <a16:creationId xmlns:a16="http://schemas.microsoft.com/office/drawing/2014/main" id="{6EBDC6B2-2A09-38E5-3C61-63EAC369129B}"/>
              </a:ext>
            </a:extLst>
          </p:cNvPr>
          <p:cNvSpPr txBox="1"/>
          <p:nvPr/>
        </p:nvSpPr>
        <p:spPr>
          <a:xfrm>
            <a:off x="609600" y="4483100"/>
            <a:ext cx="3429000" cy="2286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7. Test partition evaluated once</a:t>
            </a:r>
          </a:p>
        </p:txBody>
      </p:sp>
      <p:sp>
        <p:nvSpPr>
          <p:cNvPr id="24" name="txt-145">
            <a:extLst>
              <a:ext uri="{FF2B5EF4-FFF2-40B4-BE49-F238E27FC236}">
                <a16:creationId xmlns:a16="http://schemas.microsoft.com/office/drawing/2014/main" id="{D6199317-681C-5D15-1BE7-DF5308978426}"/>
              </a:ext>
            </a:extLst>
          </p:cNvPr>
          <p:cNvSpPr txBox="1"/>
          <p:nvPr/>
        </p:nvSpPr>
        <p:spPr>
          <a:xfrm>
            <a:off x="4191000" y="4495800"/>
            <a:ext cx="2413000" cy="203200"/>
          </a:xfrm>
          <a:prstGeom prst="rect">
            <a:avLst/>
          </a:prstGeom>
          <a:noFill/>
        </p:spPr>
        <p:txBody>
          <a:bodyPr vert="horz" wrap="square" lIns="0" tIns="0" rIns="0" bIns="0" rtlCol="0" anchor="t">
            <a:noAutofit/>
          </a:bodyPr>
          <a:lstStyle/>
          <a:p>
            <a:r>
              <a:rPr lang="en-US" sz="1000">
                <a:solidFill>
                  <a:srgbClr val="8F6614"/>
                </a:solidFill>
                <a:latin typeface="Consolas" panose="020B0609020204030204" pitchFamily="49" charset="0"/>
              </a:rPr>
              <a:t>SPECIFIED · ENGINE BUILT</a:t>
            </a:r>
          </a:p>
        </p:txBody>
      </p:sp>
      <p:cxnSp>
        <p:nvCxnSpPr>
          <p:cNvPr id="25" name="rule-146">
            <a:extLst>
              <a:ext uri="{FF2B5EF4-FFF2-40B4-BE49-F238E27FC236}">
                <a16:creationId xmlns:a16="http://schemas.microsoft.com/office/drawing/2014/main" id="{FEFAF080-3F7C-3831-329B-CB717C5E8226}"/>
              </a:ext>
            </a:extLst>
          </p:cNvPr>
          <p:cNvCxnSpPr/>
          <p:nvPr/>
        </p:nvCxnSpPr>
        <p:spPr>
          <a:xfrm>
            <a:off x="609600" y="4787900"/>
            <a:ext cx="59944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sp>
        <p:nvSpPr>
          <p:cNvPr id="26" name="txt-147">
            <a:extLst>
              <a:ext uri="{FF2B5EF4-FFF2-40B4-BE49-F238E27FC236}">
                <a16:creationId xmlns:a16="http://schemas.microsoft.com/office/drawing/2014/main" id="{0D4F1EC6-C2FA-9C7C-CBD7-A59B19BF4B7F}"/>
              </a:ext>
            </a:extLst>
          </p:cNvPr>
          <p:cNvSpPr txBox="1"/>
          <p:nvPr/>
        </p:nvSpPr>
        <p:spPr>
          <a:xfrm>
            <a:off x="609600" y="4876800"/>
            <a:ext cx="3429000" cy="2286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8. External validation</a:t>
            </a:r>
          </a:p>
        </p:txBody>
      </p:sp>
      <p:sp>
        <p:nvSpPr>
          <p:cNvPr id="27" name="txt-148">
            <a:extLst>
              <a:ext uri="{FF2B5EF4-FFF2-40B4-BE49-F238E27FC236}">
                <a16:creationId xmlns:a16="http://schemas.microsoft.com/office/drawing/2014/main" id="{E7A40ADD-FBDB-D55D-E9C2-35505301E34E}"/>
              </a:ext>
            </a:extLst>
          </p:cNvPr>
          <p:cNvSpPr txBox="1"/>
          <p:nvPr/>
        </p:nvSpPr>
        <p:spPr>
          <a:xfrm>
            <a:off x="4191000" y="4889500"/>
            <a:ext cx="2413000" cy="203200"/>
          </a:xfrm>
          <a:prstGeom prst="rect">
            <a:avLst/>
          </a:prstGeom>
          <a:noFill/>
        </p:spPr>
        <p:txBody>
          <a:bodyPr vert="horz" wrap="square" lIns="0" tIns="0" rIns="0" bIns="0" rtlCol="0" anchor="t">
            <a:noAutofit/>
          </a:bodyPr>
          <a:lstStyle/>
          <a:p>
            <a:r>
              <a:rPr lang="en-US" sz="1000">
                <a:solidFill>
                  <a:srgbClr val="A94632"/>
                </a:solidFill>
                <a:latin typeface="Consolas" panose="020B0609020204030204" pitchFamily="49" charset="0"/>
              </a:rPr>
              <a:t>NOT DONE</a:t>
            </a:r>
          </a:p>
        </p:txBody>
      </p:sp>
      <p:cxnSp>
        <p:nvCxnSpPr>
          <p:cNvPr id="28" name="rule-149">
            <a:extLst>
              <a:ext uri="{FF2B5EF4-FFF2-40B4-BE49-F238E27FC236}">
                <a16:creationId xmlns:a16="http://schemas.microsoft.com/office/drawing/2014/main" id="{390AAFC7-DC4E-CC7B-B603-CF0B9D650E5C}"/>
              </a:ext>
            </a:extLst>
          </p:cNvPr>
          <p:cNvCxnSpPr/>
          <p:nvPr/>
        </p:nvCxnSpPr>
        <p:spPr>
          <a:xfrm>
            <a:off x="609600" y="5181600"/>
            <a:ext cx="5994400" cy="0"/>
          </a:xfrm>
          <a:prstGeom prst="line">
            <a:avLst/>
          </a:prstGeom>
          <a:ln w="9525">
            <a:solidFill>
              <a:srgbClr val="CFC6B3"/>
            </a:solidFill>
          </a:ln>
        </p:spPr>
        <p:style>
          <a:lnRef idx="2">
            <a:schemeClr val="accent1"/>
          </a:lnRef>
          <a:fillRef idx="0">
            <a:schemeClr val="accent1"/>
          </a:fillRef>
          <a:effectRef idx="1">
            <a:schemeClr val="accent1"/>
          </a:effectRef>
          <a:fontRef idx="minor">
            <a:schemeClr val="tx1"/>
          </a:fontRef>
        </p:style>
      </p:cxnSp>
      <p:pic>
        <p:nvPicPr>
          <p:cNvPr id="30" name="pic-150" descr="Screenshot of the Accuracy Laboratory status page stating that no research model has been evaluated.">
            <a:extLst>
              <a:ext uri="{FF2B5EF4-FFF2-40B4-BE49-F238E27FC236}">
                <a16:creationId xmlns:a16="http://schemas.microsoft.com/office/drawing/2014/main" id="{A177A768-D589-ACBF-4B31-252934126E01}"/>
              </a:ext>
            </a:extLst>
          </p:cNvPr>
          <p:cNvPicPr>
            <a:picLocks/>
          </p:cNvPicPr>
          <p:nvPr/>
        </p:nvPicPr>
        <p:blipFill>
          <a:blip r:embed="rId3">
            <a:extLst>
              <a:ext uri="{28A0092B-C50C-407E-A947-70E740481C1C}">
                <a14:useLocalDpi xmlns:a14="http://schemas.microsoft.com/office/drawing/2010/main" val="0"/>
              </a:ext>
            </a:extLst>
          </a:blip>
          <a:srcRect t="1" b="1"/>
          <a:stretch>
            <a:fillRect/>
          </a:stretch>
        </p:blipFill>
        <p:spPr>
          <a:xfrm>
            <a:off x="6959600" y="1651000"/>
            <a:ext cx="4622800" cy="2889250"/>
          </a:xfrm>
          <a:prstGeom prst="rect">
            <a:avLst/>
          </a:prstGeom>
          <a:ln w="9525">
            <a:solidFill>
              <a:srgbClr val="CFC6B3"/>
            </a:solidFill>
          </a:ln>
        </p:spPr>
      </p:pic>
      <p:sp>
        <p:nvSpPr>
          <p:cNvPr id="31" name="txt-151">
            <a:extLst>
              <a:ext uri="{FF2B5EF4-FFF2-40B4-BE49-F238E27FC236}">
                <a16:creationId xmlns:a16="http://schemas.microsoft.com/office/drawing/2014/main" id="{4CA87A2D-3A73-0566-C5C8-0C33B7DE311D}"/>
              </a:ext>
            </a:extLst>
          </p:cNvPr>
          <p:cNvSpPr txBox="1"/>
          <p:nvPr/>
        </p:nvSpPr>
        <p:spPr>
          <a:xfrm>
            <a:off x="6959600" y="4622800"/>
            <a:ext cx="46228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the Laboratory’s status page</a:t>
            </a:r>
          </a:p>
        </p:txBody>
      </p:sp>
      <p:sp>
        <p:nvSpPr>
          <p:cNvPr id="32" name="shape-152">
            <a:extLst>
              <a:ext uri="{FF2B5EF4-FFF2-40B4-BE49-F238E27FC236}">
                <a16:creationId xmlns:a16="http://schemas.microsoft.com/office/drawing/2014/main" id="{5E6C89F0-C3F5-AF0A-80DF-C3AC013B236C}"/>
              </a:ext>
            </a:extLst>
          </p:cNvPr>
          <p:cNvSpPr/>
          <p:nvPr/>
        </p:nvSpPr>
        <p:spPr>
          <a:xfrm>
            <a:off x="6959600" y="5029200"/>
            <a:ext cx="4622800" cy="1244600"/>
          </a:xfrm>
          <a:prstGeom prst="rect">
            <a:avLst/>
          </a:prstGeom>
          <a:solidFill>
            <a:srgbClr val="FCFAF4"/>
          </a:solidFill>
          <a:ln w="9525">
            <a:solidFill>
              <a:srgbClr val="2A66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xt-153">
            <a:extLst>
              <a:ext uri="{FF2B5EF4-FFF2-40B4-BE49-F238E27FC236}">
                <a16:creationId xmlns:a16="http://schemas.microsoft.com/office/drawing/2014/main" id="{5DCB24DD-C705-9B61-8D22-0FF32D07E2DB}"/>
              </a:ext>
            </a:extLst>
          </p:cNvPr>
          <p:cNvSpPr txBox="1"/>
          <p:nvPr/>
        </p:nvSpPr>
        <p:spPr>
          <a:xfrm>
            <a:off x="7137400" y="5130800"/>
            <a:ext cx="4318000" cy="1066800"/>
          </a:xfrm>
          <a:prstGeom prst="rect">
            <a:avLst/>
          </a:prstGeom>
          <a:noFill/>
        </p:spPr>
        <p:txBody>
          <a:bodyPr vert="horz" wrap="square" lIns="0" tIns="0" rIns="0" bIns="0" rtlCol="0" anchor="t">
            <a:noAutofit/>
          </a:bodyPr>
          <a:lstStyle/>
          <a:p>
            <a:pPr>
              <a:spcAft>
                <a:spcPts val="400"/>
              </a:spcAft>
            </a:pPr>
            <a:r>
              <a:rPr lang="en-US" sz="1000">
                <a:solidFill>
                  <a:srgbClr val="2A665F"/>
                </a:solidFill>
                <a:latin typeface="Consolas" panose="020B0609020204030204" pitchFamily="49" charset="0"/>
              </a:rPr>
              <a:t>WHAT WOULD CHANGE THIS</a:t>
            </a:r>
          </a:p>
          <a:p>
            <a:pPr>
              <a:spcAft>
                <a:spcPts val="400"/>
              </a:spcAft>
            </a:pPr>
            <a:r>
              <a:rPr lang="en-US" sz="1400">
                <a:solidFill>
                  <a:srgbClr val="3B4A5C"/>
                </a:solidFill>
                <a:latin typeface="Calibri" panose="020F0502020204030204" pitchFamily="34" charset="0"/>
              </a:rPr>
              <a:t>A licensed dataset, a patient-level split, a trained baseline and one pre-registered test pass.</a:t>
            </a:r>
          </a:p>
        </p:txBody>
      </p:sp>
      <p:sp>
        <p:nvSpPr>
          <p:cNvPr id="34" name="txt-154">
            <a:extLst>
              <a:ext uri="{FF2B5EF4-FFF2-40B4-BE49-F238E27FC236}">
                <a16:creationId xmlns:a16="http://schemas.microsoft.com/office/drawing/2014/main" id="{137B4542-122B-4D2A-0054-AD872EEDB3B5}"/>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35" name="txt-155">
            <a:extLst>
              <a:ext uri="{FF2B5EF4-FFF2-40B4-BE49-F238E27FC236}">
                <a16:creationId xmlns:a16="http://schemas.microsoft.com/office/drawing/2014/main" id="{96CE5E52-37FD-D51A-3D67-61D9F3D09321}"/>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09</a:t>
            </a:r>
          </a:p>
        </p:txBody>
      </p:sp>
    </p:spTree>
    <p:extLst>
      <p:ext uri="{BB962C8B-B14F-4D97-AF65-F5344CB8AC3E}">
        <p14:creationId xmlns:p14="http://schemas.microsoft.com/office/powerpoint/2010/main" val="4262823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156">
            <a:extLst>
              <a:ext uri="{FF2B5EF4-FFF2-40B4-BE49-F238E27FC236}">
                <a16:creationId xmlns:a16="http://schemas.microsoft.com/office/drawing/2014/main" id="{99835BCB-5A36-AB70-7ED1-3D3C56EA330C}"/>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09 · RESPONSIBLE CLINICAL INTEGRATION</a:t>
            </a:r>
          </a:p>
        </p:txBody>
      </p:sp>
      <p:sp>
        <p:nvSpPr>
          <p:cNvPr id="3" name="txt-157">
            <a:extLst>
              <a:ext uri="{FF2B5EF4-FFF2-40B4-BE49-F238E27FC236}">
                <a16:creationId xmlns:a16="http://schemas.microsoft.com/office/drawing/2014/main" id="{AA833992-D202-E3EB-9847-2110B206C981}"/>
              </a:ext>
            </a:extLst>
          </p:cNvPr>
          <p:cNvSpPr txBox="1"/>
          <p:nvPr/>
        </p:nvSpPr>
        <p:spPr>
          <a:xfrm>
            <a:off x="609600" y="736600"/>
            <a:ext cx="8890000" cy="1066800"/>
          </a:xfrm>
          <a:prstGeom prst="rect">
            <a:avLst/>
          </a:prstGeom>
          <a:noFill/>
        </p:spPr>
        <p:txBody>
          <a:bodyPr vert="horz" wrap="square" lIns="0" tIns="0" rIns="0" bIns="0" rtlCol="0" anchor="t">
            <a:noAutofit/>
          </a:bodyPr>
          <a:lstStyle/>
          <a:p>
            <a:pPr>
              <a:lnSpc>
                <a:spcPct val="95000"/>
              </a:lnSpc>
            </a:pPr>
            <a:r>
              <a:rPr lang="en-US" sz="3000">
                <a:solidFill>
                  <a:srgbClr val="0A1A2C"/>
                </a:solidFill>
                <a:latin typeface="Georgia" panose="02040502050405020303" pitchFamily="18" charset="0"/>
              </a:rPr>
              <a:t>A path with stops — and this prototype stops first.</a:t>
            </a:r>
          </a:p>
        </p:txBody>
      </p:sp>
      <p:sp>
        <p:nvSpPr>
          <p:cNvPr id="4" name="shape-158">
            <a:extLst>
              <a:ext uri="{FF2B5EF4-FFF2-40B4-BE49-F238E27FC236}">
                <a16:creationId xmlns:a16="http://schemas.microsoft.com/office/drawing/2014/main" id="{A154B16B-2C91-C619-665B-86364DD4BC23}"/>
              </a:ext>
            </a:extLst>
          </p:cNvPr>
          <p:cNvSpPr/>
          <p:nvPr/>
        </p:nvSpPr>
        <p:spPr>
          <a:xfrm>
            <a:off x="609600" y="1905000"/>
            <a:ext cx="2641600" cy="787400"/>
          </a:xfrm>
          <a:prstGeom prst="rect">
            <a:avLst/>
          </a:prstGeom>
          <a:solidFill>
            <a:srgbClr val="FCFAF4"/>
          </a:solidFill>
          <a:ln w="9525">
            <a:solidFill>
              <a:srgbClr val="A946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159">
            <a:extLst>
              <a:ext uri="{FF2B5EF4-FFF2-40B4-BE49-F238E27FC236}">
                <a16:creationId xmlns:a16="http://schemas.microsoft.com/office/drawing/2014/main" id="{B9B37180-D260-E156-0C71-57191947A3BA}"/>
              </a:ext>
            </a:extLst>
          </p:cNvPr>
          <p:cNvSpPr txBox="1"/>
          <p:nvPr/>
        </p:nvSpPr>
        <p:spPr>
          <a:xfrm>
            <a:off x="762000" y="2006600"/>
            <a:ext cx="508000" cy="381000"/>
          </a:xfrm>
          <a:prstGeom prst="rect">
            <a:avLst/>
          </a:prstGeom>
          <a:noFill/>
        </p:spPr>
        <p:txBody>
          <a:bodyPr vert="horz" wrap="square" lIns="0" tIns="0" rIns="0" bIns="0" rtlCol="0" anchor="t">
            <a:noAutofit/>
          </a:bodyPr>
          <a:lstStyle/>
          <a:p>
            <a:r>
              <a:rPr lang="en-US" sz="2200" i="1">
                <a:solidFill>
                  <a:srgbClr val="2A665F"/>
                </a:solidFill>
                <a:latin typeface="Georgia" panose="02040502050405020303" pitchFamily="18" charset="0"/>
              </a:rPr>
              <a:t>01</a:t>
            </a:r>
          </a:p>
        </p:txBody>
      </p:sp>
      <p:sp>
        <p:nvSpPr>
          <p:cNvPr id="6" name="txt-160">
            <a:extLst>
              <a:ext uri="{FF2B5EF4-FFF2-40B4-BE49-F238E27FC236}">
                <a16:creationId xmlns:a16="http://schemas.microsoft.com/office/drawing/2014/main" id="{C7265F77-BF4D-883E-658F-947BF1BC792B}"/>
              </a:ext>
            </a:extLst>
          </p:cNvPr>
          <p:cNvSpPr txBox="1"/>
          <p:nvPr/>
        </p:nvSpPr>
        <p:spPr>
          <a:xfrm>
            <a:off x="1270000" y="2032000"/>
            <a:ext cx="1905000" cy="5842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Retrospective validation</a:t>
            </a:r>
          </a:p>
        </p:txBody>
      </p:sp>
      <p:sp>
        <p:nvSpPr>
          <p:cNvPr id="7" name="shape-161">
            <a:extLst>
              <a:ext uri="{FF2B5EF4-FFF2-40B4-BE49-F238E27FC236}">
                <a16:creationId xmlns:a16="http://schemas.microsoft.com/office/drawing/2014/main" id="{2BAB7D49-B9E1-47D1-2251-A70B56F766B4}"/>
              </a:ext>
            </a:extLst>
          </p:cNvPr>
          <p:cNvSpPr/>
          <p:nvPr/>
        </p:nvSpPr>
        <p:spPr>
          <a:xfrm>
            <a:off x="3378200" y="1905000"/>
            <a:ext cx="2641600" cy="7874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xt-162">
            <a:extLst>
              <a:ext uri="{FF2B5EF4-FFF2-40B4-BE49-F238E27FC236}">
                <a16:creationId xmlns:a16="http://schemas.microsoft.com/office/drawing/2014/main" id="{C4236830-9864-DA8A-B0A4-D479529E0004}"/>
              </a:ext>
            </a:extLst>
          </p:cNvPr>
          <p:cNvSpPr txBox="1"/>
          <p:nvPr/>
        </p:nvSpPr>
        <p:spPr>
          <a:xfrm>
            <a:off x="3530600" y="2006600"/>
            <a:ext cx="508000" cy="381000"/>
          </a:xfrm>
          <a:prstGeom prst="rect">
            <a:avLst/>
          </a:prstGeom>
          <a:noFill/>
        </p:spPr>
        <p:txBody>
          <a:bodyPr vert="horz" wrap="square" lIns="0" tIns="0" rIns="0" bIns="0" rtlCol="0" anchor="t">
            <a:noAutofit/>
          </a:bodyPr>
          <a:lstStyle/>
          <a:p>
            <a:r>
              <a:rPr lang="en-US" sz="2200" i="1">
                <a:solidFill>
                  <a:srgbClr val="2A665F"/>
                </a:solidFill>
                <a:latin typeface="Georgia" panose="02040502050405020303" pitchFamily="18" charset="0"/>
              </a:rPr>
              <a:t>02</a:t>
            </a:r>
          </a:p>
        </p:txBody>
      </p:sp>
      <p:sp>
        <p:nvSpPr>
          <p:cNvPr id="9" name="txt-163">
            <a:extLst>
              <a:ext uri="{FF2B5EF4-FFF2-40B4-BE49-F238E27FC236}">
                <a16:creationId xmlns:a16="http://schemas.microsoft.com/office/drawing/2014/main" id="{8B89942B-D6A8-3D94-7914-0A61F988FDD2}"/>
              </a:ext>
            </a:extLst>
          </p:cNvPr>
          <p:cNvSpPr txBox="1"/>
          <p:nvPr/>
        </p:nvSpPr>
        <p:spPr>
          <a:xfrm>
            <a:off x="4038600" y="2032000"/>
            <a:ext cx="1905000" cy="5842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Silent prospective run</a:t>
            </a:r>
          </a:p>
        </p:txBody>
      </p:sp>
      <p:sp>
        <p:nvSpPr>
          <p:cNvPr id="10" name="shape-164">
            <a:extLst>
              <a:ext uri="{FF2B5EF4-FFF2-40B4-BE49-F238E27FC236}">
                <a16:creationId xmlns:a16="http://schemas.microsoft.com/office/drawing/2014/main" id="{E55CD3BC-337F-2E8D-8803-DAB04FD562E1}"/>
              </a:ext>
            </a:extLst>
          </p:cNvPr>
          <p:cNvSpPr/>
          <p:nvPr/>
        </p:nvSpPr>
        <p:spPr>
          <a:xfrm>
            <a:off x="6146800" y="1905000"/>
            <a:ext cx="2641600" cy="7874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xt-165">
            <a:extLst>
              <a:ext uri="{FF2B5EF4-FFF2-40B4-BE49-F238E27FC236}">
                <a16:creationId xmlns:a16="http://schemas.microsoft.com/office/drawing/2014/main" id="{F0B3D1B2-0B19-A4A5-492E-94E58203E577}"/>
              </a:ext>
            </a:extLst>
          </p:cNvPr>
          <p:cNvSpPr txBox="1"/>
          <p:nvPr/>
        </p:nvSpPr>
        <p:spPr>
          <a:xfrm>
            <a:off x="6299200" y="2006600"/>
            <a:ext cx="508000" cy="381000"/>
          </a:xfrm>
          <a:prstGeom prst="rect">
            <a:avLst/>
          </a:prstGeom>
          <a:noFill/>
        </p:spPr>
        <p:txBody>
          <a:bodyPr vert="horz" wrap="square" lIns="0" tIns="0" rIns="0" bIns="0" rtlCol="0" anchor="t">
            <a:noAutofit/>
          </a:bodyPr>
          <a:lstStyle/>
          <a:p>
            <a:r>
              <a:rPr lang="en-US" sz="2200" i="1">
                <a:solidFill>
                  <a:srgbClr val="2A665F"/>
                </a:solidFill>
                <a:latin typeface="Georgia" panose="02040502050405020303" pitchFamily="18" charset="0"/>
              </a:rPr>
              <a:t>03</a:t>
            </a:r>
          </a:p>
        </p:txBody>
      </p:sp>
      <p:sp>
        <p:nvSpPr>
          <p:cNvPr id="12" name="txt-166">
            <a:extLst>
              <a:ext uri="{FF2B5EF4-FFF2-40B4-BE49-F238E27FC236}">
                <a16:creationId xmlns:a16="http://schemas.microsoft.com/office/drawing/2014/main" id="{E5F37D86-4CB7-DD8B-CEB9-2488329F3DDE}"/>
              </a:ext>
            </a:extLst>
          </p:cNvPr>
          <p:cNvSpPr txBox="1"/>
          <p:nvPr/>
        </p:nvSpPr>
        <p:spPr>
          <a:xfrm>
            <a:off x="6807200" y="2032000"/>
            <a:ext cx="1905000" cy="5842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Assisted-reading study</a:t>
            </a:r>
          </a:p>
        </p:txBody>
      </p:sp>
      <p:sp>
        <p:nvSpPr>
          <p:cNvPr id="13" name="shape-167">
            <a:extLst>
              <a:ext uri="{FF2B5EF4-FFF2-40B4-BE49-F238E27FC236}">
                <a16:creationId xmlns:a16="http://schemas.microsoft.com/office/drawing/2014/main" id="{E09C9DA7-BCEB-9B38-2111-2018FE092C4F}"/>
              </a:ext>
            </a:extLst>
          </p:cNvPr>
          <p:cNvSpPr/>
          <p:nvPr/>
        </p:nvSpPr>
        <p:spPr>
          <a:xfrm>
            <a:off x="8915400" y="1905000"/>
            <a:ext cx="2641600" cy="787400"/>
          </a:xfrm>
          <a:prstGeom prst="rect">
            <a:avLst/>
          </a:prstGeom>
          <a:solidFill>
            <a:srgbClr val="FCFAF4"/>
          </a:solidFill>
          <a:ln w="9525">
            <a:solidFill>
              <a:srgbClr val="CFC6B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xt-168">
            <a:extLst>
              <a:ext uri="{FF2B5EF4-FFF2-40B4-BE49-F238E27FC236}">
                <a16:creationId xmlns:a16="http://schemas.microsoft.com/office/drawing/2014/main" id="{6AA0523F-D9DC-5494-E1CC-9602BB8E59A7}"/>
              </a:ext>
            </a:extLst>
          </p:cNvPr>
          <p:cNvSpPr txBox="1"/>
          <p:nvPr/>
        </p:nvSpPr>
        <p:spPr>
          <a:xfrm>
            <a:off x="9067800" y="2006600"/>
            <a:ext cx="508000" cy="381000"/>
          </a:xfrm>
          <a:prstGeom prst="rect">
            <a:avLst/>
          </a:prstGeom>
          <a:noFill/>
        </p:spPr>
        <p:txBody>
          <a:bodyPr vert="horz" wrap="square" lIns="0" tIns="0" rIns="0" bIns="0" rtlCol="0" anchor="t">
            <a:noAutofit/>
          </a:bodyPr>
          <a:lstStyle/>
          <a:p>
            <a:r>
              <a:rPr lang="en-US" sz="2200" i="1">
                <a:solidFill>
                  <a:srgbClr val="2A665F"/>
                </a:solidFill>
                <a:latin typeface="Georgia" panose="02040502050405020303" pitchFamily="18" charset="0"/>
              </a:rPr>
              <a:t>04</a:t>
            </a:r>
          </a:p>
        </p:txBody>
      </p:sp>
      <p:sp>
        <p:nvSpPr>
          <p:cNvPr id="15" name="txt-169">
            <a:extLst>
              <a:ext uri="{FF2B5EF4-FFF2-40B4-BE49-F238E27FC236}">
                <a16:creationId xmlns:a16="http://schemas.microsoft.com/office/drawing/2014/main" id="{86DE71AD-2A47-0B35-4AB8-0C20818DF32C}"/>
              </a:ext>
            </a:extLst>
          </p:cNvPr>
          <p:cNvSpPr txBox="1"/>
          <p:nvPr/>
        </p:nvSpPr>
        <p:spPr>
          <a:xfrm>
            <a:off x="9575800" y="2032000"/>
            <a:ext cx="1905000" cy="584200"/>
          </a:xfrm>
          <a:prstGeom prst="rect">
            <a:avLst/>
          </a:prstGeom>
          <a:noFill/>
        </p:spPr>
        <p:txBody>
          <a:bodyPr vert="horz" wrap="square" lIns="0" tIns="0" rIns="0" bIns="0" rtlCol="0" anchor="t">
            <a:noAutofit/>
          </a:bodyPr>
          <a:lstStyle/>
          <a:p>
            <a:r>
              <a:rPr lang="en-US" sz="1300">
                <a:solidFill>
                  <a:srgbClr val="0A1A2C"/>
                </a:solidFill>
                <a:latin typeface="Calibri" panose="020F0502020204030204" pitchFamily="34" charset="0"/>
              </a:rPr>
              <a:t>Regulated deployment + monitoring</a:t>
            </a:r>
          </a:p>
        </p:txBody>
      </p:sp>
      <p:sp>
        <p:nvSpPr>
          <p:cNvPr id="16" name="txt-170">
            <a:extLst>
              <a:ext uri="{FF2B5EF4-FFF2-40B4-BE49-F238E27FC236}">
                <a16:creationId xmlns:a16="http://schemas.microsoft.com/office/drawing/2014/main" id="{9D4F314A-5723-E24B-6BBE-8FBE45AF84C5}"/>
              </a:ext>
            </a:extLst>
          </p:cNvPr>
          <p:cNvSpPr txBox="1"/>
          <p:nvPr/>
        </p:nvSpPr>
        <p:spPr>
          <a:xfrm>
            <a:off x="609600" y="2768600"/>
            <a:ext cx="7620000" cy="228600"/>
          </a:xfrm>
          <a:prstGeom prst="rect">
            <a:avLst/>
          </a:prstGeom>
          <a:noFill/>
        </p:spPr>
        <p:txBody>
          <a:bodyPr vert="horz" wrap="square" lIns="0" tIns="0" rIns="0" bIns="0" rtlCol="0" anchor="t">
            <a:noAutofit/>
          </a:bodyPr>
          <a:lstStyle/>
          <a:p>
            <a:r>
              <a:rPr lang="en-US" sz="1000">
                <a:solidFill>
                  <a:srgbClr val="A94632"/>
                </a:solidFill>
                <a:latin typeface="Consolas" panose="020B0609020204030204" pitchFamily="49" charset="0"/>
              </a:rPr>
              <a:t>This prototype stops before step 1.</a:t>
            </a:r>
          </a:p>
        </p:txBody>
      </p:sp>
      <p:sp>
        <p:nvSpPr>
          <p:cNvPr id="17" name="txt-171">
            <a:extLst>
              <a:ext uri="{FF2B5EF4-FFF2-40B4-BE49-F238E27FC236}">
                <a16:creationId xmlns:a16="http://schemas.microsoft.com/office/drawing/2014/main" id="{E93F3512-F0FE-B617-F5BE-0659D471C2CF}"/>
              </a:ext>
            </a:extLst>
          </p:cNvPr>
          <p:cNvSpPr txBox="1"/>
          <p:nvPr/>
        </p:nvSpPr>
        <p:spPr>
          <a:xfrm>
            <a:off x="609600" y="3200400"/>
            <a:ext cx="5588000" cy="2997200"/>
          </a:xfrm>
          <a:prstGeom prst="rect">
            <a:avLst/>
          </a:prstGeom>
          <a:noFill/>
        </p:spPr>
        <p:txBody>
          <a:bodyPr vert="horz" wrap="square" lIns="0" tIns="0" rIns="0" bIns="0" rtlCol="0" anchor="t">
            <a:noAutofit/>
          </a:bodyPr>
          <a:lstStyle/>
          <a:p>
            <a:pPr marL="177800" indent="-177800">
              <a:spcAft>
                <a:spcPts val="700"/>
              </a:spcAft>
              <a:buClr>
                <a:srgbClr val="3B4A5C"/>
              </a:buClr>
              <a:buFont typeface="+mj-lt"/>
              <a:buChar char="•"/>
            </a:pPr>
            <a:r>
              <a:rPr lang="en-US" sz="1400" b="1">
                <a:solidFill>
                  <a:srgbClr val="3B4A5C"/>
                </a:solidFill>
                <a:latin typeface="Calibri" panose="020F0502020204030204" pitchFamily="34" charset="0"/>
              </a:rPr>
              <a:t>Human in the loop: </a:t>
            </a:r>
            <a:r>
              <a:rPr lang="en-US" sz="1400">
                <a:solidFill>
                  <a:srgbClr val="3B4A5C"/>
                </a:solidFill>
                <a:latin typeface="Calibri" panose="020F0502020204030204" pitchFamily="34" charset="0"/>
              </a:rPr>
              <a:t>a person chooses and approves every disposition.</a:t>
            </a:r>
          </a:p>
          <a:p>
            <a:pPr marL="177800" indent="-177800">
              <a:spcAft>
                <a:spcPts val="700"/>
              </a:spcAft>
              <a:buClr>
                <a:srgbClr val="3B4A5C"/>
              </a:buClr>
              <a:buFont typeface="+mj-lt"/>
              <a:buChar char="•"/>
            </a:pPr>
            <a:r>
              <a:rPr lang="en-US" sz="1400" b="1">
                <a:solidFill>
                  <a:srgbClr val="3B4A5C"/>
                </a:solidFill>
                <a:latin typeface="Calibri" panose="020F0502020204030204" pitchFamily="34" charset="0"/>
              </a:rPr>
              <a:t>Five-way provenance: </a:t>
            </a:r>
            <a:r>
              <a:rPr lang="en-US" sz="1400">
                <a:solidFill>
                  <a:srgbClr val="3B4A5C"/>
                </a:solidFill>
                <a:latin typeface="Calibri" panose="020F0502020204030204" pitchFamily="34" charset="0"/>
              </a:rPr>
              <a:t>model, reference, annotations, clinician, disposition — never merged.</a:t>
            </a:r>
          </a:p>
          <a:p>
            <a:pPr marL="177800" indent="-177800">
              <a:spcAft>
                <a:spcPts val="700"/>
              </a:spcAft>
              <a:buClr>
                <a:srgbClr val="3B4A5C"/>
              </a:buClr>
              <a:buFont typeface="+mj-lt"/>
              <a:buChar char="•"/>
            </a:pPr>
            <a:r>
              <a:rPr lang="en-US" sz="1400" b="1">
                <a:solidFill>
                  <a:srgbClr val="3B4A5C"/>
                </a:solidFill>
                <a:latin typeface="Calibri" panose="020F0502020204030204" pitchFamily="34" charset="0"/>
              </a:rPr>
              <a:t>No fabrication: </a:t>
            </a:r>
            <a:r>
              <a:rPr lang="en-US" sz="1400">
                <a:solidFill>
                  <a:srgbClr val="3B4A5C"/>
                </a:solidFill>
                <a:latin typeface="Calibri" panose="020F0502020204030204" pitchFamily="34" charset="0"/>
              </a:rPr>
              <a:t>no invented confidence, no simulated scanning.</a:t>
            </a:r>
          </a:p>
          <a:p>
            <a:pPr marL="177800" indent="-177800">
              <a:spcAft>
                <a:spcPts val="700"/>
              </a:spcAft>
              <a:buClr>
                <a:srgbClr val="3B4A5C"/>
              </a:buClr>
              <a:buFont typeface="+mj-lt"/>
              <a:buChar char="•"/>
            </a:pPr>
            <a:r>
              <a:rPr lang="en-US" sz="1400" b="1">
                <a:solidFill>
                  <a:srgbClr val="3B4A5C"/>
                </a:solidFill>
                <a:latin typeface="Calibri" panose="020F0502020204030204" pitchFamily="34" charset="0"/>
              </a:rPr>
              <a:t>No-result pathway and leakage control; </a:t>
            </a:r>
            <a:r>
              <a:rPr lang="en-US" sz="1400">
                <a:solidFill>
                  <a:srgbClr val="3B4A5C"/>
                </a:solidFill>
                <a:latin typeface="Calibri" panose="020F0502020204030204" pitchFamily="34" charset="0"/>
              </a:rPr>
              <a:t>privacy by design, identifiers blocked.</a:t>
            </a:r>
          </a:p>
        </p:txBody>
      </p:sp>
      <p:pic>
        <p:nvPicPr>
          <p:cNvPr id="19" name="pic-172" descr="Screenshot of the clinician approval page with the provenance ledger listing five separate items: model prediction not implemented, reference label, reference annotations, clinician interpretation and final disposition.">
            <a:extLst>
              <a:ext uri="{FF2B5EF4-FFF2-40B4-BE49-F238E27FC236}">
                <a16:creationId xmlns:a16="http://schemas.microsoft.com/office/drawing/2014/main" id="{E5C4B0BF-1986-F56F-6B9A-ACF9294EE09E}"/>
              </a:ext>
            </a:extLst>
          </p:cNvPr>
          <p:cNvPicPr>
            <a:picLocks/>
          </p:cNvPicPr>
          <p:nvPr/>
        </p:nvPicPr>
        <p:blipFill>
          <a:blip r:embed="rId3">
            <a:extLst>
              <a:ext uri="{28A0092B-C50C-407E-A947-70E740481C1C}">
                <a14:useLocalDpi xmlns:a14="http://schemas.microsoft.com/office/drawing/2010/main" val="0"/>
              </a:ext>
            </a:extLst>
          </a:blip>
          <a:srcRect l="54500" t="31000" r="1" b="27000"/>
          <a:stretch>
            <a:fillRect/>
          </a:stretch>
        </p:blipFill>
        <p:spPr>
          <a:xfrm>
            <a:off x="6477000" y="3175000"/>
            <a:ext cx="5105400" cy="2945423"/>
          </a:xfrm>
          <a:prstGeom prst="rect">
            <a:avLst/>
          </a:prstGeom>
          <a:ln w="9525">
            <a:solidFill>
              <a:srgbClr val="CFC6B3"/>
            </a:solidFill>
          </a:ln>
        </p:spPr>
      </p:pic>
      <p:sp>
        <p:nvSpPr>
          <p:cNvPr id="20" name="txt-173">
            <a:extLst>
              <a:ext uri="{FF2B5EF4-FFF2-40B4-BE49-F238E27FC236}">
                <a16:creationId xmlns:a16="http://schemas.microsoft.com/office/drawing/2014/main" id="{9F468C10-0DC4-E712-F958-3F654331E683}"/>
              </a:ext>
            </a:extLst>
          </p:cNvPr>
          <p:cNvSpPr txBox="1"/>
          <p:nvPr/>
        </p:nvSpPr>
        <p:spPr>
          <a:xfrm>
            <a:off x="6477000" y="6248400"/>
            <a:ext cx="5105400" cy="3556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Screenshot · the provenance ledger</a:t>
            </a:r>
          </a:p>
        </p:txBody>
      </p:sp>
      <p:sp>
        <p:nvSpPr>
          <p:cNvPr id="21" name="txt-174">
            <a:extLst>
              <a:ext uri="{FF2B5EF4-FFF2-40B4-BE49-F238E27FC236}">
                <a16:creationId xmlns:a16="http://schemas.microsoft.com/office/drawing/2014/main" id="{7D4DE4F9-E3D1-56C5-765D-199C6F64B184}"/>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22" name="txt-175">
            <a:extLst>
              <a:ext uri="{FF2B5EF4-FFF2-40B4-BE49-F238E27FC236}">
                <a16:creationId xmlns:a16="http://schemas.microsoft.com/office/drawing/2014/main" id="{4DEB637E-4A6C-E998-962A-BB3CE2483CD5}"/>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10</a:t>
            </a:r>
          </a:p>
        </p:txBody>
      </p:sp>
    </p:spTree>
    <p:extLst>
      <p:ext uri="{BB962C8B-B14F-4D97-AF65-F5344CB8AC3E}">
        <p14:creationId xmlns:p14="http://schemas.microsoft.com/office/powerpoint/2010/main" val="2066504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2E8"/>
        </a:solidFill>
        <a:effectLst/>
      </p:bgPr>
    </p:bg>
    <p:spTree>
      <p:nvGrpSpPr>
        <p:cNvPr id="1" name=""/>
        <p:cNvGrpSpPr/>
        <p:nvPr/>
      </p:nvGrpSpPr>
      <p:grpSpPr>
        <a:xfrm>
          <a:off x="0" y="0"/>
          <a:ext cx="0" cy="0"/>
          <a:chOff x="0" y="0"/>
          <a:chExt cx="0" cy="0"/>
        </a:xfrm>
      </p:grpSpPr>
      <p:sp>
        <p:nvSpPr>
          <p:cNvPr id="2" name="txt-176">
            <a:extLst>
              <a:ext uri="{FF2B5EF4-FFF2-40B4-BE49-F238E27FC236}">
                <a16:creationId xmlns:a16="http://schemas.microsoft.com/office/drawing/2014/main" id="{945B290B-4E84-397E-8B4F-36D9E9BAF1C7}"/>
              </a:ext>
            </a:extLst>
          </p:cNvPr>
          <p:cNvSpPr txBox="1"/>
          <p:nvPr/>
        </p:nvSpPr>
        <p:spPr>
          <a:xfrm>
            <a:off x="609600" y="457200"/>
            <a:ext cx="8890000" cy="2032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10 · IMPLEMENTED, SIMULATED, FUTURE</a:t>
            </a:r>
          </a:p>
        </p:txBody>
      </p:sp>
      <p:sp>
        <p:nvSpPr>
          <p:cNvPr id="3" name="txt-177">
            <a:extLst>
              <a:ext uri="{FF2B5EF4-FFF2-40B4-BE49-F238E27FC236}">
                <a16:creationId xmlns:a16="http://schemas.microsoft.com/office/drawing/2014/main" id="{438E46F7-312E-D1F2-A84F-AAF6C6F0082F}"/>
              </a:ext>
            </a:extLst>
          </p:cNvPr>
          <p:cNvSpPr txBox="1"/>
          <p:nvPr/>
        </p:nvSpPr>
        <p:spPr>
          <a:xfrm>
            <a:off x="609600" y="736600"/>
            <a:ext cx="8890000" cy="1066800"/>
          </a:xfrm>
          <a:prstGeom prst="rect">
            <a:avLst/>
          </a:prstGeom>
          <a:noFill/>
        </p:spPr>
        <p:txBody>
          <a:bodyPr vert="horz" wrap="square" lIns="0" tIns="0" rIns="0" bIns="0" rtlCol="0" anchor="t">
            <a:noAutofit/>
          </a:bodyPr>
          <a:lstStyle/>
          <a:p>
            <a:pPr>
              <a:lnSpc>
                <a:spcPct val="95000"/>
              </a:lnSpc>
            </a:pPr>
            <a:r>
              <a:rPr lang="en-US" sz="3000">
                <a:solidFill>
                  <a:srgbClr val="0A1A2C"/>
                </a:solidFill>
                <a:latin typeface="Georgia" panose="02040502050405020303" pitchFamily="18" charset="0"/>
              </a:rPr>
              <a:t>What is real, what is a stand-in, what is not built.</a:t>
            </a:r>
          </a:p>
        </p:txBody>
      </p:sp>
      <p:sp>
        <p:nvSpPr>
          <p:cNvPr id="4" name="shape-178">
            <a:extLst>
              <a:ext uri="{FF2B5EF4-FFF2-40B4-BE49-F238E27FC236}">
                <a16:creationId xmlns:a16="http://schemas.microsoft.com/office/drawing/2014/main" id="{F165A6A6-19A9-0929-34D5-F73C79B4104B}"/>
              </a:ext>
            </a:extLst>
          </p:cNvPr>
          <p:cNvSpPr/>
          <p:nvPr/>
        </p:nvSpPr>
        <p:spPr>
          <a:xfrm>
            <a:off x="609600" y="1752600"/>
            <a:ext cx="3556000" cy="50800"/>
          </a:xfrm>
          <a:prstGeom prst="rect">
            <a:avLst/>
          </a:prstGeom>
          <a:solidFill>
            <a:srgbClr val="2A665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xt-179">
            <a:extLst>
              <a:ext uri="{FF2B5EF4-FFF2-40B4-BE49-F238E27FC236}">
                <a16:creationId xmlns:a16="http://schemas.microsoft.com/office/drawing/2014/main" id="{E14033E5-BEDC-32DC-FE72-02887DD64455}"/>
              </a:ext>
            </a:extLst>
          </p:cNvPr>
          <p:cNvSpPr txBox="1"/>
          <p:nvPr/>
        </p:nvSpPr>
        <p:spPr>
          <a:xfrm>
            <a:off x="609600" y="1905000"/>
            <a:ext cx="3556000" cy="2540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IMPLEMENTED</a:t>
            </a:r>
          </a:p>
        </p:txBody>
      </p:sp>
      <p:sp>
        <p:nvSpPr>
          <p:cNvPr id="6" name="txt-180">
            <a:extLst>
              <a:ext uri="{FF2B5EF4-FFF2-40B4-BE49-F238E27FC236}">
                <a16:creationId xmlns:a16="http://schemas.microsoft.com/office/drawing/2014/main" id="{EB60CEEB-A557-02DD-1C40-442494C36CB4}"/>
              </a:ext>
            </a:extLst>
          </p:cNvPr>
          <p:cNvSpPr txBox="1"/>
          <p:nvPr/>
        </p:nvSpPr>
        <p:spPr>
          <a:xfrm>
            <a:off x="609600" y="2260600"/>
            <a:ext cx="3556000" cy="34290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3D eye, guided entry, static fallback</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EvidenceLens: zoom, layers, compare</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Diagnostic Duel (Human vs Reference)</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Quality indicators, stress test, no-result path</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Metrics engine, leakage-safe import</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Clinician approval, CareBridge, privacy guard</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English and Arabic (RTL)</a:t>
            </a:r>
          </a:p>
        </p:txBody>
      </p:sp>
      <p:sp>
        <p:nvSpPr>
          <p:cNvPr id="7" name="shape-181">
            <a:extLst>
              <a:ext uri="{FF2B5EF4-FFF2-40B4-BE49-F238E27FC236}">
                <a16:creationId xmlns:a16="http://schemas.microsoft.com/office/drawing/2014/main" id="{7A618B60-AF14-A412-7CCB-76C1B24EFB3B}"/>
              </a:ext>
            </a:extLst>
          </p:cNvPr>
          <p:cNvSpPr/>
          <p:nvPr/>
        </p:nvSpPr>
        <p:spPr>
          <a:xfrm>
            <a:off x="4318000" y="1752600"/>
            <a:ext cx="3556000" cy="50800"/>
          </a:xfrm>
          <a:prstGeom prst="rect">
            <a:avLst/>
          </a:prstGeom>
          <a:solidFill>
            <a:srgbClr val="8F661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xt-182">
            <a:extLst>
              <a:ext uri="{FF2B5EF4-FFF2-40B4-BE49-F238E27FC236}">
                <a16:creationId xmlns:a16="http://schemas.microsoft.com/office/drawing/2014/main" id="{3F8FFE76-A657-BE7C-C3BA-E22536258DAF}"/>
              </a:ext>
            </a:extLst>
          </p:cNvPr>
          <p:cNvSpPr txBox="1"/>
          <p:nvPr/>
        </p:nvSpPr>
        <p:spPr>
          <a:xfrm>
            <a:off x="4318000" y="1905000"/>
            <a:ext cx="3556000" cy="254000"/>
          </a:xfrm>
          <a:prstGeom prst="rect">
            <a:avLst/>
          </a:prstGeom>
          <a:noFill/>
        </p:spPr>
        <p:txBody>
          <a:bodyPr vert="horz" wrap="square" lIns="0" tIns="0" rIns="0" bIns="0" rtlCol="0" anchor="t">
            <a:noAutofit/>
          </a:bodyPr>
          <a:lstStyle/>
          <a:p>
            <a:r>
              <a:rPr lang="en-US" sz="1100">
                <a:solidFill>
                  <a:srgbClr val="8F6614"/>
                </a:solidFill>
                <a:latin typeface="Consolas" panose="020B0609020204030204" pitchFamily="49" charset="0"/>
              </a:rPr>
              <a:t>SIMULATED · EDUCATIONAL</a:t>
            </a:r>
          </a:p>
        </p:txBody>
      </p:sp>
      <p:sp>
        <p:nvSpPr>
          <p:cNvPr id="9" name="txt-183">
            <a:extLst>
              <a:ext uri="{FF2B5EF4-FFF2-40B4-BE49-F238E27FC236}">
                <a16:creationId xmlns:a16="http://schemas.microsoft.com/office/drawing/2014/main" id="{F8E4EE09-3132-48EB-B81A-C2F57B36C861}"/>
              </a:ext>
            </a:extLst>
          </p:cNvPr>
          <p:cNvSpPr txBox="1"/>
          <p:nvPr/>
        </p:nvSpPr>
        <p:spPr>
          <a:xfrm>
            <a:off x="4318000" y="2260600"/>
            <a:ext cx="3556000" cy="34290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Statistics simulator (stamped)</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Synthetic teaching images</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Authored reference labels (ICDR-derived)</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Duel score — educational, not validated</a:t>
            </a:r>
          </a:p>
        </p:txBody>
      </p:sp>
      <p:sp>
        <p:nvSpPr>
          <p:cNvPr id="10" name="shape-184">
            <a:extLst>
              <a:ext uri="{FF2B5EF4-FFF2-40B4-BE49-F238E27FC236}">
                <a16:creationId xmlns:a16="http://schemas.microsoft.com/office/drawing/2014/main" id="{D2C5D89D-1497-6273-4644-5ED6C5E2A361}"/>
              </a:ext>
            </a:extLst>
          </p:cNvPr>
          <p:cNvSpPr/>
          <p:nvPr/>
        </p:nvSpPr>
        <p:spPr>
          <a:xfrm>
            <a:off x="8026400" y="1752600"/>
            <a:ext cx="3556000" cy="50800"/>
          </a:xfrm>
          <a:prstGeom prst="rect">
            <a:avLst/>
          </a:prstGeom>
          <a:solidFill>
            <a:srgbClr val="A946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xt-185">
            <a:extLst>
              <a:ext uri="{FF2B5EF4-FFF2-40B4-BE49-F238E27FC236}">
                <a16:creationId xmlns:a16="http://schemas.microsoft.com/office/drawing/2014/main" id="{03AF7CC0-2F2C-7B40-CC6F-740DD758D968}"/>
              </a:ext>
            </a:extLst>
          </p:cNvPr>
          <p:cNvSpPr txBox="1"/>
          <p:nvPr/>
        </p:nvSpPr>
        <p:spPr>
          <a:xfrm>
            <a:off x="8026400" y="1905000"/>
            <a:ext cx="3556000" cy="254000"/>
          </a:xfrm>
          <a:prstGeom prst="rect">
            <a:avLst/>
          </a:prstGeom>
          <a:noFill/>
        </p:spPr>
        <p:txBody>
          <a:bodyPr vert="horz" wrap="square" lIns="0" tIns="0" rIns="0" bIns="0" rtlCol="0" anchor="t">
            <a:noAutofit/>
          </a:bodyPr>
          <a:lstStyle/>
          <a:p>
            <a:r>
              <a:rPr lang="en-US" sz="1100">
                <a:solidFill>
                  <a:srgbClr val="A94632"/>
                </a:solidFill>
                <a:latin typeface="Consolas" panose="020B0609020204030204" pitchFamily="49" charset="0"/>
              </a:rPr>
              <a:t>FUTURE · NOT BUILT</a:t>
            </a:r>
          </a:p>
        </p:txBody>
      </p:sp>
      <p:sp>
        <p:nvSpPr>
          <p:cNvPr id="12" name="txt-186">
            <a:extLst>
              <a:ext uri="{FF2B5EF4-FFF2-40B4-BE49-F238E27FC236}">
                <a16:creationId xmlns:a16="http://schemas.microsoft.com/office/drawing/2014/main" id="{70CC9CB1-5506-3ED0-73D0-C72FD207271C}"/>
              </a:ext>
            </a:extLst>
          </p:cNvPr>
          <p:cNvSpPr txBox="1"/>
          <p:nvPr/>
        </p:nvSpPr>
        <p:spPr>
          <a:xfrm>
            <a:off x="8026400" y="2260600"/>
            <a:ext cx="3556000" cy="3429000"/>
          </a:xfrm>
          <a:prstGeom prst="rect">
            <a:avLst/>
          </a:prstGeom>
          <a:noFill/>
        </p:spPr>
        <p:txBody>
          <a:bodyPr vert="horz" wrap="square" lIns="0" tIns="0" rIns="0" bIns="0" rtlCol="0" anchor="t">
            <a:noAutofit/>
          </a:bodyPr>
          <a:lstStyle/>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Trained research model</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Real-dataset evaluation</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Patient-level split, external validation</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Reader study of AI assistance</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Clinical Arabic proof-reading</a:t>
            </a:r>
          </a:p>
          <a:p>
            <a:pPr marL="177800" indent="-177800">
              <a:spcAft>
                <a:spcPts val="600"/>
              </a:spcAft>
              <a:buClr>
                <a:srgbClr val="3B4A5C"/>
              </a:buClr>
              <a:buFont typeface="+mj-lt"/>
              <a:buChar char="•"/>
            </a:pPr>
            <a:r>
              <a:rPr lang="en-US" sz="1400">
                <a:solidFill>
                  <a:srgbClr val="3B4A5C"/>
                </a:solidFill>
                <a:latin typeface="Calibri" panose="020F0502020204030204" pitchFamily="34" charset="0"/>
              </a:rPr>
              <a:t>Accessibility audit</a:t>
            </a:r>
          </a:p>
        </p:txBody>
      </p:sp>
      <p:sp>
        <p:nvSpPr>
          <p:cNvPr id="13" name="shape-187">
            <a:extLst>
              <a:ext uri="{FF2B5EF4-FFF2-40B4-BE49-F238E27FC236}">
                <a16:creationId xmlns:a16="http://schemas.microsoft.com/office/drawing/2014/main" id="{3046F4D3-15EB-8299-DFB6-ED3515E787B8}"/>
              </a:ext>
            </a:extLst>
          </p:cNvPr>
          <p:cNvSpPr/>
          <p:nvPr/>
        </p:nvSpPr>
        <p:spPr>
          <a:xfrm>
            <a:off x="609600" y="5740400"/>
            <a:ext cx="10972800" cy="558800"/>
          </a:xfrm>
          <a:prstGeom prst="rect">
            <a:avLst/>
          </a:prstGeom>
          <a:solidFill>
            <a:srgbClr val="FCFAF4"/>
          </a:solidFill>
          <a:ln w="9525">
            <a:solidFill>
              <a:srgbClr val="2A66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xt-188">
            <a:extLst>
              <a:ext uri="{FF2B5EF4-FFF2-40B4-BE49-F238E27FC236}">
                <a16:creationId xmlns:a16="http://schemas.microsoft.com/office/drawing/2014/main" id="{2E8F056E-51B6-EE4A-C765-E2AC767E3D69}"/>
              </a:ext>
            </a:extLst>
          </p:cNvPr>
          <p:cNvSpPr txBox="1"/>
          <p:nvPr/>
        </p:nvSpPr>
        <p:spPr>
          <a:xfrm>
            <a:off x="787400" y="5880100"/>
            <a:ext cx="10668000" cy="304800"/>
          </a:xfrm>
          <a:prstGeom prst="rect">
            <a:avLst/>
          </a:prstGeom>
          <a:noFill/>
        </p:spPr>
        <p:txBody>
          <a:bodyPr vert="horz" wrap="square" lIns="0" tIns="0" rIns="0" bIns="0" rtlCol="0" anchor="t">
            <a:noAutofit/>
          </a:bodyPr>
          <a:lstStyle/>
          <a:p>
            <a:r>
              <a:rPr lang="en-US" sz="1100">
                <a:solidFill>
                  <a:srgbClr val="2A665F"/>
                </a:solidFill>
                <a:latin typeface="Consolas" panose="020B0609020204030204" pitchFamily="49" charset="0"/>
              </a:rPr>
              <a:t>TESTS  </a:t>
            </a:r>
            <a:r>
              <a:rPr lang="en-US" sz="1400">
                <a:solidFill>
                  <a:srgbClr val="0A1A2C"/>
                </a:solidFill>
                <a:latin typeface="Calibri" panose="020F0502020204030204" pitchFamily="34" charset="0"/>
              </a:rPr>
              <a:t>35 of 35 browser tests passing in real Chrome · 31 unit tests passing · results in docs/TEST_RESULTS.json</a:t>
            </a:r>
          </a:p>
        </p:txBody>
      </p:sp>
      <p:sp>
        <p:nvSpPr>
          <p:cNvPr id="15" name="txt-189">
            <a:extLst>
              <a:ext uri="{FF2B5EF4-FFF2-40B4-BE49-F238E27FC236}">
                <a16:creationId xmlns:a16="http://schemas.microsoft.com/office/drawing/2014/main" id="{31DC9D96-782D-0CF7-783B-443E5CD2764C}"/>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67707B"/>
                </a:solidFill>
                <a:latin typeface="Consolas" panose="020B0609020204030204" pitchFamily="49" charset="0"/>
              </a:rPr>
              <a:t>DIAGNOSTIC INTELLIGENCE LAB (PROVISIONAL TITLE) · EDUCATIONAL PROTOTYPE · SYNTHETIC IMAGES · NO RESEARCH MODEL IMPLEMENTED</a:t>
            </a:r>
          </a:p>
        </p:txBody>
      </p:sp>
      <p:sp>
        <p:nvSpPr>
          <p:cNvPr id="16" name="txt-190">
            <a:extLst>
              <a:ext uri="{FF2B5EF4-FFF2-40B4-BE49-F238E27FC236}">
                <a16:creationId xmlns:a16="http://schemas.microsoft.com/office/drawing/2014/main" id="{BA46C3F0-D425-4DCA-D958-988F78C16C55}"/>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67707B"/>
                </a:solidFill>
                <a:latin typeface="Consolas" panose="020B0609020204030204" pitchFamily="49" charset="0"/>
              </a:rPr>
              <a:t>11</a:t>
            </a:r>
          </a:p>
        </p:txBody>
      </p:sp>
    </p:spTree>
    <p:extLst>
      <p:ext uri="{BB962C8B-B14F-4D97-AF65-F5344CB8AC3E}">
        <p14:creationId xmlns:p14="http://schemas.microsoft.com/office/powerpoint/2010/main" val="3789996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A2C"/>
        </a:solidFill>
        <a:effectLst/>
      </p:bgPr>
    </p:bg>
    <p:spTree>
      <p:nvGrpSpPr>
        <p:cNvPr id="1" name=""/>
        <p:cNvGrpSpPr/>
        <p:nvPr/>
      </p:nvGrpSpPr>
      <p:grpSpPr>
        <a:xfrm>
          <a:off x="0" y="0"/>
          <a:ext cx="0" cy="0"/>
          <a:chOff x="0" y="0"/>
          <a:chExt cx="0" cy="0"/>
        </a:xfrm>
      </p:grpSpPr>
      <p:sp>
        <p:nvSpPr>
          <p:cNvPr id="2" name="txt-191">
            <a:extLst>
              <a:ext uri="{FF2B5EF4-FFF2-40B4-BE49-F238E27FC236}">
                <a16:creationId xmlns:a16="http://schemas.microsoft.com/office/drawing/2014/main" id="{A1DB361E-703E-DA07-D4BC-927348CD4ED9}"/>
              </a:ext>
            </a:extLst>
          </p:cNvPr>
          <p:cNvSpPr txBox="1"/>
          <p:nvPr/>
        </p:nvSpPr>
        <p:spPr>
          <a:xfrm>
            <a:off x="609600" y="457200"/>
            <a:ext cx="7620000" cy="203200"/>
          </a:xfrm>
          <a:prstGeom prst="rect">
            <a:avLst/>
          </a:prstGeom>
          <a:noFill/>
        </p:spPr>
        <p:txBody>
          <a:bodyPr vert="horz" wrap="square" lIns="0" tIns="0" rIns="0" bIns="0" rtlCol="0" anchor="t">
            <a:noAutofit/>
          </a:bodyPr>
          <a:lstStyle/>
          <a:p>
            <a:r>
              <a:rPr lang="en-US" sz="1100">
                <a:solidFill>
                  <a:srgbClr val="4A9A92"/>
                </a:solidFill>
                <a:latin typeface="Consolas" panose="020B0609020204030204" pitchFamily="49" charset="0"/>
              </a:rPr>
              <a:t>11 · NEXT STEPS AND CREDITS</a:t>
            </a:r>
          </a:p>
        </p:txBody>
      </p:sp>
      <p:sp>
        <p:nvSpPr>
          <p:cNvPr id="3" name="txt-192">
            <a:extLst>
              <a:ext uri="{FF2B5EF4-FFF2-40B4-BE49-F238E27FC236}">
                <a16:creationId xmlns:a16="http://schemas.microsoft.com/office/drawing/2014/main" id="{451A4291-DE77-B50F-B48F-0814BACDF07D}"/>
              </a:ext>
            </a:extLst>
          </p:cNvPr>
          <p:cNvSpPr txBox="1"/>
          <p:nvPr/>
        </p:nvSpPr>
        <p:spPr>
          <a:xfrm>
            <a:off x="609600" y="736600"/>
            <a:ext cx="6604000" cy="1066800"/>
          </a:xfrm>
          <a:prstGeom prst="rect">
            <a:avLst/>
          </a:prstGeom>
          <a:noFill/>
        </p:spPr>
        <p:txBody>
          <a:bodyPr vert="horz" wrap="square" lIns="0" tIns="0" rIns="0" bIns="0" rtlCol="0" anchor="t">
            <a:noAutofit/>
          </a:bodyPr>
          <a:lstStyle/>
          <a:p>
            <a:pPr>
              <a:lnSpc>
                <a:spcPct val="95000"/>
              </a:lnSpc>
            </a:pPr>
            <a:r>
              <a:rPr lang="en-US" sz="3200">
                <a:solidFill>
                  <a:srgbClr val="F7F2E8"/>
                </a:solidFill>
                <a:latin typeface="Georgia" panose="02040502050405020303" pitchFamily="18" charset="0"/>
              </a:rPr>
              <a:t>The next step is data, not decoration.</a:t>
            </a:r>
          </a:p>
        </p:txBody>
      </p:sp>
      <p:sp>
        <p:nvSpPr>
          <p:cNvPr id="4" name="txt-193">
            <a:extLst>
              <a:ext uri="{FF2B5EF4-FFF2-40B4-BE49-F238E27FC236}">
                <a16:creationId xmlns:a16="http://schemas.microsoft.com/office/drawing/2014/main" id="{0DDE11B8-687B-C531-1F3A-AE84783095DD}"/>
              </a:ext>
            </a:extLst>
          </p:cNvPr>
          <p:cNvSpPr txBox="1"/>
          <p:nvPr/>
        </p:nvSpPr>
        <p:spPr>
          <a:xfrm>
            <a:off x="609600" y="2133600"/>
            <a:ext cx="508000" cy="381000"/>
          </a:xfrm>
          <a:prstGeom prst="rect">
            <a:avLst/>
          </a:prstGeom>
          <a:noFill/>
        </p:spPr>
        <p:txBody>
          <a:bodyPr vert="horz" wrap="square" lIns="0" tIns="0" rIns="0" bIns="0" rtlCol="0" anchor="t">
            <a:noAutofit/>
          </a:bodyPr>
          <a:lstStyle/>
          <a:p>
            <a:r>
              <a:rPr lang="en-US" sz="2400" i="1">
                <a:solidFill>
                  <a:srgbClr val="4A9A92"/>
                </a:solidFill>
                <a:latin typeface="Georgia" panose="02040502050405020303" pitchFamily="18" charset="0"/>
              </a:rPr>
              <a:t>01</a:t>
            </a:r>
          </a:p>
        </p:txBody>
      </p:sp>
      <p:sp>
        <p:nvSpPr>
          <p:cNvPr id="5" name="txt-194">
            <a:extLst>
              <a:ext uri="{FF2B5EF4-FFF2-40B4-BE49-F238E27FC236}">
                <a16:creationId xmlns:a16="http://schemas.microsoft.com/office/drawing/2014/main" id="{F09366EB-667C-3B32-792A-CA597352C2A7}"/>
              </a:ext>
            </a:extLst>
          </p:cNvPr>
          <p:cNvSpPr txBox="1"/>
          <p:nvPr/>
        </p:nvSpPr>
        <p:spPr>
          <a:xfrm>
            <a:off x="1219200" y="2159000"/>
            <a:ext cx="5461000" cy="635000"/>
          </a:xfrm>
          <a:prstGeom prst="rect">
            <a:avLst/>
          </a:prstGeom>
          <a:noFill/>
        </p:spPr>
        <p:txBody>
          <a:bodyPr vert="horz" wrap="square" lIns="0" tIns="0" rIns="0" bIns="0" rtlCol="0" anchor="t">
            <a:noAutofit/>
          </a:bodyPr>
          <a:lstStyle/>
          <a:p>
            <a:r>
              <a:rPr lang="en-US" sz="1500">
                <a:solidFill>
                  <a:srgbClr val="F7F2E8"/>
                </a:solidFill>
                <a:latin typeface="Calibri" panose="020F0502020204030204" pitchFamily="34" charset="0"/>
              </a:rPr>
              <a:t>Secure a licensed dataset (APTOS, EyePACS, Messidor-2 or IDRiD) and record its terms</a:t>
            </a:r>
          </a:p>
        </p:txBody>
      </p:sp>
      <p:cxnSp>
        <p:nvCxnSpPr>
          <p:cNvPr id="6" name="rule-195">
            <a:extLst>
              <a:ext uri="{FF2B5EF4-FFF2-40B4-BE49-F238E27FC236}">
                <a16:creationId xmlns:a16="http://schemas.microsoft.com/office/drawing/2014/main" id="{45813EC3-CAC2-8EAC-C5DD-8C6086C703C7}"/>
              </a:ext>
            </a:extLst>
          </p:cNvPr>
          <p:cNvCxnSpPr/>
          <p:nvPr/>
        </p:nvCxnSpPr>
        <p:spPr>
          <a:xfrm>
            <a:off x="609600" y="2768600"/>
            <a:ext cx="6070600" cy="0"/>
          </a:xfrm>
          <a:prstGeom prst="line">
            <a:avLst/>
          </a:prstGeom>
          <a:ln w="9525">
            <a:solidFill>
              <a:srgbClr val="234A73"/>
            </a:solidFill>
          </a:ln>
        </p:spPr>
        <p:style>
          <a:lnRef idx="2">
            <a:schemeClr val="accent1"/>
          </a:lnRef>
          <a:fillRef idx="0">
            <a:schemeClr val="accent1"/>
          </a:fillRef>
          <a:effectRef idx="1">
            <a:schemeClr val="accent1"/>
          </a:effectRef>
          <a:fontRef idx="minor">
            <a:schemeClr val="tx1"/>
          </a:fontRef>
        </p:style>
      </p:cxnSp>
      <p:sp>
        <p:nvSpPr>
          <p:cNvPr id="7" name="txt-196">
            <a:extLst>
              <a:ext uri="{FF2B5EF4-FFF2-40B4-BE49-F238E27FC236}">
                <a16:creationId xmlns:a16="http://schemas.microsoft.com/office/drawing/2014/main" id="{BC0C6FDD-5E77-8819-F26B-A3074E6D10D0}"/>
              </a:ext>
            </a:extLst>
          </p:cNvPr>
          <p:cNvSpPr txBox="1"/>
          <p:nvPr/>
        </p:nvSpPr>
        <p:spPr>
          <a:xfrm>
            <a:off x="609600" y="2844800"/>
            <a:ext cx="508000" cy="381000"/>
          </a:xfrm>
          <a:prstGeom prst="rect">
            <a:avLst/>
          </a:prstGeom>
          <a:noFill/>
        </p:spPr>
        <p:txBody>
          <a:bodyPr vert="horz" wrap="square" lIns="0" tIns="0" rIns="0" bIns="0" rtlCol="0" anchor="t">
            <a:noAutofit/>
          </a:bodyPr>
          <a:lstStyle/>
          <a:p>
            <a:r>
              <a:rPr lang="en-US" sz="2400" i="1">
                <a:solidFill>
                  <a:srgbClr val="4A9A92"/>
                </a:solidFill>
                <a:latin typeface="Georgia" panose="02040502050405020303" pitchFamily="18" charset="0"/>
              </a:rPr>
              <a:t>02</a:t>
            </a:r>
          </a:p>
        </p:txBody>
      </p:sp>
      <p:sp>
        <p:nvSpPr>
          <p:cNvPr id="8" name="txt-197">
            <a:extLst>
              <a:ext uri="{FF2B5EF4-FFF2-40B4-BE49-F238E27FC236}">
                <a16:creationId xmlns:a16="http://schemas.microsoft.com/office/drawing/2014/main" id="{56CAA5E6-B730-1835-B99C-401C62315722}"/>
              </a:ext>
            </a:extLst>
          </p:cNvPr>
          <p:cNvSpPr txBox="1"/>
          <p:nvPr/>
        </p:nvSpPr>
        <p:spPr>
          <a:xfrm>
            <a:off x="1219200" y="2870200"/>
            <a:ext cx="5461000" cy="635000"/>
          </a:xfrm>
          <a:prstGeom prst="rect">
            <a:avLst/>
          </a:prstGeom>
          <a:noFill/>
        </p:spPr>
        <p:txBody>
          <a:bodyPr vert="horz" wrap="square" lIns="0" tIns="0" rIns="0" bIns="0" rtlCol="0" anchor="t">
            <a:noAutofit/>
          </a:bodyPr>
          <a:lstStyle/>
          <a:p>
            <a:r>
              <a:rPr lang="en-US" sz="1500">
                <a:solidFill>
                  <a:srgbClr val="F7F2E8"/>
                </a:solidFill>
                <a:latin typeface="Calibri" panose="020F0502020204030204" pitchFamily="34" charset="0"/>
              </a:rPr>
              <a:t>Build a patient-level split manifest and remove near-duplicates</a:t>
            </a:r>
          </a:p>
        </p:txBody>
      </p:sp>
      <p:cxnSp>
        <p:nvCxnSpPr>
          <p:cNvPr id="9" name="rule-198">
            <a:extLst>
              <a:ext uri="{FF2B5EF4-FFF2-40B4-BE49-F238E27FC236}">
                <a16:creationId xmlns:a16="http://schemas.microsoft.com/office/drawing/2014/main" id="{97E479C5-0F0C-47A4-35E1-4E273ACB0896}"/>
              </a:ext>
            </a:extLst>
          </p:cNvPr>
          <p:cNvCxnSpPr/>
          <p:nvPr/>
        </p:nvCxnSpPr>
        <p:spPr>
          <a:xfrm>
            <a:off x="609600" y="3479800"/>
            <a:ext cx="6070600" cy="0"/>
          </a:xfrm>
          <a:prstGeom prst="line">
            <a:avLst/>
          </a:prstGeom>
          <a:ln w="9525">
            <a:solidFill>
              <a:srgbClr val="234A73"/>
            </a:solidFill>
          </a:ln>
        </p:spPr>
        <p:style>
          <a:lnRef idx="2">
            <a:schemeClr val="accent1"/>
          </a:lnRef>
          <a:fillRef idx="0">
            <a:schemeClr val="accent1"/>
          </a:fillRef>
          <a:effectRef idx="1">
            <a:schemeClr val="accent1"/>
          </a:effectRef>
          <a:fontRef idx="minor">
            <a:schemeClr val="tx1"/>
          </a:fontRef>
        </p:style>
      </p:cxnSp>
      <p:sp>
        <p:nvSpPr>
          <p:cNvPr id="10" name="txt-199">
            <a:extLst>
              <a:ext uri="{FF2B5EF4-FFF2-40B4-BE49-F238E27FC236}">
                <a16:creationId xmlns:a16="http://schemas.microsoft.com/office/drawing/2014/main" id="{87576CA8-7EA8-6734-7D39-4C909CBDFEEC}"/>
              </a:ext>
            </a:extLst>
          </p:cNvPr>
          <p:cNvSpPr txBox="1"/>
          <p:nvPr/>
        </p:nvSpPr>
        <p:spPr>
          <a:xfrm>
            <a:off x="609600" y="3556000"/>
            <a:ext cx="508000" cy="381000"/>
          </a:xfrm>
          <a:prstGeom prst="rect">
            <a:avLst/>
          </a:prstGeom>
          <a:noFill/>
        </p:spPr>
        <p:txBody>
          <a:bodyPr vert="horz" wrap="square" lIns="0" tIns="0" rIns="0" bIns="0" rtlCol="0" anchor="t">
            <a:noAutofit/>
          </a:bodyPr>
          <a:lstStyle/>
          <a:p>
            <a:r>
              <a:rPr lang="en-US" sz="2400" i="1">
                <a:solidFill>
                  <a:srgbClr val="4A9A92"/>
                </a:solidFill>
                <a:latin typeface="Georgia" panose="02040502050405020303" pitchFamily="18" charset="0"/>
              </a:rPr>
              <a:t>03</a:t>
            </a:r>
          </a:p>
        </p:txBody>
      </p:sp>
      <p:sp>
        <p:nvSpPr>
          <p:cNvPr id="11" name="txt-200">
            <a:extLst>
              <a:ext uri="{FF2B5EF4-FFF2-40B4-BE49-F238E27FC236}">
                <a16:creationId xmlns:a16="http://schemas.microsoft.com/office/drawing/2014/main" id="{5C7724CC-A3CC-DD10-3E0C-6ECB82F92D14}"/>
              </a:ext>
            </a:extLst>
          </p:cNvPr>
          <p:cNvSpPr txBox="1"/>
          <p:nvPr/>
        </p:nvSpPr>
        <p:spPr>
          <a:xfrm>
            <a:off x="1219200" y="3581400"/>
            <a:ext cx="5461000" cy="635000"/>
          </a:xfrm>
          <a:prstGeom prst="rect">
            <a:avLst/>
          </a:prstGeom>
          <a:noFill/>
        </p:spPr>
        <p:txBody>
          <a:bodyPr vert="horz" wrap="square" lIns="0" tIns="0" rIns="0" bIns="0" rtlCol="0" anchor="t">
            <a:noAutofit/>
          </a:bodyPr>
          <a:lstStyle/>
          <a:p>
            <a:r>
              <a:rPr lang="en-US" sz="1500">
                <a:solidFill>
                  <a:srgbClr val="F7F2E8"/>
                </a:solidFill>
                <a:latin typeface="Calibri" panose="020F0502020204030204" pitchFamily="34" charset="0"/>
              </a:rPr>
              <a:t>Train a documented transfer-learning baseline with an abstain output</a:t>
            </a:r>
          </a:p>
        </p:txBody>
      </p:sp>
      <p:cxnSp>
        <p:nvCxnSpPr>
          <p:cNvPr id="12" name="rule-201">
            <a:extLst>
              <a:ext uri="{FF2B5EF4-FFF2-40B4-BE49-F238E27FC236}">
                <a16:creationId xmlns:a16="http://schemas.microsoft.com/office/drawing/2014/main" id="{D0B08443-60E1-3B5D-A4C2-D9994D558D0D}"/>
              </a:ext>
            </a:extLst>
          </p:cNvPr>
          <p:cNvCxnSpPr/>
          <p:nvPr/>
        </p:nvCxnSpPr>
        <p:spPr>
          <a:xfrm>
            <a:off x="609600" y="4191000"/>
            <a:ext cx="6070600" cy="0"/>
          </a:xfrm>
          <a:prstGeom prst="line">
            <a:avLst/>
          </a:prstGeom>
          <a:ln w="9525">
            <a:solidFill>
              <a:srgbClr val="234A73"/>
            </a:solidFill>
          </a:ln>
        </p:spPr>
        <p:style>
          <a:lnRef idx="2">
            <a:schemeClr val="accent1"/>
          </a:lnRef>
          <a:fillRef idx="0">
            <a:schemeClr val="accent1"/>
          </a:fillRef>
          <a:effectRef idx="1">
            <a:schemeClr val="accent1"/>
          </a:effectRef>
          <a:fontRef idx="minor">
            <a:schemeClr val="tx1"/>
          </a:fontRef>
        </p:style>
      </p:cxnSp>
      <p:sp>
        <p:nvSpPr>
          <p:cNvPr id="13" name="txt-202">
            <a:extLst>
              <a:ext uri="{FF2B5EF4-FFF2-40B4-BE49-F238E27FC236}">
                <a16:creationId xmlns:a16="http://schemas.microsoft.com/office/drawing/2014/main" id="{7E4D7D19-ABDB-F08F-FF3C-63ED863840F5}"/>
              </a:ext>
            </a:extLst>
          </p:cNvPr>
          <p:cNvSpPr txBox="1"/>
          <p:nvPr/>
        </p:nvSpPr>
        <p:spPr>
          <a:xfrm>
            <a:off x="609600" y="4267200"/>
            <a:ext cx="508000" cy="381000"/>
          </a:xfrm>
          <a:prstGeom prst="rect">
            <a:avLst/>
          </a:prstGeom>
          <a:noFill/>
        </p:spPr>
        <p:txBody>
          <a:bodyPr vert="horz" wrap="square" lIns="0" tIns="0" rIns="0" bIns="0" rtlCol="0" anchor="t">
            <a:noAutofit/>
          </a:bodyPr>
          <a:lstStyle/>
          <a:p>
            <a:r>
              <a:rPr lang="en-US" sz="2400" i="1">
                <a:solidFill>
                  <a:srgbClr val="4A9A92"/>
                </a:solidFill>
                <a:latin typeface="Georgia" panose="02040502050405020303" pitchFamily="18" charset="0"/>
              </a:rPr>
              <a:t>04</a:t>
            </a:r>
          </a:p>
        </p:txBody>
      </p:sp>
      <p:sp>
        <p:nvSpPr>
          <p:cNvPr id="14" name="txt-203">
            <a:extLst>
              <a:ext uri="{FF2B5EF4-FFF2-40B4-BE49-F238E27FC236}">
                <a16:creationId xmlns:a16="http://schemas.microsoft.com/office/drawing/2014/main" id="{7653EEF4-BA12-B34A-2881-4B3D1DC50B08}"/>
              </a:ext>
            </a:extLst>
          </p:cNvPr>
          <p:cNvSpPr txBox="1"/>
          <p:nvPr/>
        </p:nvSpPr>
        <p:spPr>
          <a:xfrm>
            <a:off x="1219200" y="4292600"/>
            <a:ext cx="5461000" cy="635000"/>
          </a:xfrm>
          <a:prstGeom prst="rect">
            <a:avLst/>
          </a:prstGeom>
          <a:noFill/>
        </p:spPr>
        <p:txBody>
          <a:bodyPr vert="horz" wrap="square" lIns="0" tIns="0" rIns="0" bIns="0" rtlCol="0" anchor="t">
            <a:noAutofit/>
          </a:bodyPr>
          <a:lstStyle/>
          <a:p>
            <a:r>
              <a:rPr lang="en-US" sz="1500">
                <a:solidFill>
                  <a:srgbClr val="F7F2E8"/>
                </a:solidFill>
                <a:latin typeface="Calibri" panose="020F0502020204030204" pitchFamily="34" charset="0"/>
              </a:rPr>
              <a:t>Fix the threshold on validation data; spend the test partition once</a:t>
            </a:r>
          </a:p>
        </p:txBody>
      </p:sp>
      <p:cxnSp>
        <p:nvCxnSpPr>
          <p:cNvPr id="15" name="rule-204">
            <a:extLst>
              <a:ext uri="{FF2B5EF4-FFF2-40B4-BE49-F238E27FC236}">
                <a16:creationId xmlns:a16="http://schemas.microsoft.com/office/drawing/2014/main" id="{746EEE68-69FD-EDE5-C455-74B6EF8D92C9}"/>
              </a:ext>
            </a:extLst>
          </p:cNvPr>
          <p:cNvCxnSpPr/>
          <p:nvPr/>
        </p:nvCxnSpPr>
        <p:spPr>
          <a:xfrm>
            <a:off x="609600" y="4902200"/>
            <a:ext cx="6070600" cy="0"/>
          </a:xfrm>
          <a:prstGeom prst="line">
            <a:avLst/>
          </a:prstGeom>
          <a:ln w="9525">
            <a:solidFill>
              <a:srgbClr val="234A73"/>
            </a:solidFill>
          </a:ln>
        </p:spPr>
        <p:style>
          <a:lnRef idx="2">
            <a:schemeClr val="accent1"/>
          </a:lnRef>
          <a:fillRef idx="0">
            <a:schemeClr val="accent1"/>
          </a:fillRef>
          <a:effectRef idx="1">
            <a:schemeClr val="accent1"/>
          </a:effectRef>
          <a:fontRef idx="minor">
            <a:schemeClr val="tx1"/>
          </a:fontRef>
        </p:style>
      </p:cxnSp>
      <p:sp>
        <p:nvSpPr>
          <p:cNvPr id="16" name="txt-205">
            <a:extLst>
              <a:ext uri="{FF2B5EF4-FFF2-40B4-BE49-F238E27FC236}">
                <a16:creationId xmlns:a16="http://schemas.microsoft.com/office/drawing/2014/main" id="{3FB1A8DF-5FBF-73CF-ECF4-EFEDBE2ED56E}"/>
              </a:ext>
            </a:extLst>
          </p:cNvPr>
          <p:cNvSpPr txBox="1"/>
          <p:nvPr/>
        </p:nvSpPr>
        <p:spPr>
          <a:xfrm>
            <a:off x="609600" y="4978400"/>
            <a:ext cx="508000" cy="381000"/>
          </a:xfrm>
          <a:prstGeom prst="rect">
            <a:avLst/>
          </a:prstGeom>
          <a:noFill/>
        </p:spPr>
        <p:txBody>
          <a:bodyPr vert="horz" wrap="square" lIns="0" tIns="0" rIns="0" bIns="0" rtlCol="0" anchor="t">
            <a:noAutofit/>
          </a:bodyPr>
          <a:lstStyle/>
          <a:p>
            <a:r>
              <a:rPr lang="en-US" sz="2400" i="1">
                <a:solidFill>
                  <a:srgbClr val="4A9A92"/>
                </a:solidFill>
                <a:latin typeface="Georgia" panose="02040502050405020303" pitchFamily="18" charset="0"/>
              </a:rPr>
              <a:t>05</a:t>
            </a:r>
          </a:p>
        </p:txBody>
      </p:sp>
      <p:sp>
        <p:nvSpPr>
          <p:cNvPr id="17" name="txt-206">
            <a:extLst>
              <a:ext uri="{FF2B5EF4-FFF2-40B4-BE49-F238E27FC236}">
                <a16:creationId xmlns:a16="http://schemas.microsoft.com/office/drawing/2014/main" id="{F4A84AE2-F4A8-1833-9E9F-823C7623E5D2}"/>
              </a:ext>
            </a:extLst>
          </p:cNvPr>
          <p:cNvSpPr txBox="1"/>
          <p:nvPr/>
        </p:nvSpPr>
        <p:spPr>
          <a:xfrm>
            <a:off x="1219200" y="5003800"/>
            <a:ext cx="5461000" cy="635000"/>
          </a:xfrm>
          <a:prstGeom prst="rect">
            <a:avLst/>
          </a:prstGeom>
          <a:noFill/>
        </p:spPr>
        <p:txBody>
          <a:bodyPr vert="horz" wrap="square" lIns="0" tIns="0" rIns="0" bIns="0" rtlCol="0" anchor="t">
            <a:noAutofit/>
          </a:bodyPr>
          <a:lstStyle/>
          <a:p>
            <a:r>
              <a:rPr lang="en-US" sz="1500">
                <a:solidFill>
                  <a:srgbClr val="F7F2E8"/>
                </a:solidFill>
                <a:latin typeface="Calibri" panose="020F0502020204030204" pitchFamily="34" charset="0"/>
              </a:rPr>
              <a:t>Only then: a controlled reader study of AI assistance</a:t>
            </a:r>
          </a:p>
        </p:txBody>
      </p:sp>
      <p:cxnSp>
        <p:nvCxnSpPr>
          <p:cNvPr id="18" name="rule-207">
            <a:extLst>
              <a:ext uri="{FF2B5EF4-FFF2-40B4-BE49-F238E27FC236}">
                <a16:creationId xmlns:a16="http://schemas.microsoft.com/office/drawing/2014/main" id="{20390948-94A5-A8F4-7F0A-E0F21B8401CA}"/>
              </a:ext>
            </a:extLst>
          </p:cNvPr>
          <p:cNvCxnSpPr/>
          <p:nvPr/>
        </p:nvCxnSpPr>
        <p:spPr>
          <a:xfrm>
            <a:off x="609600" y="5613400"/>
            <a:ext cx="6070600" cy="0"/>
          </a:xfrm>
          <a:prstGeom prst="line">
            <a:avLst/>
          </a:prstGeom>
          <a:ln w="9525">
            <a:solidFill>
              <a:srgbClr val="234A73"/>
            </a:solidFill>
          </a:ln>
        </p:spPr>
        <p:style>
          <a:lnRef idx="2">
            <a:schemeClr val="accent1"/>
          </a:lnRef>
          <a:fillRef idx="0">
            <a:schemeClr val="accent1"/>
          </a:fillRef>
          <a:effectRef idx="1">
            <a:schemeClr val="accent1"/>
          </a:effectRef>
          <a:fontRef idx="minor">
            <a:schemeClr val="tx1"/>
          </a:fontRef>
        </p:style>
      </p:cxnSp>
      <p:pic>
        <p:nvPicPr>
          <p:cNvPr id="20" name="pic-208" descr="Screenshot of the prototype entry page in Arabic, laid out right to left.">
            <a:extLst>
              <a:ext uri="{FF2B5EF4-FFF2-40B4-BE49-F238E27FC236}">
                <a16:creationId xmlns:a16="http://schemas.microsoft.com/office/drawing/2014/main" id="{A2534251-C14A-36DA-EB7B-D41D174918A2}"/>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a:xfrm>
            <a:off x="7239000" y="508000"/>
            <a:ext cx="4334933" cy="2438400"/>
          </a:xfrm>
          <a:prstGeom prst="rect">
            <a:avLst/>
          </a:prstGeom>
          <a:ln w="9525">
            <a:solidFill>
              <a:srgbClr val="234A73"/>
            </a:solidFill>
          </a:ln>
        </p:spPr>
      </p:pic>
      <p:sp>
        <p:nvSpPr>
          <p:cNvPr id="21" name="txt-209">
            <a:extLst>
              <a:ext uri="{FF2B5EF4-FFF2-40B4-BE49-F238E27FC236}">
                <a16:creationId xmlns:a16="http://schemas.microsoft.com/office/drawing/2014/main" id="{23D16975-4473-FB75-882E-3C239AB19CAE}"/>
              </a:ext>
            </a:extLst>
          </p:cNvPr>
          <p:cNvSpPr txBox="1"/>
          <p:nvPr/>
        </p:nvSpPr>
        <p:spPr>
          <a:xfrm>
            <a:off x="7239000" y="2997200"/>
            <a:ext cx="4343400" cy="3556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rPr>
              <a:t>Screenshot · Arabic (RTL) — same caveats in both languages</a:t>
            </a:r>
          </a:p>
        </p:txBody>
      </p:sp>
      <p:sp>
        <p:nvSpPr>
          <p:cNvPr id="22" name="txt-210">
            <a:extLst>
              <a:ext uri="{FF2B5EF4-FFF2-40B4-BE49-F238E27FC236}">
                <a16:creationId xmlns:a16="http://schemas.microsoft.com/office/drawing/2014/main" id="{E5899883-EAC8-67F5-0898-61D652DD4501}"/>
              </a:ext>
            </a:extLst>
          </p:cNvPr>
          <p:cNvSpPr txBox="1"/>
          <p:nvPr/>
        </p:nvSpPr>
        <p:spPr>
          <a:xfrm>
            <a:off x="7239000" y="3606800"/>
            <a:ext cx="4343400" cy="2540000"/>
          </a:xfrm>
          <a:prstGeom prst="rect">
            <a:avLst/>
          </a:prstGeom>
          <a:noFill/>
        </p:spPr>
        <p:txBody>
          <a:bodyPr vert="horz" wrap="square" lIns="0" tIns="0" rIns="0" bIns="0" rtlCol="0" anchor="t">
            <a:noAutofit/>
          </a:bodyPr>
          <a:lstStyle/>
          <a:p>
            <a:pPr>
              <a:spcAft>
                <a:spcPts val="600"/>
              </a:spcAft>
            </a:pPr>
            <a:r>
              <a:rPr lang="en-US" sz="1100">
                <a:solidFill>
                  <a:srgbClr val="F7F2E8"/>
                </a:solidFill>
                <a:latin typeface="Consolas" panose="020B0609020204030204" pitchFamily="49" charset="0"/>
              </a:rPr>
              <a:t>MAY AHMED MOURAD · G12</a:t>
            </a:r>
          </a:p>
          <a:p>
            <a:pPr>
              <a:spcAft>
                <a:spcPts val="600"/>
              </a:spcAft>
            </a:pPr>
            <a:r>
              <a:rPr lang="en-US" sz="1100">
                <a:solidFill>
                  <a:srgbClr val="F7F2E8"/>
                </a:solidFill>
                <a:latin typeface="Consolas" panose="020B0609020204030204" pitchFamily="49" charset="0"/>
              </a:rPr>
              <a:t>SHAMSA FARIS ALMAZROUEI · G12</a:t>
            </a:r>
          </a:p>
          <a:p>
            <a:pPr>
              <a:spcAft>
                <a:spcPts val="600"/>
              </a:spcAft>
            </a:pPr>
            <a:r>
              <a:rPr lang="en-US" sz="1100">
                <a:solidFill>
                  <a:srgbClr val="F7F2E8"/>
                </a:solidFill>
                <a:latin typeface="Consolas" panose="020B0609020204030204" pitchFamily="49" charset="0"/>
              </a:rPr>
              <a:t>FATIMA MOHAMED ALMAZROUEI · G12</a:t>
            </a:r>
          </a:p>
          <a:p>
            <a:pPr>
              <a:spcAft>
                <a:spcPts val="600"/>
              </a:spcAft>
            </a:pPr>
            <a:r>
              <a:rPr lang="en-US" sz="1400">
                <a:solidFill>
                  <a:srgbClr val="C9CFD6"/>
                </a:solidFill>
                <a:latin typeface="Calibri" panose="020F0502020204030204" pitchFamily="34" charset="0"/>
              </a:rPr>
              <a:t>ADNOC Schools — Madinat Zayed</a:t>
            </a:r>
          </a:p>
          <a:p>
            <a:pPr>
              <a:spcAft>
                <a:spcPts val="600"/>
              </a:spcAft>
            </a:pPr>
            <a:r>
              <a:rPr lang="en-US" sz="1200">
                <a:solidFill>
                  <a:srgbClr val="9DB1C4"/>
                </a:solidFill>
                <a:latin typeface="Calibri" panose="020F0502020204030204" pitchFamily="34" charset="0"/>
              </a:rPr>
              <a:t>A student project. No endorsement by ADNOC or ADNOC Schools is implied. Not a medical device.</a:t>
            </a:r>
          </a:p>
        </p:txBody>
      </p:sp>
      <p:sp>
        <p:nvSpPr>
          <p:cNvPr id="23" name="txt-211">
            <a:extLst>
              <a:ext uri="{FF2B5EF4-FFF2-40B4-BE49-F238E27FC236}">
                <a16:creationId xmlns:a16="http://schemas.microsoft.com/office/drawing/2014/main" id="{112DA937-A6A9-D24C-BD23-8DDADE942687}"/>
              </a:ext>
            </a:extLst>
          </p:cNvPr>
          <p:cNvSpPr txBox="1"/>
          <p:nvPr/>
        </p:nvSpPr>
        <p:spPr>
          <a:xfrm>
            <a:off x="609600" y="5867400"/>
            <a:ext cx="6096000" cy="5080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rPr>
              <a:t>Sources: </a:t>
            </a:r>
            <a:r>
              <a:rPr lang="en-US" sz="1200">
                <a:solidFill>
                  <a:srgbClr val="C9CFD6"/>
                </a:solidFill>
                <a:latin typeface="Calibri" panose="020F0502020204030204" pitchFamily="34" charset="0"/>
              </a:rPr>
              <a:t>Wilkinson et al., Ophthalmology 2003 (ICDR) · ETDRS Report 10, 1991</a:t>
            </a:r>
          </a:p>
        </p:txBody>
      </p:sp>
      <p:sp>
        <p:nvSpPr>
          <p:cNvPr id="24" name="txt-212">
            <a:extLst>
              <a:ext uri="{FF2B5EF4-FFF2-40B4-BE49-F238E27FC236}">
                <a16:creationId xmlns:a16="http://schemas.microsoft.com/office/drawing/2014/main" id="{AFECDC8B-D51B-1AE9-4685-72867827E855}"/>
              </a:ext>
            </a:extLst>
          </p:cNvPr>
          <p:cNvSpPr txBox="1"/>
          <p:nvPr/>
        </p:nvSpPr>
        <p:spPr>
          <a:xfrm>
            <a:off x="609600" y="6502400"/>
            <a:ext cx="9652000" cy="177800"/>
          </a:xfrm>
          <a:prstGeom prst="rect">
            <a:avLst/>
          </a:prstGeom>
          <a:noFill/>
        </p:spPr>
        <p:txBody>
          <a:bodyPr vert="horz" wrap="square" lIns="0" tIns="0" rIns="0" bIns="0" rtlCol="0" anchor="t">
            <a:noAutofit/>
          </a:bodyPr>
          <a:lstStyle/>
          <a:p>
            <a:r>
              <a:rPr lang="en-US" sz="1000">
                <a:solidFill>
                  <a:srgbClr val="9DB1C4"/>
                </a:solidFill>
                <a:latin typeface="Consolas" panose="020B0609020204030204" pitchFamily="49" charset="0"/>
              </a:rPr>
              <a:t>DIAGNOSTIC INTELLIGENCE LAB (PROVISIONAL TITLE) · EDUCATIONAL PROTOTYPE · SYNTHETIC IMAGES · NO RESEARCH MODEL IMPLEMENTED</a:t>
            </a:r>
          </a:p>
        </p:txBody>
      </p:sp>
      <p:sp>
        <p:nvSpPr>
          <p:cNvPr id="25" name="txt-213">
            <a:extLst>
              <a:ext uri="{FF2B5EF4-FFF2-40B4-BE49-F238E27FC236}">
                <a16:creationId xmlns:a16="http://schemas.microsoft.com/office/drawing/2014/main" id="{B94BB258-3304-8B93-4383-5E8A1D13D969}"/>
              </a:ext>
            </a:extLst>
          </p:cNvPr>
          <p:cNvSpPr txBox="1"/>
          <p:nvPr/>
        </p:nvSpPr>
        <p:spPr>
          <a:xfrm>
            <a:off x="11176000" y="6502400"/>
            <a:ext cx="406400" cy="177800"/>
          </a:xfrm>
          <a:prstGeom prst="rect">
            <a:avLst/>
          </a:prstGeom>
          <a:noFill/>
        </p:spPr>
        <p:txBody>
          <a:bodyPr vert="horz" wrap="square" lIns="0" tIns="0" rIns="0" bIns="0" rtlCol="0" anchor="t">
            <a:noAutofit/>
          </a:bodyPr>
          <a:lstStyle/>
          <a:p>
            <a:pPr algn="r"/>
            <a:r>
              <a:rPr lang="en-US" sz="1000">
                <a:solidFill>
                  <a:srgbClr val="9DB1C4"/>
                </a:solidFill>
                <a:latin typeface="Consolas" panose="020B0609020204030204" pitchFamily="49" charset="0"/>
              </a:rPr>
              <a:t>12</a:t>
            </a:r>
          </a:p>
        </p:txBody>
      </p:sp>
    </p:spTree>
    <p:extLst>
      <p:ext uri="{BB962C8B-B14F-4D97-AF65-F5344CB8AC3E}">
        <p14:creationId xmlns:p14="http://schemas.microsoft.com/office/powerpoint/2010/main" val="1428100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2499</Words>
  <Application>Microsoft Office PowerPoint</Application>
  <PresentationFormat>Custom</PresentationFormat>
  <Paragraphs>224</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Diagnostic Intelligence Lab student team</dc:creator>
  <cp:lastModifiedBy>Diagnostic Intelligence Lab student team</cp:lastModifiedBy>
  <cp:revision>1</cp:revision>
  <dcterms:created xsi:type="dcterms:W3CDTF">2026-10-26T20:00:38Z</dcterms:created>
  <dcterms:modified xsi:type="dcterms:W3CDTF">2026-10-26T20:00:38Z</dcterms:modified>
</cp:coreProperties>
</file>