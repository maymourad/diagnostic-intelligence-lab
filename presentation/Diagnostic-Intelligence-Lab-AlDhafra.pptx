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3CDA6E-643B-41DB-8783-EACEC452C0E0}" type="datetimeFigureOut">
              <a:rPr lang="en-US" smtClean="0"/>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1C46FA-73A0-4A64-A102-44EB428800BF}" type="slidenum">
              <a:rPr lang="en-US" smtClean="0"/>
              <a:t>‹#›</a:t>
            </a:fld>
            <a:endParaRPr lang="en-US"/>
          </a:p>
        </p:txBody>
      </p:sp>
    </p:spTree>
    <p:extLst>
      <p:ext uri="{BB962C8B-B14F-4D97-AF65-F5344CB8AC3E}">
        <p14:creationId xmlns:p14="http://schemas.microsoft.com/office/powerpoint/2010/main" val="4263147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May Ahmed Mourad (Grade 12) · target 30 s · slide 1/12
Good morning. We are May, Shamsa and Fatima, from ADNOC Schools, Madinat Zayed, and this is Diagnostic Intelligence Lab, our entry in the Accurate Diagnosis category. Before we trust a diagnosis, we must understand how it was reached. Ours is a student research prototype that asks a harder question than “can AI diagnose?”: when a diagnosis is read from an image, how accurately is it read, and how would anyone know? The eye behind us is a three-dimensional model we built ourselves. A schematic, not a patient.</a:t>
            </a:r>
          </a:p>
        </p:txBody>
      </p:sp>
      <p:sp>
        <p:nvSpPr>
          <p:cNvPr id="4" name="Slide Number Placeholder 3"/>
          <p:cNvSpPr>
            <a:spLocks noGrp="1"/>
          </p:cNvSpPr>
          <p:nvPr>
            <p:ph type="sldNum" sz="quarter" idx="5"/>
          </p:nvPr>
        </p:nvSpPr>
        <p:spPr/>
        <p:txBody>
          <a:bodyPr/>
          <a:lstStyle/>
          <a:p>
            <a:fld id="{641C46FA-73A0-4A64-A102-44EB428800BF}" type="slidenum">
              <a:rPr lang="en-US" smtClean="0"/>
              <a:t>1</a:t>
            </a:fld>
            <a:endParaRPr lang="en-US"/>
          </a:p>
        </p:txBody>
      </p:sp>
    </p:spTree>
    <p:extLst>
      <p:ext uri="{BB962C8B-B14F-4D97-AF65-F5344CB8AC3E}">
        <p14:creationId xmlns:p14="http://schemas.microsoft.com/office/powerpoint/2010/main" val="2673776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May Ahmed Mourad (Grade 12) · target 40 s · slide 2/12
Here is the problem. A medical prediction can be wrong, uncertain, or built on a poor image or too little evidence. So the challenge is not producing a label. It is knowing whether the label can be trusted. The scale shows why. About one in five people with diabetes has diabetic retinopathy, roughly one hundred and three million adults in 2020, and the UAE has around one point three million adults with diabetes. Screening at that scale only works if its accuracy is understood. A confident prediction is not necessarily an accurate diagnosis.</a:t>
            </a:r>
          </a:p>
        </p:txBody>
      </p:sp>
      <p:sp>
        <p:nvSpPr>
          <p:cNvPr id="4" name="Slide Number Placeholder 3"/>
          <p:cNvSpPr>
            <a:spLocks noGrp="1"/>
          </p:cNvSpPr>
          <p:nvPr>
            <p:ph type="sldNum" sz="quarter" idx="5"/>
          </p:nvPr>
        </p:nvSpPr>
        <p:spPr/>
        <p:txBody>
          <a:bodyPr/>
          <a:lstStyle/>
          <a:p>
            <a:fld id="{641C46FA-73A0-4A64-A102-44EB428800BF}" type="slidenum">
              <a:rPr lang="en-US" smtClean="0"/>
              <a:t>2</a:t>
            </a:fld>
            <a:endParaRPr lang="en-US"/>
          </a:p>
        </p:txBody>
      </p:sp>
    </p:spTree>
    <p:extLst>
      <p:ext uri="{BB962C8B-B14F-4D97-AF65-F5344CB8AC3E}">
        <p14:creationId xmlns:p14="http://schemas.microsoft.com/office/powerpoint/2010/main" val="2368450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May Ahmed Mourad (Grade 12) · target 28 s · slide 3/12
Our research question is: how accurately is a diagnosis read, and how can we measure that accuracy? Diagnostic Intelligence Lab is an interactive research environment for exactly that. A retinal case enters on the left. The reader inspects the evidence, records an interpretation, and only then compares it with a reference. We then ask how reliable the evidence was, and a human reviews the decision. Every box on this slide is a real module of our published prototype.</a:t>
            </a:r>
          </a:p>
        </p:txBody>
      </p:sp>
      <p:sp>
        <p:nvSpPr>
          <p:cNvPr id="4" name="Slide Number Placeholder 3"/>
          <p:cNvSpPr>
            <a:spLocks noGrp="1"/>
          </p:cNvSpPr>
          <p:nvPr>
            <p:ph type="sldNum" sz="quarter" idx="5"/>
          </p:nvPr>
        </p:nvSpPr>
        <p:spPr/>
        <p:txBody>
          <a:bodyPr/>
          <a:lstStyle/>
          <a:p>
            <a:fld id="{641C46FA-73A0-4A64-A102-44EB428800BF}" type="slidenum">
              <a:rPr lang="en-US" smtClean="0"/>
              <a:t>3</a:t>
            </a:fld>
            <a:endParaRPr lang="en-US"/>
          </a:p>
        </p:txBody>
      </p:sp>
    </p:spTree>
    <p:extLst>
      <p:ext uri="{BB962C8B-B14F-4D97-AF65-F5344CB8AC3E}">
        <p14:creationId xmlns:p14="http://schemas.microsoft.com/office/powerpoint/2010/main" val="4058732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May Ahmed Mourad (Grade 12) · target 32 s · slide 4/12
Why the retina? A retinal photograph makes disease visible. Lesions can be seen, counted and located, and the screening question is clear: refer, or re-screen. That creates two different errors. A false negative sends disease home. A false positive sends a healthy person to a clinic. Our reference labels follow the ICDR scale. This image is a synthetic teaching illustration drawn by our own code. It is not a patient. Retinal screening is our first use case, not the limit of the platform.
HAND-OVER: Shamsa will now show how the platform lets you inspect the evidence.</a:t>
            </a:r>
          </a:p>
        </p:txBody>
      </p:sp>
      <p:sp>
        <p:nvSpPr>
          <p:cNvPr id="4" name="Slide Number Placeholder 3"/>
          <p:cNvSpPr>
            <a:spLocks noGrp="1"/>
          </p:cNvSpPr>
          <p:nvPr>
            <p:ph type="sldNum" sz="quarter" idx="5"/>
          </p:nvPr>
        </p:nvSpPr>
        <p:spPr/>
        <p:txBody>
          <a:bodyPr/>
          <a:lstStyle/>
          <a:p>
            <a:fld id="{641C46FA-73A0-4A64-A102-44EB428800BF}" type="slidenum">
              <a:rPr lang="en-US" smtClean="0"/>
              <a:t>4</a:t>
            </a:fld>
            <a:endParaRPr lang="en-US"/>
          </a:p>
        </p:txBody>
      </p:sp>
    </p:spTree>
    <p:extLst>
      <p:ext uri="{BB962C8B-B14F-4D97-AF65-F5344CB8AC3E}">
        <p14:creationId xmlns:p14="http://schemas.microsoft.com/office/powerpoint/2010/main" val="3150814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Shamsa Faris Almazrouei (Grade 12) · target 35 s · slide 5/12
Thank you, May. This is EvidenceLens, and it is not a standard image viewer. You can zoom and pan smoothly, switch on anatomical guides such as the optic disc outline and a one-disc-diameter zone around the macula, control layers and their opacity, and compare against a green-channel view. The most important design decision is the locked panel on the right. The reference annotations stay hidden until you lock your interpretation. If you see the answer first, you cannot honestly test your own reading. Good interpretation begins with careful evidence inspection.
KEY LINE: Good interpretation begins with careful evidence inspection.</a:t>
            </a:r>
          </a:p>
        </p:txBody>
      </p:sp>
      <p:sp>
        <p:nvSpPr>
          <p:cNvPr id="4" name="Slide Number Placeholder 3"/>
          <p:cNvSpPr>
            <a:spLocks noGrp="1"/>
          </p:cNvSpPr>
          <p:nvPr>
            <p:ph type="sldNum" sz="quarter" idx="5"/>
          </p:nvPr>
        </p:nvSpPr>
        <p:spPr/>
        <p:txBody>
          <a:bodyPr/>
          <a:lstStyle/>
          <a:p>
            <a:fld id="{641C46FA-73A0-4A64-A102-44EB428800BF}" type="slidenum">
              <a:rPr lang="en-US" smtClean="0"/>
              <a:t>5</a:t>
            </a:fld>
            <a:endParaRPr lang="en-US"/>
          </a:p>
        </p:txBody>
      </p:sp>
    </p:spTree>
    <p:extLst>
      <p:ext uri="{BB962C8B-B14F-4D97-AF65-F5344CB8AC3E}">
        <p14:creationId xmlns:p14="http://schemas.microsoft.com/office/powerpoint/2010/main" val="2288566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Shamsa Faris Almazrouei (Grade 12) · target 40 s · slide 6/12
That safeguard leads into the Diagnostic Duel: read, lock, reveal. Read: you observe a synthetic case, decide whether the image can be graded, choose a retinopathy level, and state your confidence. Lock: you cannot change your answer. Reveal: only now does the authored reference appear, with the rule behind it, a table of agreements and disagreements, and what the outcome means. For example, why a false negative is the costly error. To be exact: this is an educational human-versus-reference comparison. No trained diagnostic AI model is involved. The interpretation comes first. The reference comes afterward. Let us show you.
KEY LINE: The interpretation comes first. The reference comes afterward.
LIVE DEMONSTRATION: switch to the prototype here — see DEMO_SCRIPT.md (90–120 s). Backup screenshots: presentation/backup-screenshots/.</a:t>
            </a:r>
          </a:p>
        </p:txBody>
      </p:sp>
      <p:sp>
        <p:nvSpPr>
          <p:cNvPr id="4" name="Slide Number Placeholder 3"/>
          <p:cNvSpPr>
            <a:spLocks noGrp="1"/>
          </p:cNvSpPr>
          <p:nvPr>
            <p:ph type="sldNum" sz="quarter" idx="5"/>
          </p:nvPr>
        </p:nvSpPr>
        <p:spPr/>
        <p:txBody>
          <a:bodyPr/>
          <a:lstStyle/>
          <a:p>
            <a:fld id="{641C46FA-73A0-4A64-A102-44EB428800BF}" type="slidenum">
              <a:rPr lang="en-US" smtClean="0"/>
              <a:t>6</a:t>
            </a:fld>
            <a:endParaRPr lang="en-US"/>
          </a:p>
        </p:txBody>
      </p:sp>
    </p:spTree>
    <p:extLst>
      <p:ext uri="{BB962C8B-B14F-4D97-AF65-F5344CB8AC3E}">
        <p14:creationId xmlns:p14="http://schemas.microsoft.com/office/powerpoint/2010/main" val="1768905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Shamsa Faris Almazrouei (Grade 12) · target 30 s · slide 7/12
Before judging an interpretation, we judge the evidence. In Quality and Uncertainty, three sliders (blur, brightness and contrast) change the image in real time, and the platform measures sharpness, brightness and contrast directly from the pixels. These are the real measurements for these images. It never invents a confidence score, because there is no model to produce one, and our thresholds are heuristics that have not been clinically validated. If quality is insufficient, the answer is no result: recapture the image.
KEY LINE: Before evaluating an interpretation, we must consider the quality of the evidence.</a:t>
            </a:r>
          </a:p>
        </p:txBody>
      </p:sp>
      <p:sp>
        <p:nvSpPr>
          <p:cNvPr id="4" name="Slide Number Placeholder 3"/>
          <p:cNvSpPr>
            <a:spLocks noGrp="1"/>
          </p:cNvSpPr>
          <p:nvPr>
            <p:ph type="sldNum" sz="quarter" idx="5"/>
          </p:nvPr>
        </p:nvSpPr>
        <p:spPr/>
        <p:txBody>
          <a:bodyPr/>
          <a:lstStyle/>
          <a:p>
            <a:fld id="{641C46FA-73A0-4A64-A102-44EB428800BF}" type="slidenum">
              <a:rPr lang="en-US" smtClean="0"/>
              <a:t>7</a:t>
            </a:fld>
            <a:endParaRPr lang="en-US"/>
          </a:p>
        </p:txBody>
      </p:sp>
    </p:spTree>
    <p:extLst>
      <p:ext uri="{BB962C8B-B14F-4D97-AF65-F5344CB8AC3E}">
        <p14:creationId xmlns:p14="http://schemas.microsoft.com/office/powerpoint/2010/main" val="1114100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Shamsa Faris Almazrouei (Grade 12) · target 40 s · slide 8/12
Quality is one part of reliability. The other is measurement, and this is our technical centrepiece. From four counts, true and false positives and negatives, the Accuracy Laboratory computes sensitivity, specificity, predictive values, ROC area and Wilson confidence intervals, with threshold analysis and error cases. It also protects the evaluation: a file is refused if one patient appears in more than one partition, thresholds are chosen on validation data only, and the test set is used once. Now the honest part, on the right. The real state of the application is that no research model has been evaluated. The matrix here is a diagram, not a result. The platform does not ask you to believe an accuracy claim. It establishes how that claim should be tested.
HAND-OVER: Fatima will explain who stays accountable.
KEY LINE: The platform does not ask users to believe an accuracy claim. It establishes how that claim should be tested.</a:t>
            </a:r>
          </a:p>
        </p:txBody>
      </p:sp>
      <p:sp>
        <p:nvSpPr>
          <p:cNvPr id="4" name="Slide Number Placeholder 3"/>
          <p:cNvSpPr>
            <a:spLocks noGrp="1"/>
          </p:cNvSpPr>
          <p:nvPr>
            <p:ph type="sldNum" sz="quarter" idx="5"/>
          </p:nvPr>
        </p:nvSpPr>
        <p:spPr/>
        <p:txBody>
          <a:bodyPr/>
          <a:lstStyle/>
          <a:p>
            <a:fld id="{641C46FA-73A0-4A64-A102-44EB428800BF}" type="slidenum">
              <a:rPr lang="en-US" smtClean="0"/>
              <a:t>8</a:t>
            </a:fld>
            <a:endParaRPr lang="en-US"/>
          </a:p>
        </p:txBody>
      </p:sp>
    </p:spTree>
    <p:extLst>
      <p:ext uri="{BB962C8B-B14F-4D97-AF65-F5344CB8AC3E}">
        <p14:creationId xmlns:p14="http://schemas.microsoft.com/office/powerpoint/2010/main" val="2156562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Fatima Mohamed Almazrouei (Grade 11) · target 30 s · slide 9/12
Thank you, Shamsa. A measured claim still needs a responsible human decision. Our workflow is: interpretation, review, approval, and only then a conditional referral draft. In the Review Queue, a reviewer sees discrepancies, for example when an interpretation differs from the reference label. In the approval step, the clinician role must acknowledge any discrepancy, and free text is scanned so identifiers cannot be typed in. CareBridge drafts a referral letter only after a human has approved an eligible disposition. It never decides urgency or treatment. AI-assisted healthcare must preserve human responsibility.
KEY LINE: AI-assisted healthcare must preserve human responsibility for clinical decisions.</a:t>
            </a:r>
          </a:p>
        </p:txBody>
      </p:sp>
      <p:sp>
        <p:nvSpPr>
          <p:cNvPr id="4" name="Slide Number Placeholder 3"/>
          <p:cNvSpPr>
            <a:spLocks noGrp="1"/>
          </p:cNvSpPr>
          <p:nvPr>
            <p:ph type="sldNum" sz="quarter" idx="5"/>
          </p:nvPr>
        </p:nvSpPr>
        <p:spPr/>
        <p:txBody>
          <a:bodyPr/>
          <a:lstStyle/>
          <a:p>
            <a:fld id="{641C46FA-73A0-4A64-A102-44EB428800BF}" type="slidenum">
              <a:rPr lang="en-US" smtClean="0"/>
              <a:t>9</a:t>
            </a:fld>
            <a:endParaRPr lang="en-US"/>
          </a:p>
        </p:txBody>
      </p:sp>
    </p:spTree>
    <p:extLst>
      <p:ext uri="{BB962C8B-B14F-4D97-AF65-F5344CB8AC3E}">
        <p14:creationId xmlns:p14="http://schemas.microsoft.com/office/powerpoint/2010/main" val="723834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Fatima Mohamed Almazrouei (Grade 11) · target 30 s · slide 10/12
Responsible AI is built in, not added at the end. Safety: synthetic cases only, no patient uploads, no fabricated AI predictions, and awareness of image quality. Transparency: blind-first reading, defined and attributed reference labels, recorded evaluation provenance, limitations written on the page, and an interface in English and Arabic. Accountability: human approval, records that stay in the browser, leakage checks, review workflows, and a strict separation of references, interpretations and decisions. And to be equally clear: this prototype is not clinically approved and not ready for real patient care.</a:t>
            </a:r>
          </a:p>
        </p:txBody>
      </p:sp>
      <p:sp>
        <p:nvSpPr>
          <p:cNvPr id="4" name="Slide Number Placeholder 3"/>
          <p:cNvSpPr>
            <a:spLocks noGrp="1"/>
          </p:cNvSpPr>
          <p:nvPr>
            <p:ph type="sldNum" sz="quarter" idx="5"/>
          </p:nvPr>
        </p:nvSpPr>
        <p:spPr/>
        <p:txBody>
          <a:bodyPr/>
          <a:lstStyle/>
          <a:p>
            <a:fld id="{641C46FA-73A0-4A64-A102-44EB428800BF}" type="slidenum">
              <a:rPr lang="en-US" smtClean="0"/>
              <a:t>10</a:t>
            </a:fld>
            <a:endParaRPr lang="en-US"/>
          </a:p>
        </p:txBody>
      </p:sp>
    </p:spTree>
    <p:extLst>
      <p:ext uri="{BB962C8B-B14F-4D97-AF65-F5344CB8AC3E}">
        <p14:creationId xmlns:p14="http://schemas.microsoft.com/office/powerpoint/2010/main" val="1402890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Fatima Mohamed Almazrouei (Grade 11) · target 35 s · slide 11/12
So what comes next? Today, in teal, is the prototype and its evaluation tools. Phase one: obtain a properly licensed retinal dataset, split by patient into training, validation and test sets. Phase two: train and evaluate a real research model, and document it. Phase three: external validation, with other datasets, subgroups, calibration, image-quality robustness and error analysis. Phase four: clinician-supervised research on performance, workflow, automation bias and human–AI collaboration. Phase five: prospective studies, governance, security and regulation before any real-world use. The next step is not deployment. It is rigorous validation.
KEY LINE: The next step is not deployment. It is rigorous validation.</a:t>
            </a:r>
          </a:p>
        </p:txBody>
      </p:sp>
      <p:sp>
        <p:nvSpPr>
          <p:cNvPr id="4" name="Slide Number Placeholder 3"/>
          <p:cNvSpPr>
            <a:spLocks noGrp="1"/>
          </p:cNvSpPr>
          <p:nvPr>
            <p:ph type="sldNum" sz="quarter" idx="5"/>
          </p:nvPr>
        </p:nvSpPr>
        <p:spPr/>
        <p:txBody>
          <a:bodyPr/>
          <a:lstStyle/>
          <a:p>
            <a:fld id="{641C46FA-73A0-4A64-A102-44EB428800BF}" type="slidenum">
              <a:rPr lang="en-US" smtClean="0"/>
              <a:t>11</a:t>
            </a:fld>
            <a:endParaRPr lang="en-US"/>
          </a:p>
        </p:txBody>
      </p:sp>
    </p:spTree>
    <p:extLst>
      <p:ext uri="{BB962C8B-B14F-4D97-AF65-F5344CB8AC3E}">
        <p14:creationId xmlns:p14="http://schemas.microsoft.com/office/powerpoint/2010/main" val="28334277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Fatima Mohamed Almazrouei (Grade 11) — then all three for “Thank you” · target 25 s · slide 12/12
To close: the future of diagnostic AI should not be judged by how confidently it predicts, but by how reliably its accuracy can be demonstrated. EvidenceLens makes evidence visible. Diagnostic Duel makes interpretation measurable. Quality and Uncertainty shows how reliable the evidence is. The Accuracy Laboratory shows how performance must be tested. And human oversight keeps accountability where it belongs. Intelligence requires evidence. The prototype is live: scan the code. Thank you. We would be glad to take your questions.</a:t>
            </a:r>
          </a:p>
        </p:txBody>
      </p:sp>
      <p:sp>
        <p:nvSpPr>
          <p:cNvPr id="4" name="Slide Number Placeholder 3"/>
          <p:cNvSpPr>
            <a:spLocks noGrp="1"/>
          </p:cNvSpPr>
          <p:nvPr>
            <p:ph type="sldNum" sz="quarter" idx="5"/>
          </p:nvPr>
        </p:nvSpPr>
        <p:spPr/>
        <p:txBody>
          <a:bodyPr/>
          <a:lstStyle/>
          <a:p>
            <a:fld id="{641C46FA-73A0-4A64-A102-44EB428800BF}" type="slidenum">
              <a:rPr lang="en-US" smtClean="0"/>
              <a:t>12</a:t>
            </a:fld>
            <a:endParaRPr lang="en-US"/>
          </a:p>
        </p:txBody>
      </p:sp>
    </p:spTree>
    <p:extLst>
      <p:ext uri="{BB962C8B-B14F-4D97-AF65-F5344CB8AC3E}">
        <p14:creationId xmlns:p14="http://schemas.microsoft.com/office/powerpoint/2010/main" val="39245279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APPENDIX A (for Q&amp;A). Sensitivity = TP/(TP+FN): of the truly referable, how many were found. Specificity = TN/(TN+FP). Raising the threshold trades sensitivity for specificity; it never improves both. PPV and NPV depend on prevalence, so they change with the screened population even when sensitivity and specificity do not. Wilson intervals show how little a small sample can say. The simulator picture is stamped SIMULATION: random scores, not a model.</a:t>
            </a:r>
          </a:p>
        </p:txBody>
      </p:sp>
      <p:sp>
        <p:nvSpPr>
          <p:cNvPr id="4" name="Slide Number Placeholder 3"/>
          <p:cNvSpPr>
            <a:spLocks noGrp="1"/>
          </p:cNvSpPr>
          <p:nvPr>
            <p:ph type="sldNum" sz="quarter" idx="5"/>
          </p:nvPr>
        </p:nvSpPr>
        <p:spPr/>
        <p:txBody>
          <a:bodyPr/>
          <a:lstStyle/>
          <a:p>
            <a:fld id="{641C46FA-73A0-4A64-A102-44EB428800BF}" type="slidenum">
              <a:rPr lang="en-US" smtClean="0"/>
              <a:t>13</a:t>
            </a:fld>
            <a:endParaRPr lang="en-US"/>
          </a:p>
        </p:txBody>
      </p:sp>
    </p:spTree>
    <p:extLst>
      <p:ext uri="{BB962C8B-B14F-4D97-AF65-F5344CB8AC3E}">
        <p14:creationId xmlns:p14="http://schemas.microsoft.com/office/powerpoint/2010/main" val="18286702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APPENDIX B (for Q&amp;A). If the same patient appears in both training and test data, performance looks better than it is. The Accuracy Laboratory refuses a predictions file when a patient spans partitions. The screenshot is a synthetic test file we built to show the refusal; it contains no results. Provenance: the application records the SHA-256 of the file and the declared model and dataset, labelled self-reported because it cannot verify them. Thresholds are chosen on validation data only; the test partition is used once.</a:t>
            </a:r>
          </a:p>
        </p:txBody>
      </p:sp>
      <p:sp>
        <p:nvSpPr>
          <p:cNvPr id="4" name="Slide Number Placeholder 3"/>
          <p:cNvSpPr>
            <a:spLocks noGrp="1"/>
          </p:cNvSpPr>
          <p:nvPr>
            <p:ph type="sldNum" sz="quarter" idx="5"/>
          </p:nvPr>
        </p:nvSpPr>
        <p:spPr/>
        <p:txBody>
          <a:bodyPr/>
          <a:lstStyle/>
          <a:p>
            <a:fld id="{641C46FA-73A0-4A64-A102-44EB428800BF}" type="slidenum">
              <a:rPr lang="en-US" smtClean="0"/>
              <a:t>14</a:t>
            </a:fld>
            <a:endParaRPr lang="en-US"/>
          </a:p>
        </p:txBody>
      </p:sp>
    </p:spTree>
    <p:extLst>
      <p:ext uri="{BB962C8B-B14F-4D97-AF65-F5344CB8AC3E}">
        <p14:creationId xmlns:p14="http://schemas.microsoft.com/office/powerpoint/2010/main" val="2674315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APPENDIX C (for Q&amp;A). Be direct. Implemented: the workflows and evaluation tools. Synthetic: the cases and their authored reference labels. Infrastructure: the evaluation engine that can score a future model. Not implemented: any model training. Required before any clinical use: licensed data and ethics approval, external and prospective validation, clinician-supervised research, governance and regulatory review. It is not a medical device.</a:t>
            </a:r>
          </a:p>
        </p:txBody>
      </p:sp>
      <p:sp>
        <p:nvSpPr>
          <p:cNvPr id="4" name="Slide Number Placeholder 3"/>
          <p:cNvSpPr>
            <a:spLocks noGrp="1"/>
          </p:cNvSpPr>
          <p:nvPr>
            <p:ph type="sldNum" sz="quarter" idx="5"/>
          </p:nvPr>
        </p:nvSpPr>
        <p:spPr/>
        <p:txBody>
          <a:bodyPr/>
          <a:lstStyle/>
          <a:p>
            <a:fld id="{641C46FA-73A0-4A64-A102-44EB428800BF}" type="slidenum">
              <a:rPr lang="en-US" smtClean="0"/>
              <a:t>15</a:t>
            </a:fld>
            <a:endParaRPr lang="en-US"/>
          </a:p>
        </p:txBody>
      </p:sp>
    </p:spTree>
    <p:extLst>
      <p:ext uri="{BB962C8B-B14F-4D97-AF65-F5344CB8AC3E}">
        <p14:creationId xmlns:p14="http://schemas.microsoft.com/office/powerpoint/2010/main" val="101724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40445-BD45-467D-1E65-E40437F4B7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460280-A295-6C1A-08F3-BA6F7421B5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5843C5-F190-9E43-5A13-9CE7D7A7B6A5}"/>
              </a:ext>
            </a:extLst>
          </p:cNvPr>
          <p:cNvSpPr>
            <a:spLocks noGrp="1"/>
          </p:cNvSpPr>
          <p:nvPr>
            <p:ph type="dt" sz="half" idx="10"/>
          </p:nvPr>
        </p:nvSpPr>
        <p:spPr/>
        <p:txBody>
          <a:bodyPr/>
          <a:lstStyle/>
          <a:p>
            <a:fld id="{54A59F92-9550-4EA3-8C4B-E4040956BE55}" type="datetimeFigureOut">
              <a:rPr lang="en-US" smtClean="0"/>
              <a:t>10/27/2026</a:t>
            </a:fld>
            <a:endParaRPr lang="en-US"/>
          </a:p>
        </p:txBody>
      </p:sp>
      <p:sp>
        <p:nvSpPr>
          <p:cNvPr id="5" name="Footer Placeholder 4">
            <a:extLst>
              <a:ext uri="{FF2B5EF4-FFF2-40B4-BE49-F238E27FC236}">
                <a16:creationId xmlns:a16="http://schemas.microsoft.com/office/drawing/2014/main" id="{B936BB1A-4AFC-EDC3-245E-84F7B85E6F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8EA382-602E-CE93-9EFD-5F321A737F90}"/>
              </a:ext>
            </a:extLst>
          </p:cNvPr>
          <p:cNvSpPr>
            <a:spLocks noGrp="1"/>
          </p:cNvSpPr>
          <p:nvPr>
            <p:ph type="sldNum" sz="quarter" idx="12"/>
          </p:nvPr>
        </p:nvSpPr>
        <p:spPr/>
        <p:txBody>
          <a:bodyPr/>
          <a:lstStyle/>
          <a:p>
            <a:fld id="{786B3DBC-4BE8-41A1-8E05-1A79043D4E53}" type="slidenum">
              <a:rPr lang="en-US" smtClean="0"/>
              <a:t>‹#›</a:t>
            </a:fld>
            <a:endParaRPr lang="en-US"/>
          </a:p>
        </p:txBody>
      </p:sp>
    </p:spTree>
    <p:extLst>
      <p:ext uri="{BB962C8B-B14F-4D97-AF65-F5344CB8AC3E}">
        <p14:creationId xmlns:p14="http://schemas.microsoft.com/office/powerpoint/2010/main" val="1336428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70E82-93F8-037F-6692-E7C809D797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E14967-F938-A1C6-88EF-9FF2732A43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467F9E-2959-16A7-81D7-152E8D938DD6}"/>
              </a:ext>
            </a:extLst>
          </p:cNvPr>
          <p:cNvSpPr>
            <a:spLocks noGrp="1"/>
          </p:cNvSpPr>
          <p:nvPr>
            <p:ph type="dt" sz="half" idx="10"/>
          </p:nvPr>
        </p:nvSpPr>
        <p:spPr/>
        <p:txBody>
          <a:bodyPr/>
          <a:lstStyle/>
          <a:p>
            <a:fld id="{54A59F92-9550-4EA3-8C4B-E4040956BE55}" type="datetimeFigureOut">
              <a:rPr lang="en-US" smtClean="0"/>
              <a:t>10/27/2026</a:t>
            </a:fld>
            <a:endParaRPr lang="en-US"/>
          </a:p>
        </p:txBody>
      </p:sp>
      <p:sp>
        <p:nvSpPr>
          <p:cNvPr id="5" name="Footer Placeholder 4">
            <a:extLst>
              <a:ext uri="{FF2B5EF4-FFF2-40B4-BE49-F238E27FC236}">
                <a16:creationId xmlns:a16="http://schemas.microsoft.com/office/drawing/2014/main" id="{9153244F-1B31-F978-E056-5B643E402C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D8F947-9FE0-961F-82E8-DCB3CE422895}"/>
              </a:ext>
            </a:extLst>
          </p:cNvPr>
          <p:cNvSpPr>
            <a:spLocks noGrp="1"/>
          </p:cNvSpPr>
          <p:nvPr>
            <p:ph type="sldNum" sz="quarter" idx="12"/>
          </p:nvPr>
        </p:nvSpPr>
        <p:spPr/>
        <p:txBody>
          <a:bodyPr/>
          <a:lstStyle/>
          <a:p>
            <a:fld id="{786B3DBC-4BE8-41A1-8E05-1A79043D4E53}" type="slidenum">
              <a:rPr lang="en-US" smtClean="0"/>
              <a:t>‹#›</a:t>
            </a:fld>
            <a:endParaRPr lang="en-US"/>
          </a:p>
        </p:txBody>
      </p:sp>
    </p:spTree>
    <p:extLst>
      <p:ext uri="{BB962C8B-B14F-4D97-AF65-F5344CB8AC3E}">
        <p14:creationId xmlns:p14="http://schemas.microsoft.com/office/powerpoint/2010/main" val="2856807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6A651-4F6B-D553-C956-1718D09955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D66837-A370-5D88-89DB-2FB5566418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DFE6A2-7D49-43A4-280C-E600588CD5B0}"/>
              </a:ext>
            </a:extLst>
          </p:cNvPr>
          <p:cNvSpPr>
            <a:spLocks noGrp="1"/>
          </p:cNvSpPr>
          <p:nvPr>
            <p:ph type="dt" sz="half" idx="10"/>
          </p:nvPr>
        </p:nvSpPr>
        <p:spPr/>
        <p:txBody>
          <a:bodyPr/>
          <a:lstStyle/>
          <a:p>
            <a:fld id="{54A59F92-9550-4EA3-8C4B-E4040956BE55}" type="datetimeFigureOut">
              <a:rPr lang="en-US" smtClean="0"/>
              <a:t>10/27/2026</a:t>
            </a:fld>
            <a:endParaRPr lang="en-US"/>
          </a:p>
        </p:txBody>
      </p:sp>
      <p:sp>
        <p:nvSpPr>
          <p:cNvPr id="5" name="Footer Placeholder 4">
            <a:extLst>
              <a:ext uri="{FF2B5EF4-FFF2-40B4-BE49-F238E27FC236}">
                <a16:creationId xmlns:a16="http://schemas.microsoft.com/office/drawing/2014/main" id="{D9EB5B21-4489-8C9A-E117-1923370809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528A60-8345-C2AF-3EF0-A31987AC70AE}"/>
              </a:ext>
            </a:extLst>
          </p:cNvPr>
          <p:cNvSpPr>
            <a:spLocks noGrp="1"/>
          </p:cNvSpPr>
          <p:nvPr>
            <p:ph type="sldNum" sz="quarter" idx="12"/>
          </p:nvPr>
        </p:nvSpPr>
        <p:spPr/>
        <p:txBody>
          <a:bodyPr/>
          <a:lstStyle/>
          <a:p>
            <a:fld id="{786B3DBC-4BE8-41A1-8E05-1A79043D4E53}" type="slidenum">
              <a:rPr lang="en-US" smtClean="0"/>
              <a:t>‹#›</a:t>
            </a:fld>
            <a:endParaRPr lang="en-US"/>
          </a:p>
        </p:txBody>
      </p:sp>
    </p:spTree>
    <p:extLst>
      <p:ext uri="{BB962C8B-B14F-4D97-AF65-F5344CB8AC3E}">
        <p14:creationId xmlns:p14="http://schemas.microsoft.com/office/powerpoint/2010/main" val="962029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DBFB6-24F8-7048-BDB8-F80773A21D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F8F37E-BDCC-C63A-ABEB-3DF08E2DA4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3C8B4C-D7EA-3128-A6C6-939870B021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88C10F-43D3-76C6-0CD9-0EDAD7C8AA8F}"/>
              </a:ext>
            </a:extLst>
          </p:cNvPr>
          <p:cNvSpPr>
            <a:spLocks noGrp="1"/>
          </p:cNvSpPr>
          <p:nvPr>
            <p:ph type="dt" sz="half" idx="10"/>
          </p:nvPr>
        </p:nvSpPr>
        <p:spPr/>
        <p:txBody>
          <a:bodyPr/>
          <a:lstStyle/>
          <a:p>
            <a:fld id="{54A59F92-9550-4EA3-8C4B-E4040956BE55}" type="datetimeFigureOut">
              <a:rPr lang="en-US" smtClean="0"/>
              <a:t>10/27/2026</a:t>
            </a:fld>
            <a:endParaRPr lang="en-US"/>
          </a:p>
        </p:txBody>
      </p:sp>
      <p:sp>
        <p:nvSpPr>
          <p:cNvPr id="6" name="Footer Placeholder 5">
            <a:extLst>
              <a:ext uri="{FF2B5EF4-FFF2-40B4-BE49-F238E27FC236}">
                <a16:creationId xmlns:a16="http://schemas.microsoft.com/office/drawing/2014/main" id="{E80E74C3-DF8B-311F-B81B-38D3004DD4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B6EC2F-2C65-A9C0-9519-A77104CA6B31}"/>
              </a:ext>
            </a:extLst>
          </p:cNvPr>
          <p:cNvSpPr>
            <a:spLocks noGrp="1"/>
          </p:cNvSpPr>
          <p:nvPr>
            <p:ph type="sldNum" sz="quarter" idx="12"/>
          </p:nvPr>
        </p:nvSpPr>
        <p:spPr/>
        <p:txBody>
          <a:bodyPr/>
          <a:lstStyle/>
          <a:p>
            <a:fld id="{786B3DBC-4BE8-41A1-8E05-1A79043D4E53}" type="slidenum">
              <a:rPr lang="en-US" smtClean="0"/>
              <a:t>‹#›</a:t>
            </a:fld>
            <a:endParaRPr lang="en-US"/>
          </a:p>
        </p:txBody>
      </p:sp>
    </p:spTree>
    <p:extLst>
      <p:ext uri="{BB962C8B-B14F-4D97-AF65-F5344CB8AC3E}">
        <p14:creationId xmlns:p14="http://schemas.microsoft.com/office/powerpoint/2010/main" val="3562863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81AA2-6445-29D4-133E-23C1047035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675559-28DB-2218-A6CE-EB2F664B40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1DB341-B2DB-B39B-B71B-D662664021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621272-B1E2-0CAB-6D56-795DB7451C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A195B3-ECBF-4179-DB00-48AE32552E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B682D0-26EF-F52B-F52F-13CE6964ECD4}"/>
              </a:ext>
            </a:extLst>
          </p:cNvPr>
          <p:cNvSpPr>
            <a:spLocks noGrp="1"/>
          </p:cNvSpPr>
          <p:nvPr>
            <p:ph type="dt" sz="half" idx="10"/>
          </p:nvPr>
        </p:nvSpPr>
        <p:spPr/>
        <p:txBody>
          <a:bodyPr/>
          <a:lstStyle/>
          <a:p>
            <a:fld id="{54A59F92-9550-4EA3-8C4B-E4040956BE55}" type="datetimeFigureOut">
              <a:rPr lang="en-US" smtClean="0"/>
              <a:t>10/27/2026</a:t>
            </a:fld>
            <a:endParaRPr lang="en-US"/>
          </a:p>
        </p:txBody>
      </p:sp>
      <p:sp>
        <p:nvSpPr>
          <p:cNvPr id="8" name="Footer Placeholder 7">
            <a:extLst>
              <a:ext uri="{FF2B5EF4-FFF2-40B4-BE49-F238E27FC236}">
                <a16:creationId xmlns:a16="http://schemas.microsoft.com/office/drawing/2014/main" id="{AE299DC7-E3EA-33B8-7C7A-F5020ABC16A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E76CAB-C690-FB1B-0BE0-025364E44697}"/>
              </a:ext>
            </a:extLst>
          </p:cNvPr>
          <p:cNvSpPr>
            <a:spLocks noGrp="1"/>
          </p:cNvSpPr>
          <p:nvPr>
            <p:ph type="sldNum" sz="quarter" idx="12"/>
          </p:nvPr>
        </p:nvSpPr>
        <p:spPr/>
        <p:txBody>
          <a:bodyPr/>
          <a:lstStyle/>
          <a:p>
            <a:fld id="{786B3DBC-4BE8-41A1-8E05-1A79043D4E53}" type="slidenum">
              <a:rPr lang="en-US" smtClean="0"/>
              <a:t>‹#›</a:t>
            </a:fld>
            <a:endParaRPr lang="en-US"/>
          </a:p>
        </p:txBody>
      </p:sp>
    </p:spTree>
    <p:extLst>
      <p:ext uri="{BB962C8B-B14F-4D97-AF65-F5344CB8AC3E}">
        <p14:creationId xmlns:p14="http://schemas.microsoft.com/office/powerpoint/2010/main" val="1025283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CEA37-8634-00AD-0C0E-9C588ACAEE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A25060-DDF9-346D-EDE3-C40E8F3B9A76}"/>
              </a:ext>
            </a:extLst>
          </p:cNvPr>
          <p:cNvSpPr>
            <a:spLocks noGrp="1"/>
          </p:cNvSpPr>
          <p:nvPr>
            <p:ph type="dt" sz="half" idx="10"/>
          </p:nvPr>
        </p:nvSpPr>
        <p:spPr/>
        <p:txBody>
          <a:bodyPr/>
          <a:lstStyle/>
          <a:p>
            <a:fld id="{54A59F92-9550-4EA3-8C4B-E4040956BE55}" type="datetimeFigureOut">
              <a:rPr lang="en-US" smtClean="0"/>
              <a:t>10/27/2026</a:t>
            </a:fld>
            <a:endParaRPr lang="en-US"/>
          </a:p>
        </p:txBody>
      </p:sp>
      <p:sp>
        <p:nvSpPr>
          <p:cNvPr id="4" name="Footer Placeholder 3">
            <a:extLst>
              <a:ext uri="{FF2B5EF4-FFF2-40B4-BE49-F238E27FC236}">
                <a16:creationId xmlns:a16="http://schemas.microsoft.com/office/drawing/2014/main" id="{59A2EB60-4DEC-1B35-F038-32EF58809F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D20CBB-66E5-A5A1-CED5-54E2C89E1589}"/>
              </a:ext>
            </a:extLst>
          </p:cNvPr>
          <p:cNvSpPr>
            <a:spLocks noGrp="1"/>
          </p:cNvSpPr>
          <p:nvPr>
            <p:ph type="sldNum" sz="quarter" idx="12"/>
          </p:nvPr>
        </p:nvSpPr>
        <p:spPr/>
        <p:txBody>
          <a:bodyPr/>
          <a:lstStyle/>
          <a:p>
            <a:fld id="{786B3DBC-4BE8-41A1-8E05-1A79043D4E53}" type="slidenum">
              <a:rPr lang="en-US" smtClean="0"/>
              <a:t>‹#›</a:t>
            </a:fld>
            <a:endParaRPr lang="en-US"/>
          </a:p>
        </p:txBody>
      </p:sp>
    </p:spTree>
    <p:extLst>
      <p:ext uri="{BB962C8B-B14F-4D97-AF65-F5344CB8AC3E}">
        <p14:creationId xmlns:p14="http://schemas.microsoft.com/office/powerpoint/2010/main" val="399090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C956D8-4AEB-AC33-354E-04CB8A615877}"/>
              </a:ext>
            </a:extLst>
          </p:cNvPr>
          <p:cNvSpPr>
            <a:spLocks noGrp="1"/>
          </p:cNvSpPr>
          <p:nvPr>
            <p:ph type="dt" sz="half" idx="10"/>
          </p:nvPr>
        </p:nvSpPr>
        <p:spPr/>
        <p:txBody>
          <a:bodyPr/>
          <a:lstStyle/>
          <a:p>
            <a:fld id="{54A59F92-9550-4EA3-8C4B-E4040956BE55}" type="datetimeFigureOut">
              <a:rPr lang="en-US" smtClean="0"/>
              <a:t>10/27/2026</a:t>
            </a:fld>
            <a:endParaRPr lang="en-US"/>
          </a:p>
        </p:txBody>
      </p:sp>
      <p:sp>
        <p:nvSpPr>
          <p:cNvPr id="3" name="Footer Placeholder 2">
            <a:extLst>
              <a:ext uri="{FF2B5EF4-FFF2-40B4-BE49-F238E27FC236}">
                <a16:creationId xmlns:a16="http://schemas.microsoft.com/office/drawing/2014/main" id="{20C2C0D6-7576-C221-7737-CB7D4CBEC7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ADEFFA-A187-ED5A-9653-EE92070922A2}"/>
              </a:ext>
            </a:extLst>
          </p:cNvPr>
          <p:cNvSpPr>
            <a:spLocks noGrp="1"/>
          </p:cNvSpPr>
          <p:nvPr>
            <p:ph type="sldNum" sz="quarter" idx="12"/>
          </p:nvPr>
        </p:nvSpPr>
        <p:spPr/>
        <p:txBody>
          <a:bodyPr/>
          <a:lstStyle/>
          <a:p>
            <a:fld id="{786B3DBC-4BE8-41A1-8E05-1A79043D4E53}" type="slidenum">
              <a:rPr lang="en-US" smtClean="0"/>
              <a:t>‹#›</a:t>
            </a:fld>
            <a:endParaRPr lang="en-US"/>
          </a:p>
        </p:txBody>
      </p:sp>
    </p:spTree>
    <p:extLst>
      <p:ext uri="{BB962C8B-B14F-4D97-AF65-F5344CB8AC3E}">
        <p14:creationId xmlns:p14="http://schemas.microsoft.com/office/powerpoint/2010/main" val="2087116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168B6-E9A2-CE0B-6BE2-671F93454B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824DA4-7DE8-4DF4-153F-654197EC01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1221F7-103F-C495-C35F-132093AF4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808667-CC96-275D-B812-B5BA1E536EBF}"/>
              </a:ext>
            </a:extLst>
          </p:cNvPr>
          <p:cNvSpPr>
            <a:spLocks noGrp="1"/>
          </p:cNvSpPr>
          <p:nvPr>
            <p:ph type="dt" sz="half" idx="10"/>
          </p:nvPr>
        </p:nvSpPr>
        <p:spPr/>
        <p:txBody>
          <a:bodyPr/>
          <a:lstStyle/>
          <a:p>
            <a:fld id="{54A59F92-9550-4EA3-8C4B-E4040956BE55}" type="datetimeFigureOut">
              <a:rPr lang="en-US" smtClean="0"/>
              <a:t>10/27/2026</a:t>
            </a:fld>
            <a:endParaRPr lang="en-US"/>
          </a:p>
        </p:txBody>
      </p:sp>
      <p:sp>
        <p:nvSpPr>
          <p:cNvPr id="6" name="Footer Placeholder 5">
            <a:extLst>
              <a:ext uri="{FF2B5EF4-FFF2-40B4-BE49-F238E27FC236}">
                <a16:creationId xmlns:a16="http://schemas.microsoft.com/office/drawing/2014/main" id="{360F54F6-404B-8B29-D762-1F020B762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3799B7-B7B1-5C02-952E-5CE2E6B8D10C}"/>
              </a:ext>
            </a:extLst>
          </p:cNvPr>
          <p:cNvSpPr>
            <a:spLocks noGrp="1"/>
          </p:cNvSpPr>
          <p:nvPr>
            <p:ph type="sldNum" sz="quarter" idx="12"/>
          </p:nvPr>
        </p:nvSpPr>
        <p:spPr/>
        <p:txBody>
          <a:bodyPr/>
          <a:lstStyle/>
          <a:p>
            <a:fld id="{786B3DBC-4BE8-41A1-8E05-1A79043D4E53}" type="slidenum">
              <a:rPr lang="en-US" smtClean="0"/>
              <a:t>‹#›</a:t>
            </a:fld>
            <a:endParaRPr lang="en-US"/>
          </a:p>
        </p:txBody>
      </p:sp>
    </p:spTree>
    <p:extLst>
      <p:ext uri="{BB962C8B-B14F-4D97-AF65-F5344CB8AC3E}">
        <p14:creationId xmlns:p14="http://schemas.microsoft.com/office/powerpoint/2010/main" val="590359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9DC49-BE07-04A5-5B61-450B9F8C56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DE43EB-52F1-12B5-9DB1-FC3C9B4A2C9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670EDA-2152-5398-9FE8-9D4BC77522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A3EBEE-C064-C5BE-EE99-D6CFC4C7318C}"/>
              </a:ext>
            </a:extLst>
          </p:cNvPr>
          <p:cNvSpPr>
            <a:spLocks noGrp="1"/>
          </p:cNvSpPr>
          <p:nvPr>
            <p:ph type="dt" sz="half" idx="10"/>
          </p:nvPr>
        </p:nvSpPr>
        <p:spPr/>
        <p:txBody>
          <a:bodyPr/>
          <a:lstStyle/>
          <a:p>
            <a:fld id="{54A59F92-9550-4EA3-8C4B-E4040956BE55}" type="datetimeFigureOut">
              <a:rPr lang="en-US" smtClean="0"/>
              <a:t>10/27/2026</a:t>
            </a:fld>
            <a:endParaRPr lang="en-US"/>
          </a:p>
        </p:txBody>
      </p:sp>
      <p:sp>
        <p:nvSpPr>
          <p:cNvPr id="6" name="Footer Placeholder 5">
            <a:extLst>
              <a:ext uri="{FF2B5EF4-FFF2-40B4-BE49-F238E27FC236}">
                <a16:creationId xmlns:a16="http://schemas.microsoft.com/office/drawing/2014/main" id="{0F0CEE31-0D83-F4A0-33A0-620295F32B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64A607-46C3-6A04-C57D-F9F3EE803CD2}"/>
              </a:ext>
            </a:extLst>
          </p:cNvPr>
          <p:cNvSpPr>
            <a:spLocks noGrp="1"/>
          </p:cNvSpPr>
          <p:nvPr>
            <p:ph type="sldNum" sz="quarter" idx="12"/>
          </p:nvPr>
        </p:nvSpPr>
        <p:spPr/>
        <p:txBody>
          <a:bodyPr/>
          <a:lstStyle/>
          <a:p>
            <a:fld id="{786B3DBC-4BE8-41A1-8E05-1A79043D4E53}" type="slidenum">
              <a:rPr lang="en-US" smtClean="0"/>
              <a:t>‹#›</a:t>
            </a:fld>
            <a:endParaRPr lang="en-US"/>
          </a:p>
        </p:txBody>
      </p:sp>
    </p:spTree>
    <p:extLst>
      <p:ext uri="{BB962C8B-B14F-4D97-AF65-F5344CB8AC3E}">
        <p14:creationId xmlns:p14="http://schemas.microsoft.com/office/powerpoint/2010/main" val="468804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692BA-CAF1-8A66-DBDB-647E29336E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E862BE-3D31-E0AE-9C4B-D7A850085F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7AAE59-C451-A900-2044-EF3EF4E6C69C}"/>
              </a:ext>
            </a:extLst>
          </p:cNvPr>
          <p:cNvSpPr>
            <a:spLocks noGrp="1"/>
          </p:cNvSpPr>
          <p:nvPr>
            <p:ph type="dt" sz="half" idx="10"/>
          </p:nvPr>
        </p:nvSpPr>
        <p:spPr/>
        <p:txBody>
          <a:bodyPr/>
          <a:lstStyle/>
          <a:p>
            <a:fld id="{54A59F92-9550-4EA3-8C4B-E4040956BE55}" type="datetimeFigureOut">
              <a:rPr lang="en-US" smtClean="0"/>
              <a:t>10/27/2026</a:t>
            </a:fld>
            <a:endParaRPr lang="en-US"/>
          </a:p>
        </p:txBody>
      </p:sp>
      <p:sp>
        <p:nvSpPr>
          <p:cNvPr id="5" name="Footer Placeholder 4">
            <a:extLst>
              <a:ext uri="{FF2B5EF4-FFF2-40B4-BE49-F238E27FC236}">
                <a16:creationId xmlns:a16="http://schemas.microsoft.com/office/drawing/2014/main" id="{D6AF0461-ADB0-8A2A-CC4E-B946AB3A3D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E32840-5C51-21DB-4F87-57E8765BC0CA}"/>
              </a:ext>
            </a:extLst>
          </p:cNvPr>
          <p:cNvSpPr>
            <a:spLocks noGrp="1"/>
          </p:cNvSpPr>
          <p:nvPr>
            <p:ph type="sldNum" sz="quarter" idx="12"/>
          </p:nvPr>
        </p:nvSpPr>
        <p:spPr/>
        <p:txBody>
          <a:bodyPr/>
          <a:lstStyle/>
          <a:p>
            <a:fld id="{786B3DBC-4BE8-41A1-8E05-1A79043D4E53}" type="slidenum">
              <a:rPr lang="en-US" smtClean="0"/>
              <a:t>‹#›</a:t>
            </a:fld>
            <a:endParaRPr lang="en-US"/>
          </a:p>
        </p:txBody>
      </p:sp>
    </p:spTree>
    <p:extLst>
      <p:ext uri="{BB962C8B-B14F-4D97-AF65-F5344CB8AC3E}">
        <p14:creationId xmlns:p14="http://schemas.microsoft.com/office/powerpoint/2010/main" val="1324715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4ADE59-031D-F725-AF91-2E9EF5895F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4D037C-9C2F-B98B-D81D-13AE95B66F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14499F-4FDB-BC82-9C58-68F306768F9C}"/>
              </a:ext>
            </a:extLst>
          </p:cNvPr>
          <p:cNvSpPr>
            <a:spLocks noGrp="1"/>
          </p:cNvSpPr>
          <p:nvPr>
            <p:ph type="dt" sz="half" idx="10"/>
          </p:nvPr>
        </p:nvSpPr>
        <p:spPr/>
        <p:txBody>
          <a:bodyPr/>
          <a:lstStyle/>
          <a:p>
            <a:fld id="{54A59F92-9550-4EA3-8C4B-E4040956BE55}" type="datetimeFigureOut">
              <a:rPr lang="en-US" smtClean="0"/>
              <a:t>10/27/2026</a:t>
            </a:fld>
            <a:endParaRPr lang="en-US"/>
          </a:p>
        </p:txBody>
      </p:sp>
      <p:sp>
        <p:nvSpPr>
          <p:cNvPr id="5" name="Footer Placeholder 4">
            <a:extLst>
              <a:ext uri="{FF2B5EF4-FFF2-40B4-BE49-F238E27FC236}">
                <a16:creationId xmlns:a16="http://schemas.microsoft.com/office/drawing/2014/main" id="{C7B7B7E3-6B08-136D-0B66-D16FE7A7A6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1AC27E-1D6B-BC73-EEFD-B99A95D66DD8}"/>
              </a:ext>
            </a:extLst>
          </p:cNvPr>
          <p:cNvSpPr>
            <a:spLocks noGrp="1"/>
          </p:cNvSpPr>
          <p:nvPr>
            <p:ph type="sldNum" sz="quarter" idx="12"/>
          </p:nvPr>
        </p:nvSpPr>
        <p:spPr/>
        <p:txBody>
          <a:bodyPr/>
          <a:lstStyle/>
          <a:p>
            <a:fld id="{786B3DBC-4BE8-41A1-8E05-1A79043D4E53}" type="slidenum">
              <a:rPr lang="en-US" smtClean="0"/>
              <a:t>‹#›</a:t>
            </a:fld>
            <a:endParaRPr lang="en-US"/>
          </a:p>
        </p:txBody>
      </p:sp>
    </p:spTree>
    <p:extLst>
      <p:ext uri="{BB962C8B-B14F-4D97-AF65-F5344CB8AC3E}">
        <p14:creationId xmlns:p14="http://schemas.microsoft.com/office/powerpoint/2010/main" val="597944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7D7DBD-0ECE-12BD-15D0-915E153CCA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A4B3DC-507B-832C-3BC1-178A0AC99E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5F34DD-3D23-2FBB-CFC8-ECFF589CA7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A59F92-9550-4EA3-8C4B-E4040956BE55}" type="datetimeFigureOut">
              <a:rPr lang="en-US" smtClean="0"/>
              <a:t>10/27/2026</a:t>
            </a:fld>
            <a:endParaRPr lang="en-US"/>
          </a:p>
        </p:txBody>
      </p:sp>
      <p:sp>
        <p:nvSpPr>
          <p:cNvPr id="5" name="Footer Placeholder 4">
            <a:extLst>
              <a:ext uri="{FF2B5EF4-FFF2-40B4-BE49-F238E27FC236}">
                <a16:creationId xmlns:a16="http://schemas.microsoft.com/office/drawing/2014/main" id="{543BE39D-F58E-F96A-7735-64D995891D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7B9E60C-90C0-75A7-6C52-2446E70DBF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6B3DBC-4BE8-41A1-8E05-1A79043D4E53}" type="slidenum">
              <a:rPr lang="en-US" smtClean="0"/>
              <a:t>‹#›</a:t>
            </a:fld>
            <a:endParaRPr lang="en-US"/>
          </a:p>
        </p:txBody>
      </p:sp>
    </p:spTree>
    <p:extLst>
      <p:ext uri="{BB962C8B-B14F-4D97-AF65-F5344CB8AC3E}">
        <p14:creationId xmlns:p14="http://schemas.microsoft.com/office/powerpoint/2010/main" val="22321876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hyperlink" Target="https://maymourad.github.io/Diagnostic-Intelligence-Lab/"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A2C"/>
        </a:solidFill>
        <a:effectLst/>
      </p:bgPr>
    </p:bg>
    <p:spTree>
      <p:nvGrpSpPr>
        <p:cNvPr id="1" name=""/>
        <p:cNvGrpSpPr/>
        <p:nvPr/>
      </p:nvGrpSpPr>
      <p:grpSpPr>
        <a:xfrm>
          <a:off x="0" y="0"/>
          <a:ext cx="0" cy="0"/>
          <a:chOff x="0" y="0"/>
          <a:chExt cx="0" cy="0"/>
        </a:xfrm>
      </p:grpSpPr>
      <p:sp>
        <p:nvSpPr>
          <p:cNvPr id="2" name="txt-1">
            <a:extLst>
              <a:ext uri="{FF2B5EF4-FFF2-40B4-BE49-F238E27FC236}">
                <a16:creationId xmlns:a16="http://schemas.microsoft.com/office/drawing/2014/main" id="{B5683DB4-C0C7-7834-5D78-588B4A3BCD37}"/>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4A9A92"/>
                </a:solidFill>
                <a:latin typeface="Consolas" panose="020B0609020204030204" pitchFamily="49" charset="0"/>
                <a:cs typeface="Segoe UI" panose="020B0502040204020203" pitchFamily="34" charset="0"/>
              </a:rPr>
              <a:t>AL DHAFRA HEALTH FORUM · ACCURATE DIAGNOSIS — </a:t>
            </a:r>
            <a:r>
              <a:rPr lang="ar-AE" sz="1100">
                <a:solidFill>
                  <a:srgbClr val="4A9A92"/>
                </a:solidFill>
                <a:latin typeface="Consolas" panose="020B0609020204030204" pitchFamily="49" charset="0"/>
                <a:cs typeface="Segoe UI" panose="020B0502040204020203" pitchFamily="34" charset="0"/>
              </a:rPr>
              <a:t>التشخيص الدقيق</a:t>
            </a:r>
            <a:endParaRPr lang="en-US" sz="1100">
              <a:solidFill>
                <a:srgbClr val="4A9A92"/>
              </a:solidFill>
              <a:latin typeface="Consolas" panose="020B0609020204030204" pitchFamily="49" charset="0"/>
              <a:cs typeface="Segoe UI" panose="020B0502040204020203" pitchFamily="34" charset="0"/>
            </a:endParaRPr>
          </a:p>
        </p:txBody>
      </p:sp>
      <p:sp>
        <p:nvSpPr>
          <p:cNvPr id="3" name="txt-2">
            <a:extLst>
              <a:ext uri="{FF2B5EF4-FFF2-40B4-BE49-F238E27FC236}">
                <a16:creationId xmlns:a16="http://schemas.microsoft.com/office/drawing/2014/main" id="{EEED6C71-54E1-FB89-4E48-041F71E306ED}"/>
              </a:ext>
            </a:extLst>
          </p:cNvPr>
          <p:cNvSpPr txBox="1"/>
          <p:nvPr/>
        </p:nvSpPr>
        <p:spPr>
          <a:xfrm>
            <a:off x="711200" y="990600"/>
            <a:ext cx="5969000" cy="3175000"/>
          </a:xfrm>
          <a:prstGeom prst="rect">
            <a:avLst/>
          </a:prstGeom>
          <a:noFill/>
        </p:spPr>
        <p:txBody>
          <a:bodyPr vert="horz" wrap="square" lIns="0" tIns="0" rIns="0" bIns="0" rtlCol="0" anchor="t">
            <a:noAutofit/>
          </a:bodyPr>
          <a:lstStyle/>
          <a:p>
            <a:pPr>
              <a:lnSpc>
                <a:spcPct val="90000"/>
              </a:lnSpc>
            </a:pPr>
            <a:r>
              <a:rPr lang="en-US" sz="6200">
                <a:solidFill>
                  <a:srgbClr val="F7F2E8"/>
                </a:solidFill>
                <a:latin typeface="Georgia" panose="02040502050405020303" pitchFamily="18" charset="0"/>
                <a:cs typeface="Segoe UI" panose="020B0502040204020203" pitchFamily="34" charset="0"/>
              </a:rPr>
              <a:t>Diagnostic</a:t>
            </a:r>
          </a:p>
          <a:p>
            <a:pPr>
              <a:lnSpc>
                <a:spcPct val="90000"/>
              </a:lnSpc>
            </a:pPr>
            <a:r>
              <a:rPr lang="en-US" sz="6200">
                <a:solidFill>
                  <a:srgbClr val="F7F2E8"/>
                </a:solidFill>
                <a:latin typeface="Georgia" panose="02040502050405020303" pitchFamily="18" charset="0"/>
                <a:cs typeface="Segoe UI" panose="020B0502040204020203" pitchFamily="34" charset="0"/>
              </a:rPr>
              <a:t>Intelligence</a:t>
            </a:r>
          </a:p>
          <a:p>
            <a:pPr>
              <a:lnSpc>
                <a:spcPct val="90000"/>
              </a:lnSpc>
            </a:pPr>
            <a:r>
              <a:rPr lang="en-US" sz="6200" i="1">
                <a:solidFill>
                  <a:srgbClr val="8FD0C8"/>
                </a:solidFill>
                <a:latin typeface="Georgia" panose="02040502050405020303" pitchFamily="18" charset="0"/>
                <a:cs typeface="Segoe UI" panose="020B0502040204020203" pitchFamily="34" charset="0"/>
              </a:rPr>
              <a:t>Lab</a:t>
            </a:r>
          </a:p>
        </p:txBody>
      </p:sp>
      <p:sp>
        <p:nvSpPr>
          <p:cNvPr id="4" name="txt-3">
            <a:extLst>
              <a:ext uri="{FF2B5EF4-FFF2-40B4-BE49-F238E27FC236}">
                <a16:creationId xmlns:a16="http://schemas.microsoft.com/office/drawing/2014/main" id="{86505197-9179-CCFC-DB41-55A8F0709FCD}"/>
              </a:ext>
            </a:extLst>
          </p:cNvPr>
          <p:cNvSpPr txBox="1"/>
          <p:nvPr/>
        </p:nvSpPr>
        <p:spPr>
          <a:xfrm>
            <a:off x="711200" y="4191000"/>
            <a:ext cx="5588000" cy="889000"/>
          </a:xfrm>
          <a:prstGeom prst="rect">
            <a:avLst/>
          </a:prstGeom>
          <a:noFill/>
        </p:spPr>
        <p:txBody>
          <a:bodyPr vert="horz" wrap="square" lIns="0" tIns="0" rIns="0" bIns="0" rtlCol="0" anchor="t">
            <a:noAutofit/>
          </a:bodyPr>
          <a:lstStyle/>
          <a:p>
            <a:pPr>
              <a:lnSpc>
                <a:spcPct val="105000"/>
              </a:lnSpc>
            </a:pPr>
            <a:r>
              <a:rPr lang="en-US" sz="1900" i="1">
                <a:solidFill>
                  <a:srgbClr val="C9CFD6"/>
                </a:solidFill>
                <a:latin typeface="Georgia" panose="02040502050405020303" pitchFamily="18" charset="0"/>
                <a:cs typeface="Segoe UI" panose="020B0502040204020203" pitchFamily="34" charset="0"/>
              </a:rPr>
              <a:t>“Before we trust a diagnosis, we must understand how it was reached.”</a:t>
            </a:r>
          </a:p>
        </p:txBody>
      </p:sp>
      <p:cxnSp>
        <p:nvCxnSpPr>
          <p:cNvPr id="5" name="rule-4">
            <a:extLst>
              <a:ext uri="{FF2B5EF4-FFF2-40B4-BE49-F238E27FC236}">
                <a16:creationId xmlns:a16="http://schemas.microsoft.com/office/drawing/2014/main" id="{438B8015-CED7-9325-0FED-578EC12387FB}"/>
              </a:ext>
            </a:extLst>
          </p:cNvPr>
          <p:cNvCxnSpPr/>
          <p:nvPr/>
        </p:nvCxnSpPr>
        <p:spPr>
          <a:xfrm>
            <a:off x="711200" y="5181600"/>
            <a:ext cx="762000" cy="0"/>
          </a:xfrm>
          <a:prstGeom prst="line">
            <a:avLst/>
          </a:prstGeom>
          <a:ln w="12700">
            <a:solidFill>
              <a:srgbClr val="4A9A92"/>
            </a:solidFill>
          </a:ln>
        </p:spPr>
        <p:style>
          <a:lnRef idx="2">
            <a:schemeClr val="accent1"/>
          </a:lnRef>
          <a:fillRef idx="0">
            <a:schemeClr val="accent1"/>
          </a:fillRef>
          <a:effectRef idx="1">
            <a:schemeClr val="accent1"/>
          </a:effectRef>
          <a:fontRef idx="minor">
            <a:schemeClr val="tx1"/>
          </a:fontRef>
        </p:style>
      </p:cxnSp>
      <p:sp>
        <p:nvSpPr>
          <p:cNvPr id="6" name="txt-5">
            <a:extLst>
              <a:ext uri="{FF2B5EF4-FFF2-40B4-BE49-F238E27FC236}">
                <a16:creationId xmlns:a16="http://schemas.microsoft.com/office/drawing/2014/main" id="{8A54E8C1-B520-2E75-D5A0-A47D99CDBE3C}"/>
              </a:ext>
            </a:extLst>
          </p:cNvPr>
          <p:cNvSpPr txBox="1"/>
          <p:nvPr/>
        </p:nvSpPr>
        <p:spPr>
          <a:xfrm>
            <a:off x="711200" y="5308600"/>
            <a:ext cx="5588000" cy="990600"/>
          </a:xfrm>
          <a:prstGeom prst="rect">
            <a:avLst/>
          </a:prstGeom>
          <a:noFill/>
        </p:spPr>
        <p:txBody>
          <a:bodyPr vert="horz" wrap="square" lIns="0" tIns="0" rIns="0" bIns="0" rtlCol="0" anchor="t">
            <a:noAutofit/>
          </a:bodyPr>
          <a:lstStyle/>
          <a:p>
            <a:pPr>
              <a:spcAft>
                <a:spcPts val="200"/>
              </a:spcAft>
            </a:pPr>
            <a:r>
              <a:rPr lang="en-US" sz="1400" b="1">
                <a:solidFill>
                  <a:srgbClr val="F7F2E8"/>
                </a:solidFill>
                <a:latin typeface="Calibri" panose="020F0502020204030204" pitchFamily="34" charset="0"/>
                <a:cs typeface="Segoe UI" panose="020B0502040204020203" pitchFamily="34" charset="0"/>
              </a:rPr>
              <a:t>May Ahmed Mourad</a:t>
            </a:r>
            <a:r>
              <a:rPr lang="en-US" sz="1400">
                <a:solidFill>
                  <a:srgbClr val="F7F2E8"/>
                </a:solidFill>
                <a:latin typeface="Calibri" panose="020F0502020204030204" pitchFamily="34" charset="0"/>
                <a:cs typeface="Segoe UI" panose="020B0502040204020203" pitchFamily="34" charset="0"/>
              </a:rPr>
              <a:t>  ·  Grade 12</a:t>
            </a:r>
          </a:p>
          <a:p>
            <a:pPr>
              <a:spcAft>
                <a:spcPts val="200"/>
              </a:spcAft>
            </a:pPr>
            <a:r>
              <a:rPr lang="en-US" sz="1400" b="1">
                <a:solidFill>
                  <a:srgbClr val="F7F2E8"/>
                </a:solidFill>
                <a:latin typeface="Calibri" panose="020F0502020204030204" pitchFamily="34" charset="0"/>
                <a:cs typeface="Segoe UI" panose="020B0502040204020203" pitchFamily="34" charset="0"/>
              </a:rPr>
              <a:t>Shamsa Faris Almazrouei</a:t>
            </a:r>
            <a:r>
              <a:rPr lang="en-US" sz="1400">
                <a:solidFill>
                  <a:srgbClr val="F7F2E8"/>
                </a:solidFill>
                <a:latin typeface="Calibri" panose="020F0502020204030204" pitchFamily="34" charset="0"/>
                <a:cs typeface="Segoe UI" panose="020B0502040204020203" pitchFamily="34" charset="0"/>
              </a:rPr>
              <a:t>  ·  Grade 12</a:t>
            </a:r>
          </a:p>
          <a:p>
            <a:pPr>
              <a:spcAft>
                <a:spcPts val="200"/>
              </a:spcAft>
            </a:pPr>
            <a:r>
              <a:rPr lang="en-US" sz="1400" b="1">
                <a:solidFill>
                  <a:srgbClr val="F7F2E8"/>
                </a:solidFill>
                <a:latin typeface="Calibri" panose="020F0502020204030204" pitchFamily="34" charset="0"/>
                <a:cs typeface="Segoe UI" panose="020B0502040204020203" pitchFamily="34" charset="0"/>
              </a:rPr>
              <a:t>Fatima Mohamed Almazrouei</a:t>
            </a:r>
            <a:r>
              <a:rPr lang="en-US" sz="1400">
                <a:solidFill>
                  <a:srgbClr val="F7F2E8"/>
                </a:solidFill>
                <a:latin typeface="Calibri" panose="020F0502020204030204" pitchFamily="34" charset="0"/>
                <a:cs typeface="Segoe UI" panose="020B0502040204020203" pitchFamily="34" charset="0"/>
              </a:rPr>
              <a:t>  ·  Grade 11</a:t>
            </a:r>
          </a:p>
        </p:txBody>
      </p:sp>
      <p:sp>
        <p:nvSpPr>
          <p:cNvPr id="7" name="txt-6">
            <a:extLst>
              <a:ext uri="{FF2B5EF4-FFF2-40B4-BE49-F238E27FC236}">
                <a16:creationId xmlns:a16="http://schemas.microsoft.com/office/drawing/2014/main" id="{EB7258D1-60A0-E7BD-20C6-295171638700}"/>
              </a:ext>
            </a:extLst>
          </p:cNvPr>
          <p:cNvSpPr txBox="1"/>
          <p:nvPr/>
        </p:nvSpPr>
        <p:spPr>
          <a:xfrm>
            <a:off x="711200" y="6273800"/>
            <a:ext cx="5588000" cy="203200"/>
          </a:xfrm>
          <a:prstGeom prst="rect">
            <a:avLst/>
          </a:prstGeom>
          <a:noFill/>
        </p:spPr>
        <p:txBody>
          <a:bodyPr vert="horz" wrap="square" lIns="0" tIns="0" rIns="0" bIns="0" rtlCol="0" anchor="t">
            <a:noAutofit/>
          </a:bodyPr>
          <a:lstStyle/>
          <a:p>
            <a:r>
              <a:rPr lang="en-US" sz="1100">
                <a:solidFill>
                  <a:srgbClr val="8FD0C8"/>
                </a:solidFill>
                <a:latin typeface="Consolas" panose="020B0609020204030204" pitchFamily="49" charset="0"/>
                <a:cs typeface="Segoe UI" panose="020B0502040204020203" pitchFamily="34" charset="0"/>
              </a:rPr>
              <a:t>ADNOC Schools — Madinat Zayed</a:t>
            </a:r>
          </a:p>
        </p:txBody>
      </p:sp>
      <p:pic>
        <p:nvPicPr>
          <p:cNvPr id="9" name="pic-7" descr="Original three-dimensional model of a human right eye from the prototype entry page: sclera, cornea and iris in studio lighting on a deep navy background.">
            <a:extLst>
              <a:ext uri="{FF2B5EF4-FFF2-40B4-BE49-F238E27FC236}">
                <a16:creationId xmlns:a16="http://schemas.microsoft.com/office/drawing/2014/main" id="{7AD0C7CD-9120-99ED-EE6A-4FBD74F25699}"/>
              </a:ext>
            </a:extLst>
          </p:cNvPr>
          <p:cNvPicPr>
            <a:picLocks/>
          </p:cNvPicPr>
          <p:nvPr/>
        </p:nvPicPr>
        <p:blipFill>
          <a:blip r:embed="rId3">
            <a:extLst>
              <a:ext uri="{28A0092B-C50C-407E-A947-70E740481C1C}">
                <a14:useLocalDpi xmlns:a14="http://schemas.microsoft.com/office/drawing/2010/main" val="0"/>
              </a:ext>
            </a:extLst>
          </a:blip>
          <a:srcRect l="-1" t="-1" r="-1" b="-1"/>
          <a:stretch>
            <a:fillRect/>
          </a:stretch>
        </p:blipFill>
        <p:spPr>
          <a:xfrm>
            <a:off x="6350000" y="254000"/>
            <a:ext cx="5461000" cy="6179552"/>
          </a:xfrm>
          <a:prstGeom prst="rect">
            <a:avLst/>
          </a:prstGeom>
          <a:ln w="9525">
            <a:solidFill>
              <a:srgbClr val="234A73"/>
            </a:solidFill>
          </a:ln>
        </p:spPr>
      </p:pic>
      <p:sp>
        <p:nvSpPr>
          <p:cNvPr id="10" name="txt-8">
            <a:extLst>
              <a:ext uri="{FF2B5EF4-FFF2-40B4-BE49-F238E27FC236}">
                <a16:creationId xmlns:a16="http://schemas.microsoft.com/office/drawing/2014/main" id="{14406220-E821-5B89-C3F8-EEC78A725484}"/>
              </a:ext>
            </a:extLst>
          </p:cNvPr>
          <p:cNvSpPr txBox="1"/>
          <p:nvPr/>
        </p:nvSpPr>
        <p:spPr>
          <a:xfrm>
            <a:off x="6350000" y="6604000"/>
            <a:ext cx="5461000" cy="3556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FIG. 01 · original WebGL eye · schematic, not to scale</a:t>
            </a:r>
          </a:p>
        </p:txBody>
      </p:sp>
    </p:spTree>
    <p:extLst>
      <p:ext uri="{BB962C8B-B14F-4D97-AF65-F5344CB8AC3E}">
        <p14:creationId xmlns:p14="http://schemas.microsoft.com/office/powerpoint/2010/main" val="2660731599"/>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9">
            <a:extLst>
              <a:ext uri="{FF2B5EF4-FFF2-40B4-BE49-F238E27FC236}">
                <a16:creationId xmlns:a16="http://schemas.microsoft.com/office/drawing/2014/main" id="{12CD10F3-774D-8EC7-48BC-068E1AA02BCB}"/>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01 · THE PROBLEM</a:t>
            </a:r>
          </a:p>
        </p:txBody>
      </p:sp>
      <p:sp>
        <p:nvSpPr>
          <p:cNvPr id="3" name="txt-10">
            <a:extLst>
              <a:ext uri="{FF2B5EF4-FFF2-40B4-BE49-F238E27FC236}">
                <a16:creationId xmlns:a16="http://schemas.microsoft.com/office/drawing/2014/main" id="{C60AC5C4-C57F-423E-CC55-45AE09C35D88}"/>
              </a:ext>
            </a:extLst>
          </p:cNvPr>
          <p:cNvSpPr txBox="1"/>
          <p:nvPr/>
        </p:nvSpPr>
        <p:spPr>
          <a:xfrm>
            <a:off x="711200" y="685800"/>
            <a:ext cx="6350000" cy="1143000"/>
          </a:xfrm>
          <a:prstGeom prst="rect">
            <a:avLst/>
          </a:prstGeom>
          <a:noFill/>
        </p:spPr>
        <p:txBody>
          <a:bodyPr vert="horz" wrap="square" lIns="0" tIns="0" rIns="0" bIns="0" rtlCol="0" anchor="t">
            <a:noAutofit/>
          </a:bodyPr>
          <a:lstStyle/>
          <a:p>
            <a:pPr>
              <a:lnSpc>
                <a:spcPct val="95000"/>
              </a:lnSpc>
            </a:pPr>
            <a:r>
              <a:rPr lang="en-US" sz="4000">
                <a:solidFill>
                  <a:srgbClr val="0A1A2C"/>
                </a:solidFill>
                <a:latin typeface="Georgia" panose="02040502050405020303" pitchFamily="18" charset="0"/>
                <a:cs typeface="Segoe UI" panose="020B0502040204020203" pitchFamily="34" charset="0"/>
              </a:rPr>
              <a:t>A prediction is not proof.</a:t>
            </a:r>
          </a:p>
        </p:txBody>
      </p:sp>
      <p:sp>
        <p:nvSpPr>
          <p:cNvPr id="4" name="txt-11">
            <a:extLst>
              <a:ext uri="{FF2B5EF4-FFF2-40B4-BE49-F238E27FC236}">
                <a16:creationId xmlns:a16="http://schemas.microsoft.com/office/drawing/2014/main" id="{59448A2D-EAA4-9499-CC6C-A5FCDD83EB8D}"/>
              </a:ext>
            </a:extLst>
          </p:cNvPr>
          <p:cNvSpPr txBox="1"/>
          <p:nvPr/>
        </p:nvSpPr>
        <p:spPr>
          <a:xfrm>
            <a:off x="711200" y="1625600"/>
            <a:ext cx="4572000" cy="1778000"/>
          </a:xfrm>
          <a:prstGeom prst="rect">
            <a:avLst/>
          </a:prstGeom>
          <a:noFill/>
        </p:spPr>
        <p:txBody>
          <a:bodyPr vert="horz" wrap="square" lIns="0" tIns="0" rIns="0" bIns="0" rtlCol="0" anchor="t">
            <a:noAutofit/>
          </a:bodyPr>
          <a:lstStyle/>
          <a:p>
            <a:pPr>
              <a:spcAft>
                <a:spcPts val="1000"/>
              </a:spcAft>
            </a:pPr>
            <a:r>
              <a:rPr lang="en-US" sz="1700">
                <a:solidFill>
                  <a:srgbClr val="3B4A5C"/>
                </a:solidFill>
                <a:latin typeface="Calibri" panose="020F0502020204030204" pitchFamily="34" charset="0"/>
                <a:cs typeface="Segoe UI" panose="020B0502040204020203" pitchFamily="34" charset="0"/>
              </a:rPr>
              <a:t>The challenge is not producing a diagnostic label.</a:t>
            </a:r>
          </a:p>
          <a:p>
            <a:pPr>
              <a:spcAft>
                <a:spcPts val="1000"/>
              </a:spcAft>
            </a:pPr>
            <a:r>
              <a:rPr lang="en-US" sz="1700" b="1">
                <a:solidFill>
                  <a:srgbClr val="0A1A2C"/>
                </a:solidFill>
                <a:latin typeface="Calibri" panose="020F0502020204030204" pitchFamily="34" charset="0"/>
                <a:cs typeface="Segoe UI" panose="020B0502040204020203" pitchFamily="34" charset="0"/>
              </a:rPr>
              <a:t>It is establishing whether that label can be trusted.</a:t>
            </a:r>
          </a:p>
        </p:txBody>
      </p:sp>
      <p:cxnSp>
        <p:nvCxnSpPr>
          <p:cNvPr id="5" name="rule-12">
            <a:extLst>
              <a:ext uri="{FF2B5EF4-FFF2-40B4-BE49-F238E27FC236}">
                <a16:creationId xmlns:a16="http://schemas.microsoft.com/office/drawing/2014/main" id="{8B265115-1A33-E93C-6781-5FF2C8083AEC}"/>
              </a:ext>
            </a:extLst>
          </p:cNvPr>
          <p:cNvCxnSpPr/>
          <p:nvPr/>
        </p:nvCxnSpPr>
        <p:spPr>
          <a:xfrm flipV="1">
            <a:off x="8483600" y="1542288"/>
            <a:ext cx="0" cy="819912"/>
          </a:xfrm>
          <a:prstGeom prst="line">
            <a:avLst/>
          </a:prstGeom>
          <a:ln w="12700">
            <a:solidFill>
              <a:srgbClr val="CFC6B3"/>
            </a:solidFill>
          </a:ln>
        </p:spPr>
        <p:style>
          <a:lnRef idx="2">
            <a:schemeClr val="accent1"/>
          </a:lnRef>
          <a:fillRef idx="0">
            <a:schemeClr val="accent1"/>
          </a:fillRef>
          <a:effectRef idx="1">
            <a:schemeClr val="accent1"/>
          </a:effectRef>
          <a:fontRef idx="minor">
            <a:schemeClr val="tx1"/>
          </a:fontRef>
        </p:style>
      </p:cxnSp>
      <p:sp>
        <p:nvSpPr>
          <p:cNvPr id="6" name="oval-13">
            <a:extLst>
              <a:ext uri="{FF2B5EF4-FFF2-40B4-BE49-F238E27FC236}">
                <a16:creationId xmlns:a16="http://schemas.microsoft.com/office/drawing/2014/main" id="{81A806E5-52D8-ABCD-9247-ACD0D6FE61E2}"/>
              </a:ext>
            </a:extLst>
          </p:cNvPr>
          <p:cNvSpPr/>
          <p:nvPr/>
        </p:nvSpPr>
        <p:spPr>
          <a:xfrm>
            <a:off x="8394700" y="1339088"/>
            <a:ext cx="177800" cy="177800"/>
          </a:xfrm>
          <a:prstGeom prst="ellipse">
            <a:avLst/>
          </a:prstGeom>
          <a:solidFill>
            <a:srgbClr val="2A665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xt-14">
            <a:extLst>
              <a:ext uri="{FF2B5EF4-FFF2-40B4-BE49-F238E27FC236}">
                <a16:creationId xmlns:a16="http://schemas.microsoft.com/office/drawing/2014/main" id="{5EDF0FD6-8B58-10E3-F203-D90C84586733}"/>
              </a:ext>
            </a:extLst>
          </p:cNvPr>
          <p:cNvSpPr txBox="1"/>
          <p:nvPr/>
        </p:nvSpPr>
        <p:spPr>
          <a:xfrm>
            <a:off x="7277100" y="919988"/>
            <a:ext cx="2413000" cy="457200"/>
          </a:xfrm>
          <a:prstGeom prst="rect">
            <a:avLst/>
          </a:prstGeom>
          <a:noFill/>
        </p:spPr>
        <p:txBody>
          <a:bodyPr vert="horz" wrap="square" lIns="0" tIns="0" rIns="0" bIns="0" rtlCol="0" anchor="t">
            <a:noAutofit/>
          </a:bodyPr>
          <a:lstStyle/>
          <a:p>
            <a:pPr algn="ctr"/>
            <a:r>
              <a:rPr lang="en-US" sz="1100">
                <a:solidFill>
                  <a:srgbClr val="2A665F"/>
                </a:solidFill>
                <a:latin typeface="Consolas" panose="020B0609020204030204" pitchFamily="49" charset="0"/>
                <a:cs typeface="Segoe UI" panose="020B0502040204020203" pitchFamily="34" charset="0"/>
              </a:rPr>
              <a:t>EVIDENCE</a:t>
            </a:r>
          </a:p>
          <a:p>
            <a:pPr algn="ctr"/>
            <a:r>
              <a:rPr lang="en-US" sz="1200">
                <a:solidFill>
                  <a:srgbClr val="3B4A5C"/>
                </a:solidFill>
                <a:latin typeface="Calibri" panose="020F0502020204030204" pitchFamily="34" charset="0"/>
                <a:cs typeface="Segoe UI" panose="020B0502040204020203" pitchFamily="34" charset="0"/>
              </a:rPr>
              <a:t>What is actually visible</a:t>
            </a:r>
          </a:p>
        </p:txBody>
      </p:sp>
      <p:cxnSp>
        <p:nvCxnSpPr>
          <p:cNvPr id="8" name="rule-15">
            <a:extLst>
              <a:ext uri="{FF2B5EF4-FFF2-40B4-BE49-F238E27FC236}">
                <a16:creationId xmlns:a16="http://schemas.microsoft.com/office/drawing/2014/main" id="{FE889E7A-1F8F-99BD-9E87-C0171ED4AC82}"/>
              </a:ext>
            </a:extLst>
          </p:cNvPr>
          <p:cNvCxnSpPr/>
          <p:nvPr/>
        </p:nvCxnSpPr>
        <p:spPr>
          <a:xfrm flipV="1">
            <a:off x="8989532" y="2244344"/>
            <a:ext cx="736901" cy="409956"/>
          </a:xfrm>
          <a:prstGeom prst="line">
            <a:avLst/>
          </a:prstGeom>
          <a:ln w="12700">
            <a:solidFill>
              <a:srgbClr val="CFC6B3"/>
            </a:solidFill>
          </a:ln>
        </p:spPr>
        <p:style>
          <a:lnRef idx="2">
            <a:schemeClr val="accent1"/>
          </a:lnRef>
          <a:fillRef idx="0">
            <a:schemeClr val="accent1"/>
          </a:fillRef>
          <a:effectRef idx="1">
            <a:schemeClr val="accent1"/>
          </a:effectRef>
          <a:fontRef idx="minor">
            <a:schemeClr val="tx1"/>
          </a:fontRef>
        </p:style>
      </p:cxnSp>
      <p:sp>
        <p:nvSpPr>
          <p:cNvPr id="9" name="oval-16">
            <a:extLst>
              <a:ext uri="{FF2B5EF4-FFF2-40B4-BE49-F238E27FC236}">
                <a16:creationId xmlns:a16="http://schemas.microsoft.com/office/drawing/2014/main" id="{CCD9F221-A99C-7776-5F2B-9F9303943099}"/>
              </a:ext>
            </a:extLst>
          </p:cNvPr>
          <p:cNvSpPr/>
          <p:nvPr/>
        </p:nvSpPr>
        <p:spPr>
          <a:xfrm>
            <a:off x="9736520" y="2098294"/>
            <a:ext cx="177800" cy="177800"/>
          </a:xfrm>
          <a:prstGeom prst="ellipse">
            <a:avLst/>
          </a:prstGeom>
          <a:solidFill>
            <a:srgbClr val="2A665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xt-17">
            <a:extLst>
              <a:ext uri="{FF2B5EF4-FFF2-40B4-BE49-F238E27FC236}">
                <a16:creationId xmlns:a16="http://schemas.microsoft.com/office/drawing/2014/main" id="{187C0D6B-062A-1B56-2B31-B79F19F843ED}"/>
              </a:ext>
            </a:extLst>
          </p:cNvPr>
          <p:cNvSpPr txBox="1"/>
          <p:nvPr/>
        </p:nvSpPr>
        <p:spPr>
          <a:xfrm>
            <a:off x="10003220" y="2009394"/>
            <a:ext cx="1905000" cy="457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IMAGE QUALITY</a:t>
            </a:r>
          </a:p>
          <a:p>
            <a:r>
              <a:rPr lang="en-US" sz="1200">
                <a:solidFill>
                  <a:srgbClr val="3B4A5C"/>
                </a:solidFill>
                <a:latin typeface="Calibri" panose="020F0502020204030204" pitchFamily="34" charset="0"/>
                <a:cs typeface="Segoe UI" panose="020B0502040204020203" pitchFamily="34" charset="0"/>
              </a:rPr>
              <a:t>Blur, light, field</a:t>
            </a:r>
          </a:p>
        </p:txBody>
      </p:sp>
      <p:cxnSp>
        <p:nvCxnSpPr>
          <p:cNvPr id="11" name="rule-18">
            <a:extLst>
              <a:ext uri="{FF2B5EF4-FFF2-40B4-BE49-F238E27FC236}">
                <a16:creationId xmlns:a16="http://schemas.microsoft.com/office/drawing/2014/main" id="{A2FC85C3-14DE-4593-8B39-9940C71E843A}"/>
              </a:ext>
            </a:extLst>
          </p:cNvPr>
          <p:cNvCxnSpPr/>
          <p:nvPr/>
        </p:nvCxnSpPr>
        <p:spPr>
          <a:xfrm>
            <a:off x="8989532" y="3238500"/>
            <a:ext cx="736901" cy="409956"/>
          </a:xfrm>
          <a:prstGeom prst="line">
            <a:avLst/>
          </a:prstGeom>
          <a:ln w="12700">
            <a:solidFill>
              <a:srgbClr val="CFC6B3"/>
            </a:solidFill>
          </a:ln>
        </p:spPr>
        <p:style>
          <a:lnRef idx="2">
            <a:schemeClr val="accent1"/>
          </a:lnRef>
          <a:fillRef idx="0">
            <a:schemeClr val="accent1"/>
          </a:fillRef>
          <a:effectRef idx="1">
            <a:schemeClr val="accent1"/>
          </a:effectRef>
          <a:fontRef idx="minor">
            <a:schemeClr val="tx1"/>
          </a:fontRef>
        </p:style>
      </p:cxnSp>
      <p:sp>
        <p:nvSpPr>
          <p:cNvPr id="12" name="oval-19">
            <a:extLst>
              <a:ext uri="{FF2B5EF4-FFF2-40B4-BE49-F238E27FC236}">
                <a16:creationId xmlns:a16="http://schemas.microsoft.com/office/drawing/2014/main" id="{98EA6A8D-2B04-FE06-BAB7-1C1D0AFD3443}"/>
              </a:ext>
            </a:extLst>
          </p:cNvPr>
          <p:cNvSpPr/>
          <p:nvPr/>
        </p:nvSpPr>
        <p:spPr>
          <a:xfrm>
            <a:off x="9736520" y="3616706"/>
            <a:ext cx="177800" cy="177800"/>
          </a:xfrm>
          <a:prstGeom prst="ellipse">
            <a:avLst/>
          </a:prstGeom>
          <a:solidFill>
            <a:srgbClr val="2A665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xt-20">
            <a:extLst>
              <a:ext uri="{FF2B5EF4-FFF2-40B4-BE49-F238E27FC236}">
                <a16:creationId xmlns:a16="http://schemas.microsoft.com/office/drawing/2014/main" id="{677445CF-F708-6548-434A-867E37B364D7}"/>
              </a:ext>
            </a:extLst>
          </p:cNvPr>
          <p:cNvSpPr txBox="1"/>
          <p:nvPr/>
        </p:nvSpPr>
        <p:spPr>
          <a:xfrm>
            <a:off x="10003220" y="3527806"/>
            <a:ext cx="1905000" cy="457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INTERPRETATION</a:t>
            </a:r>
          </a:p>
          <a:p>
            <a:r>
              <a:rPr lang="en-US" sz="1200">
                <a:solidFill>
                  <a:srgbClr val="3B4A5C"/>
                </a:solidFill>
                <a:latin typeface="Calibri" panose="020F0502020204030204" pitchFamily="34" charset="0"/>
                <a:cs typeface="Segoe UI" panose="020B0502040204020203" pitchFamily="34" charset="0"/>
              </a:rPr>
              <a:t>Who read it, how</a:t>
            </a:r>
          </a:p>
        </p:txBody>
      </p:sp>
      <p:cxnSp>
        <p:nvCxnSpPr>
          <p:cNvPr id="14" name="rule-21">
            <a:extLst>
              <a:ext uri="{FF2B5EF4-FFF2-40B4-BE49-F238E27FC236}">
                <a16:creationId xmlns:a16="http://schemas.microsoft.com/office/drawing/2014/main" id="{4ADEF458-F98F-DABC-05CE-A54BA958A038}"/>
              </a:ext>
            </a:extLst>
          </p:cNvPr>
          <p:cNvCxnSpPr/>
          <p:nvPr/>
        </p:nvCxnSpPr>
        <p:spPr>
          <a:xfrm>
            <a:off x="8483600" y="3530600"/>
            <a:ext cx="0" cy="819912"/>
          </a:xfrm>
          <a:prstGeom prst="line">
            <a:avLst/>
          </a:prstGeom>
          <a:ln w="12700">
            <a:solidFill>
              <a:srgbClr val="CFC6B3"/>
            </a:solidFill>
          </a:ln>
        </p:spPr>
        <p:style>
          <a:lnRef idx="2">
            <a:schemeClr val="accent1"/>
          </a:lnRef>
          <a:fillRef idx="0">
            <a:schemeClr val="accent1"/>
          </a:fillRef>
          <a:effectRef idx="1">
            <a:schemeClr val="accent1"/>
          </a:effectRef>
          <a:fontRef idx="minor">
            <a:schemeClr val="tx1"/>
          </a:fontRef>
        </p:style>
      </p:cxnSp>
      <p:sp>
        <p:nvSpPr>
          <p:cNvPr id="15" name="oval-22">
            <a:extLst>
              <a:ext uri="{FF2B5EF4-FFF2-40B4-BE49-F238E27FC236}">
                <a16:creationId xmlns:a16="http://schemas.microsoft.com/office/drawing/2014/main" id="{F083CDC7-63A4-8ED2-5963-B270A28F9608}"/>
              </a:ext>
            </a:extLst>
          </p:cNvPr>
          <p:cNvSpPr/>
          <p:nvPr/>
        </p:nvSpPr>
        <p:spPr>
          <a:xfrm>
            <a:off x="8394700" y="4375912"/>
            <a:ext cx="177800" cy="177800"/>
          </a:xfrm>
          <a:prstGeom prst="ellipse">
            <a:avLst/>
          </a:prstGeom>
          <a:solidFill>
            <a:srgbClr val="2A665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xt-23">
            <a:extLst>
              <a:ext uri="{FF2B5EF4-FFF2-40B4-BE49-F238E27FC236}">
                <a16:creationId xmlns:a16="http://schemas.microsoft.com/office/drawing/2014/main" id="{244ADDB1-ECC5-D484-282C-AE823C175604}"/>
              </a:ext>
            </a:extLst>
          </p:cNvPr>
          <p:cNvSpPr txBox="1"/>
          <p:nvPr/>
        </p:nvSpPr>
        <p:spPr>
          <a:xfrm>
            <a:off x="7277100" y="4617212"/>
            <a:ext cx="2413000" cy="457200"/>
          </a:xfrm>
          <a:prstGeom prst="rect">
            <a:avLst/>
          </a:prstGeom>
          <a:noFill/>
        </p:spPr>
        <p:txBody>
          <a:bodyPr vert="horz" wrap="square" lIns="0" tIns="0" rIns="0" bIns="0" rtlCol="0" anchor="t">
            <a:noAutofit/>
          </a:bodyPr>
          <a:lstStyle/>
          <a:p>
            <a:pPr algn="ctr"/>
            <a:r>
              <a:rPr lang="en-US" sz="1100">
                <a:solidFill>
                  <a:srgbClr val="2A665F"/>
                </a:solidFill>
                <a:latin typeface="Consolas" panose="020B0609020204030204" pitchFamily="49" charset="0"/>
                <a:cs typeface="Segoe UI" panose="020B0502040204020203" pitchFamily="34" charset="0"/>
              </a:rPr>
              <a:t>ERRORS</a:t>
            </a:r>
          </a:p>
          <a:p>
            <a:pPr algn="ctr"/>
            <a:r>
              <a:rPr lang="en-US" sz="1200">
                <a:solidFill>
                  <a:srgbClr val="3B4A5C"/>
                </a:solidFill>
                <a:latin typeface="Calibri" panose="020F0502020204030204" pitchFamily="34" charset="0"/>
                <a:cs typeface="Segoe UI" panose="020B0502040204020203" pitchFamily="34" charset="0"/>
              </a:rPr>
              <a:t>Missed · over-referred</a:t>
            </a:r>
          </a:p>
        </p:txBody>
      </p:sp>
      <p:cxnSp>
        <p:nvCxnSpPr>
          <p:cNvPr id="17" name="rule-24">
            <a:extLst>
              <a:ext uri="{FF2B5EF4-FFF2-40B4-BE49-F238E27FC236}">
                <a16:creationId xmlns:a16="http://schemas.microsoft.com/office/drawing/2014/main" id="{8D4221D7-8993-928F-8DCB-BA9695B5001E}"/>
              </a:ext>
            </a:extLst>
          </p:cNvPr>
          <p:cNvCxnSpPr/>
          <p:nvPr/>
        </p:nvCxnSpPr>
        <p:spPr>
          <a:xfrm flipH="1">
            <a:off x="7240767" y="3238500"/>
            <a:ext cx="736901" cy="409956"/>
          </a:xfrm>
          <a:prstGeom prst="line">
            <a:avLst/>
          </a:prstGeom>
          <a:ln w="12700">
            <a:solidFill>
              <a:srgbClr val="CFC6B3"/>
            </a:solidFill>
          </a:ln>
        </p:spPr>
        <p:style>
          <a:lnRef idx="2">
            <a:schemeClr val="accent1"/>
          </a:lnRef>
          <a:fillRef idx="0">
            <a:schemeClr val="accent1"/>
          </a:fillRef>
          <a:effectRef idx="1">
            <a:schemeClr val="accent1"/>
          </a:effectRef>
          <a:fontRef idx="minor">
            <a:schemeClr val="tx1"/>
          </a:fontRef>
        </p:style>
      </p:cxnSp>
      <p:sp>
        <p:nvSpPr>
          <p:cNvPr id="18" name="oval-25">
            <a:extLst>
              <a:ext uri="{FF2B5EF4-FFF2-40B4-BE49-F238E27FC236}">
                <a16:creationId xmlns:a16="http://schemas.microsoft.com/office/drawing/2014/main" id="{23D38E8E-141D-1FEB-261F-BE27EBD9EF84}"/>
              </a:ext>
            </a:extLst>
          </p:cNvPr>
          <p:cNvSpPr/>
          <p:nvPr/>
        </p:nvSpPr>
        <p:spPr>
          <a:xfrm>
            <a:off x="7052880" y="3616706"/>
            <a:ext cx="177800" cy="177800"/>
          </a:xfrm>
          <a:prstGeom prst="ellipse">
            <a:avLst/>
          </a:prstGeom>
          <a:solidFill>
            <a:srgbClr val="2A665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xt-26">
            <a:extLst>
              <a:ext uri="{FF2B5EF4-FFF2-40B4-BE49-F238E27FC236}">
                <a16:creationId xmlns:a16="http://schemas.microsoft.com/office/drawing/2014/main" id="{8D56A535-7116-8B72-5ABC-A60BB1A57D9B}"/>
              </a:ext>
            </a:extLst>
          </p:cNvPr>
          <p:cNvSpPr txBox="1"/>
          <p:nvPr/>
        </p:nvSpPr>
        <p:spPr>
          <a:xfrm>
            <a:off x="5058980" y="3527806"/>
            <a:ext cx="1905000" cy="457200"/>
          </a:xfrm>
          <a:prstGeom prst="rect">
            <a:avLst/>
          </a:prstGeom>
          <a:noFill/>
        </p:spPr>
        <p:txBody>
          <a:bodyPr vert="horz" wrap="square" lIns="0" tIns="0" rIns="0" bIns="0" rtlCol="0" anchor="t">
            <a:noAutofit/>
          </a:bodyPr>
          <a:lstStyle/>
          <a:p>
            <a:pPr algn="r"/>
            <a:r>
              <a:rPr lang="en-US" sz="1100">
                <a:solidFill>
                  <a:srgbClr val="2A665F"/>
                </a:solidFill>
                <a:latin typeface="Consolas" panose="020B0609020204030204" pitchFamily="49" charset="0"/>
                <a:cs typeface="Segoe UI" panose="020B0502040204020203" pitchFamily="34" charset="0"/>
              </a:rPr>
              <a:t>UNCERTAINTY</a:t>
            </a:r>
          </a:p>
          <a:p>
            <a:pPr algn="r"/>
            <a:r>
              <a:rPr lang="en-US" sz="1200">
                <a:solidFill>
                  <a:srgbClr val="3B4A5C"/>
                </a:solidFill>
                <a:latin typeface="Calibri" panose="020F0502020204030204" pitchFamily="34" charset="0"/>
                <a:cs typeface="Segoe UI" panose="020B0502040204020203" pitchFamily="34" charset="0"/>
              </a:rPr>
              <a:t>Ungradable · borderline</a:t>
            </a:r>
          </a:p>
        </p:txBody>
      </p:sp>
      <p:cxnSp>
        <p:nvCxnSpPr>
          <p:cNvPr id="20" name="rule-27">
            <a:extLst>
              <a:ext uri="{FF2B5EF4-FFF2-40B4-BE49-F238E27FC236}">
                <a16:creationId xmlns:a16="http://schemas.microsoft.com/office/drawing/2014/main" id="{FC444C00-8DF2-B17F-EF6C-4A8B455E1440}"/>
              </a:ext>
            </a:extLst>
          </p:cNvPr>
          <p:cNvCxnSpPr/>
          <p:nvPr/>
        </p:nvCxnSpPr>
        <p:spPr>
          <a:xfrm flipH="1" flipV="1">
            <a:off x="7240767" y="2244344"/>
            <a:ext cx="736901" cy="409956"/>
          </a:xfrm>
          <a:prstGeom prst="line">
            <a:avLst/>
          </a:prstGeom>
          <a:ln w="12700">
            <a:solidFill>
              <a:srgbClr val="CFC6B3"/>
            </a:solidFill>
          </a:ln>
        </p:spPr>
        <p:style>
          <a:lnRef idx="2">
            <a:schemeClr val="accent1"/>
          </a:lnRef>
          <a:fillRef idx="0">
            <a:schemeClr val="accent1"/>
          </a:fillRef>
          <a:effectRef idx="1">
            <a:schemeClr val="accent1"/>
          </a:effectRef>
          <a:fontRef idx="minor">
            <a:schemeClr val="tx1"/>
          </a:fontRef>
        </p:style>
      </p:cxnSp>
      <p:sp>
        <p:nvSpPr>
          <p:cNvPr id="21" name="oval-28">
            <a:extLst>
              <a:ext uri="{FF2B5EF4-FFF2-40B4-BE49-F238E27FC236}">
                <a16:creationId xmlns:a16="http://schemas.microsoft.com/office/drawing/2014/main" id="{7077F43F-FC77-9225-8CFD-7F79A57BF333}"/>
              </a:ext>
            </a:extLst>
          </p:cNvPr>
          <p:cNvSpPr/>
          <p:nvPr/>
        </p:nvSpPr>
        <p:spPr>
          <a:xfrm>
            <a:off x="7052880" y="2098294"/>
            <a:ext cx="177800" cy="177800"/>
          </a:xfrm>
          <a:prstGeom prst="ellipse">
            <a:avLst/>
          </a:prstGeom>
          <a:solidFill>
            <a:srgbClr val="2A665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xt-29">
            <a:extLst>
              <a:ext uri="{FF2B5EF4-FFF2-40B4-BE49-F238E27FC236}">
                <a16:creationId xmlns:a16="http://schemas.microsoft.com/office/drawing/2014/main" id="{1E4916DC-4FEC-D1BA-F4EE-279657162193}"/>
              </a:ext>
            </a:extLst>
          </p:cNvPr>
          <p:cNvSpPr txBox="1"/>
          <p:nvPr/>
        </p:nvSpPr>
        <p:spPr>
          <a:xfrm>
            <a:off x="5058980" y="1679194"/>
            <a:ext cx="1905000" cy="457200"/>
          </a:xfrm>
          <a:prstGeom prst="rect">
            <a:avLst/>
          </a:prstGeom>
          <a:noFill/>
        </p:spPr>
        <p:txBody>
          <a:bodyPr vert="horz" wrap="square" lIns="0" tIns="0" rIns="0" bIns="0" rtlCol="0" anchor="t">
            <a:noAutofit/>
          </a:bodyPr>
          <a:lstStyle/>
          <a:p>
            <a:pPr algn="r"/>
            <a:r>
              <a:rPr lang="en-US" sz="1100">
                <a:solidFill>
                  <a:srgbClr val="2A665F"/>
                </a:solidFill>
                <a:latin typeface="Consolas" panose="020B0609020204030204" pitchFamily="49" charset="0"/>
                <a:cs typeface="Segoe UI" panose="020B0502040204020203" pitchFamily="34" charset="0"/>
              </a:rPr>
              <a:t>HUMAN OVERSIGHT</a:t>
            </a:r>
          </a:p>
          <a:p>
            <a:pPr algn="r"/>
            <a:r>
              <a:rPr lang="en-US" sz="1200">
                <a:solidFill>
                  <a:srgbClr val="3B4A5C"/>
                </a:solidFill>
                <a:latin typeface="Calibri" panose="020F0502020204030204" pitchFamily="34" charset="0"/>
                <a:cs typeface="Segoe UI" panose="020B0502040204020203" pitchFamily="34" charset="0"/>
              </a:rPr>
              <a:t>Who is accountable</a:t>
            </a:r>
          </a:p>
        </p:txBody>
      </p:sp>
      <p:sp>
        <p:nvSpPr>
          <p:cNvPr id="23" name="oval-30">
            <a:extLst>
              <a:ext uri="{FF2B5EF4-FFF2-40B4-BE49-F238E27FC236}">
                <a16:creationId xmlns:a16="http://schemas.microsoft.com/office/drawing/2014/main" id="{9FDA0830-2D26-34B0-B3D8-27840FA45DF5}"/>
              </a:ext>
            </a:extLst>
          </p:cNvPr>
          <p:cNvSpPr/>
          <p:nvPr/>
        </p:nvSpPr>
        <p:spPr>
          <a:xfrm>
            <a:off x="7899400" y="2362200"/>
            <a:ext cx="1168400" cy="1168400"/>
          </a:xfrm>
          <a:prstGeom prst="ellipse">
            <a:avLst/>
          </a:prstGeom>
          <a:solidFill>
            <a:srgbClr val="0A1A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xt-31">
            <a:extLst>
              <a:ext uri="{FF2B5EF4-FFF2-40B4-BE49-F238E27FC236}">
                <a16:creationId xmlns:a16="http://schemas.microsoft.com/office/drawing/2014/main" id="{8FC2B309-0890-B601-964C-E64A2A648B7E}"/>
              </a:ext>
            </a:extLst>
          </p:cNvPr>
          <p:cNvSpPr txBox="1"/>
          <p:nvPr/>
        </p:nvSpPr>
        <p:spPr>
          <a:xfrm>
            <a:off x="7950200" y="2667000"/>
            <a:ext cx="1066800" cy="584200"/>
          </a:xfrm>
          <a:prstGeom prst="rect">
            <a:avLst/>
          </a:prstGeom>
          <a:noFill/>
        </p:spPr>
        <p:txBody>
          <a:bodyPr vert="horz" wrap="square" lIns="0" tIns="0" rIns="0" bIns="0" rtlCol="0" anchor="ctr">
            <a:noAutofit/>
          </a:bodyPr>
          <a:lstStyle/>
          <a:p>
            <a:pPr algn="ctr"/>
            <a:r>
              <a:rPr lang="en-US" sz="1200" i="1">
                <a:solidFill>
                  <a:srgbClr val="F7F2E8"/>
                </a:solidFill>
                <a:latin typeface="Georgia" panose="02040502050405020303" pitchFamily="18" charset="0"/>
                <a:cs typeface="Segoe UI" panose="020B0502040204020203" pitchFamily="34" charset="0"/>
              </a:rPr>
              <a:t>Can this label be trusted?</a:t>
            </a:r>
          </a:p>
        </p:txBody>
      </p:sp>
      <p:cxnSp>
        <p:nvCxnSpPr>
          <p:cNvPr id="25" name="rule-32">
            <a:extLst>
              <a:ext uri="{FF2B5EF4-FFF2-40B4-BE49-F238E27FC236}">
                <a16:creationId xmlns:a16="http://schemas.microsoft.com/office/drawing/2014/main" id="{ADC6A2D6-E5D2-A4BF-45C4-351BD0FF1561}"/>
              </a:ext>
            </a:extLst>
          </p:cNvPr>
          <p:cNvCxnSpPr/>
          <p:nvPr/>
        </p:nvCxnSpPr>
        <p:spPr>
          <a:xfrm>
            <a:off x="711200" y="5181600"/>
            <a:ext cx="107696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26" name="txt-33">
            <a:extLst>
              <a:ext uri="{FF2B5EF4-FFF2-40B4-BE49-F238E27FC236}">
                <a16:creationId xmlns:a16="http://schemas.microsoft.com/office/drawing/2014/main" id="{D78CF2BE-0889-4350-8ECB-44163C595104}"/>
              </a:ext>
            </a:extLst>
          </p:cNvPr>
          <p:cNvSpPr txBox="1"/>
          <p:nvPr/>
        </p:nvSpPr>
        <p:spPr>
          <a:xfrm>
            <a:off x="711200" y="5308600"/>
            <a:ext cx="1651000" cy="508000"/>
          </a:xfrm>
          <a:prstGeom prst="rect">
            <a:avLst/>
          </a:prstGeom>
          <a:noFill/>
        </p:spPr>
        <p:txBody>
          <a:bodyPr vert="horz" wrap="square" lIns="0" tIns="0" rIns="0" bIns="0" rtlCol="0" anchor="t">
            <a:noAutofit/>
          </a:bodyPr>
          <a:lstStyle/>
          <a:p>
            <a:r>
              <a:rPr lang="en-US" sz="3000">
                <a:solidFill>
                  <a:srgbClr val="0A1A2C"/>
                </a:solidFill>
                <a:latin typeface="Georgia" panose="02040502050405020303" pitchFamily="18" charset="0"/>
                <a:cs typeface="Segoe UI" panose="020B0502040204020203" pitchFamily="34" charset="0"/>
              </a:rPr>
              <a:t>22.3%</a:t>
            </a:r>
          </a:p>
        </p:txBody>
      </p:sp>
      <p:sp>
        <p:nvSpPr>
          <p:cNvPr id="27" name="txt-34">
            <a:extLst>
              <a:ext uri="{FF2B5EF4-FFF2-40B4-BE49-F238E27FC236}">
                <a16:creationId xmlns:a16="http://schemas.microsoft.com/office/drawing/2014/main" id="{2F3B1EDD-7EA2-5B21-BE59-0FBF0DFAD096}"/>
              </a:ext>
            </a:extLst>
          </p:cNvPr>
          <p:cNvSpPr txBox="1"/>
          <p:nvPr/>
        </p:nvSpPr>
        <p:spPr>
          <a:xfrm>
            <a:off x="2336800" y="5346700"/>
            <a:ext cx="3810000" cy="685800"/>
          </a:xfrm>
          <a:prstGeom prst="rect">
            <a:avLst/>
          </a:prstGeom>
          <a:noFill/>
        </p:spPr>
        <p:txBody>
          <a:bodyPr vert="horz" wrap="square" lIns="0" tIns="0" rIns="0" bIns="0" rtlCol="0" anchor="t">
            <a:noAutofit/>
          </a:bodyPr>
          <a:lstStyle/>
          <a:p>
            <a:pPr>
              <a:spcAft>
                <a:spcPts val="200"/>
              </a:spcAft>
            </a:pPr>
            <a:r>
              <a:rPr lang="en-US" sz="1300">
                <a:solidFill>
                  <a:srgbClr val="3B4A5C"/>
                </a:solidFill>
                <a:latin typeface="Calibri" panose="020F0502020204030204" pitchFamily="34" charset="0"/>
                <a:cs typeface="Segoe UI" panose="020B0502040204020203" pitchFamily="34" charset="0"/>
              </a:rPr>
              <a:t>of adults with diabetes worldwide have diabetic retinopathy (95% CI 19.7–25.0)</a:t>
            </a:r>
          </a:p>
          <a:p>
            <a:pPr>
              <a:spcAft>
                <a:spcPts val="200"/>
              </a:spcAft>
            </a:pPr>
            <a:r>
              <a:rPr lang="en-US" sz="1000">
                <a:solidFill>
                  <a:srgbClr val="67707B"/>
                </a:solidFill>
                <a:latin typeface="Consolas" panose="020B0609020204030204" pitchFamily="49" charset="0"/>
                <a:cs typeface="Segoe UI" panose="020B0502040204020203" pitchFamily="34" charset="0"/>
              </a:rPr>
              <a:t>Teo et al., Ophthalmology 2021 · 59 studies</a:t>
            </a:r>
          </a:p>
        </p:txBody>
      </p:sp>
      <p:sp>
        <p:nvSpPr>
          <p:cNvPr id="28" name="txt-35">
            <a:extLst>
              <a:ext uri="{FF2B5EF4-FFF2-40B4-BE49-F238E27FC236}">
                <a16:creationId xmlns:a16="http://schemas.microsoft.com/office/drawing/2014/main" id="{EAB8180E-88DC-DA23-896E-23F2DE416736}"/>
              </a:ext>
            </a:extLst>
          </p:cNvPr>
          <p:cNvSpPr txBox="1"/>
          <p:nvPr/>
        </p:nvSpPr>
        <p:spPr>
          <a:xfrm>
            <a:off x="6299200" y="5308600"/>
            <a:ext cx="1651000" cy="508000"/>
          </a:xfrm>
          <a:prstGeom prst="rect">
            <a:avLst/>
          </a:prstGeom>
          <a:noFill/>
        </p:spPr>
        <p:txBody>
          <a:bodyPr vert="horz" wrap="square" lIns="0" tIns="0" rIns="0" bIns="0" rtlCol="0" anchor="t">
            <a:noAutofit/>
          </a:bodyPr>
          <a:lstStyle/>
          <a:p>
            <a:r>
              <a:rPr lang="en-US" sz="3000">
                <a:solidFill>
                  <a:srgbClr val="0A1A2C"/>
                </a:solidFill>
                <a:latin typeface="Georgia" panose="02040502050405020303" pitchFamily="18" charset="0"/>
                <a:cs typeface="Segoe UI" panose="020B0502040204020203" pitchFamily="34" charset="0"/>
              </a:rPr>
              <a:t>≈ 1.3 M</a:t>
            </a:r>
          </a:p>
        </p:txBody>
      </p:sp>
      <p:sp>
        <p:nvSpPr>
          <p:cNvPr id="29" name="txt-36">
            <a:extLst>
              <a:ext uri="{FF2B5EF4-FFF2-40B4-BE49-F238E27FC236}">
                <a16:creationId xmlns:a16="http://schemas.microsoft.com/office/drawing/2014/main" id="{C7BFD67D-33EF-365D-0438-82C497DFA784}"/>
              </a:ext>
            </a:extLst>
          </p:cNvPr>
          <p:cNvSpPr txBox="1"/>
          <p:nvPr/>
        </p:nvSpPr>
        <p:spPr>
          <a:xfrm>
            <a:off x="7924800" y="5346700"/>
            <a:ext cx="3810000" cy="685800"/>
          </a:xfrm>
          <a:prstGeom prst="rect">
            <a:avLst/>
          </a:prstGeom>
          <a:noFill/>
        </p:spPr>
        <p:txBody>
          <a:bodyPr vert="horz" wrap="square" lIns="0" tIns="0" rIns="0" bIns="0" rtlCol="0" anchor="t">
            <a:noAutofit/>
          </a:bodyPr>
          <a:lstStyle/>
          <a:p>
            <a:pPr>
              <a:spcAft>
                <a:spcPts val="200"/>
              </a:spcAft>
            </a:pPr>
            <a:r>
              <a:rPr lang="en-US" sz="1300">
                <a:solidFill>
                  <a:srgbClr val="3B4A5C"/>
                </a:solidFill>
                <a:latin typeface="Calibri" panose="020F0502020204030204" pitchFamily="34" charset="0"/>
                <a:cs typeface="Segoe UI" panose="020B0502040204020203" pitchFamily="34" charset="0"/>
              </a:rPr>
              <a:t>adults (20–79) with diabetes in the UAE in 2024</a:t>
            </a:r>
          </a:p>
          <a:p>
            <a:pPr>
              <a:spcAft>
                <a:spcPts val="200"/>
              </a:spcAft>
            </a:pPr>
            <a:r>
              <a:rPr lang="en-US" sz="1000">
                <a:solidFill>
                  <a:srgbClr val="67707B"/>
                </a:solidFill>
                <a:latin typeface="Consolas" panose="020B0609020204030204" pitchFamily="49" charset="0"/>
                <a:cs typeface="Segoe UI" panose="020B0502040204020203" pitchFamily="34" charset="0"/>
              </a:rPr>
              <a:t>IDF Diabetes Atlas · UAE country report</a:t>
            </a:r>
          </a:p>
        </p:txBody>
      </p:sp>
      <p:sp>
        <p:nvSpPr>
          <p:cNvPr id="30" name="txt-37">
            <a:extLst>
              <a:ext uri="{FF2B5EF4-FFF2-40B4-BE49-F238E27FC236}">
                <a16:creationId xmlns:a16="http://schemas.microsoft.com/office/drawing/2014/main" id="{E7E5E23D-C41B-B32D-3AA8-28E9A45595EF}"/>
              </a:ext>
            </a:extLst>
          </p:cNvPr>
          <p:cNvSpPr txBox="1"/>
          <p:nvPr/>
        </p:nvSpPr>
        <p:spPr>
          <a:xfrm>
            <a:off x="711200" y="6527800"/>
            <a:ext cx="8890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DIAGNOSTIC INTELLIGENCE LAB · AL DHAFRA HEALTH FORUM · EDUCATIONAL PROTOTYPE · NOT A MEDICAL DEVICE</a:t>
            </a:r>
          </a:p>
        </p:txBody>
      </p:sp>
      <p:sp>
        <p:nvSpPr>
          <p:cNvPr id="31" name="txt-38">
            <a:extLst>
              <a:ext uri="{FF2B5EF4-FFF2-40B4-BE49-F238E27FC236}">
                <a16:creationId xmlns:a16="http://schemas.microsoft.com/office/drawing/2014/main" id="{0382534B-ABE5-B5F1-D1C5-DFFBD02DBE48}"/>
              </a:ext>
            </a:extLst>
          </p:cNvPr>
          <p:cNvSpPr txBox="1"/>
          <p:nvPr/>
        </p:nvSpPr>
        <p:spPr>
          <a:xfrm>
            <a:off x="10972800" y="6527800"/>
            <a:ext cx="5080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cs typeface="Segoe UI" panose="020B0502040204020203" pitchFamily="34" charset="0"/>
              </a:rPr>
              <a:t>02</a:t>
            </a:r>
          </a:p>
        </p:txBody>
      </p:sp>
    </p:spTree>
    <p:extLst>
      <p:ext uri="{BB962C8B-B14F-4D97-AF65-F5344CB8AC3E}">
        <p14:creationId xmlns:p14="http://schemas.microsoft.com/office/powerpoint/2010/main" val="1095327111"/>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39">
            <a:extLst>
              <a:ext uri="{FF2B5EF4-FFF2-40B4-BE49-F238E27FC236}">
                <a16:creationId xmlns:a16="http://schemas.microsoft.com/office/drawing/2014/main" id="{AB7232E4-CF23-AB9D-BC6C-F8AD2B726A5C}"/>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02 · OUR RESEARCH QUESTION</a:t>
            </a:r>
          </a:p>
        </p:txBody>
      </p:sp>
      <p:sp>
        <p:nvSpPr>
          <p:cNvPr id="3" name="txt-40">
            <a:extLst>
              <a:ext uri="{FF2B5EF4-FFF2-40B4-BE49-F238E27FC236}">
                <a16:creationId xmlns:a16="http://schemas.microsoft.com/office/drawing/2014/main" id="{E0059452-CC14-41C8-5581-A55CB17572CD}"/>
              </a:ext>
            </a:extLst>
          </p:cNvPr>
          <p:cNvSpPr txBox="1"/>
          <p:nvPr/>
        </p:nvSpPr>
        <p:spPr>
          <a:xfrm>
            <a:off x="711200" y="685800"/>
            <a:ext cx="9906000" cy="1143000"/>
          </a:xfrm>
          <a:prstGeom prst="rect">
            <a:avLst/>
          </a:prstGeom>
          <a:noFill/>
        </p:spPr>
        <p:txBody>
          <a:bodyPr vert="horz" wrap="square" lIns="0" tIns="0" rIns="0" bIns="0" rtlCol="0" anchor="t">
            <a:noAutofit/>
          </a:bodyPr>
          <a:lstStyle/>
          <a:p>
            <a:pPr>
              <a:lnSpc>
                <a:spcPct val="95000"/>
              </a:lnSpc>
            </a:pPr>
            <a:r>
              <a:rPr lang="en-US" sz="3100">
                <a:solidFill>
                  <a:srgbClr val="0A1A2C"/>
                </a:solidFill>
                <a:latin typeface="Georgia" panose="02040502050405020303" pitchFamily="18" charset="0"/>
                <a:cs typeface="Segoe UI" panose="020B0502040204020203" pitchFamily="34" charset="0"/>
              </a:rPr>
              <a:t>How accurately is a diagnosis read — and how can we measure that?</a:t>
            </a:r>
          </a:p>
        </p:txBody>
      </p:sp>
      <p:sp>
        <p:nvSpPr>
          <p:cNvPr id="4" name="shape-41">
            <a:extLst>
              <a:ext uri="{FF2B5EF4-FFF2-40B4-BE49-F238E27FC236}">
                <a16:creationId xmlns:a16="http://schemas.microsoft.com/office/drawing/2014/main" id="{B6CEB277-EFE1-B92F-AFA6-241B452E2D5E}"/>
              </a:ext>
            </a:extLst>
          </p:cNvPr>
          <p:cNvSpPr/>
          <p:nvPr/>
        </p:nvSpPr>
        <p:spPr>
          <a:xfrm>
            <a:off x="711200" y="2413000"/>
            <a:ext cx="1651000" cy="12192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xt-42">
            <a:extLst>
              <a:ext uri="{FF2B5EF4-FFF2-40B4-BE49-F238E27FC236}">
                <a16:creationId xmlns:a16="http://schemas.microsoft.com/office/drawing/2014/main" id="{9598A892-22E8-688B-D562-4BF8064D9C6E}"/>
              </a:ext>
            </a:extLst>
          </p:cNvPr>
          <p:cNvSpPr txBox="1"/>
          <p:nvPr/>
        </p:nvSpPr>
        <p:spPr>
          <a:xfrm>
            <a:off x="838200" y="2540000"/>
            <a:ext cx="355600" cy="3048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01</a:t>
            </a:r>
          </a:p>
        </p:txBody>
      </p:sp>
      <p:sp>
        <p:nvSpPr>
          <p:cNvPr id="6" name="txt-43">
            <a:extLst>
              <a:ext uri="{FF2B5EF4-FFF2-40B4-BE49-F238E27FC236}">
                <a16:creationId xmlns:a16="http://schemas.microsoft.com/office/drawing/2014/main" id="{8BB657C5-F84D-5A0F-35D3-A2AF667F23F9}"/>
              </a:ext>
            </a:extLst>
          </p:cNvPr>
          <p:cNvSpPr txBox="1"/>
          <p:nvPr/>
        </p:nvSpPr>
        <p:spPr>
          <a:xfrm>
            <a:off x="838200" y="2844800"/>
            <a:ext cx="1422400" cy="711200"/>
          </a:xfrm>
          <a:prstGeom prst="rect">
            <a:avLst/>
          </a:prstGeom>
          <a:noFill/>
        </p:spPr>
        <p:txBody>
          <a:bodyPr vert="horz" wrap="square" lIns="0" tIns="0" rIns="0" bIns="0" rtlCol="0" anchor="t">
            <a:noAutofit/>
          </a:bodyPr>
          <a:lstStyle/>
          <a:p>
            <a:pPr>
              <a:lnSpc>
                <a:spcPct val="95000"/>
              </a:lnSpc>
            </a:pPr>
            <a:r>
              <a:rPr lang="en-US" sz="1600">
                <a:solidFill>
                  <a:srgbClr val="0A1A2C"/>
                </a:solidFill>
                <a:latin typeface="Georgia" panose="02040502050405020303" pitchFamily="18" charset="0"/>
                <a:cs typeface="Segoe UI" panose="020B0502040204020203" pitchFamily="34" charset="0"/>
              </a:rPr>
              <a:t>Retinal case</a:t>
            </a:r>
          </a:p>
        </p:txBody>
      </p:sp>
      <p:cxnSp>
        <p:nvCxnSpPr>
          <p:cNvPr id="7" name="rule-44">
            <a:extLst>
              <a:ext uri="{FF2B5EF4-FFF2-40B4-BE49-F238E27FC236}">
                <a16:creationId xmlns:a16="http://schemas.microsoft.com/office/drawing/2014/main" id="{3869ADE7-C240-C396-A1EC-15900A9174C2}"/>
              </a:ext>
            </a:extLst>
          </p:cNvPr>
          <p:cNvCxnSpPr/>
          <p:nvPr/>
        </p:nvCxnSpPr>
        <p:spPr>
          <a:xfrm>
            <a:off x="2374900" y="3022600"/>
            <a:ext cx="132080" cy="0"/>
          </a:xfrm>
          <a:prstGeom prst="line">
            <a:avLst/>
          </a:prstGeom>
          <a:ln w="15875">
            <a:solidFill>
              <a:srgbClr val="2A66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xt-45">
            <a:extLst>
              <a:ext uri="{FF2B5EF4-FFF2-40B4-BE49-F238E27FC236}">
                <a16:creationId xmlns:a16="http://schemas.microsoft.com/office/drawing/2014/main" id="{DE15757F-7892-F64D-C170-E5C3788F536D}"/>
              </a:ext>
            </a:extLst>
          </p:cNvPr>
          <p:cNvSpPr txBox="1"/>
          <p:nvPr/>
        </p:nvSpPr>
        <p:spPr>
          <a:xfrm>
            <a:off x="711200" y="3759200"/>
            <a:ext cx="1651000" cy="5080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Workbench · 16 synthetic cases</a:t>
            </a:r>
          </a:p>
        </p:txBody>
      </p:sp>
      <p:sp>
        <p:nvSpPr>
          <p:cNvPr id="9" name="shape-46">
            <a:extLst>
              <a:ext uri="{FF2B5EF4-FFF2-40B4-BE49-F238E27FC236}">
                <a16:creationId xmlns:a16="http://schemas.microsoft.com/office/drawing/2014/main" id="{04FAF7F9-BDE2-A6E6-3EC1-15DF9CAF0987}"/>
              </a:ext>
            </a:extLst>
          </p:cNvPr>
          <p:cNvSpPr/>
          <p:nvPr/>
        </p:nvSpPr>
        <p:spPr>
          <a:xfrm>
            <a:off x="2519680" y="2413000"/>
            <a:ext cx="1651000" cy="12192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xt-47">
            <a:extLst>
              <a:ext uri="{FF2B5EF4-FFF2-40B4-BE49-F238E27FC236}">
                <a16:creationId xmlns:a16="http://schemas.microsoft.com/office/drawing/2014/main" id="{F2F52A0F-EEA5-F3D4-D7CA-90AA0FC1682D}"/>
              </a:ext>
            </a:extLst>
          </p:cNvPr>
          <p:cNvSpPr txBox="1"/>
          <p:nvPr/>
        </p:nvSpPr>
        <p:spPr>
          <a:xfrm>
            <a:off x="2646680" y="2540000"/>
            <a:ext cx="355600" cy="3048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02</a:t>
            </a:r>
          </a:p>
        </p:txBody>
      </p:sp>
      <p:sp>
        <p:nvSpPr>
          <p:cNvPr id="11" name="txt-48">
            <a:extLst>
              <a:ext uri="{FF2B5EF4-FFF2-40B4-BE49-F238E27FC236}">
                <a16:creationId xmlns:a16="http://schemas.microsoft.com/office/drawing/2014/main" id="{68743D15-FAA3-6D96-B4B3-9BA1CC0A6763}"/>
              </a:ext>
            </a:extLst>
          </p:cNvPr>
          <p:cNvSpPr txBox="1"/>
          <p:nvPr/>
        </p:nvSpPr>
        <p:spPr>
          <a:xfrm>
            <a:off x="2646680" y="2844800"/>
            <a:ext cx="1422400" cy="711200"/>
          </a:xfrm>
          <a:prstGeom prst="rect">
            <a:avLst/>
          </a:prstGeom>
          <a:noFill/>
        </p:spPr>
        <p:txBody>
          <a:bodyPr vert="horz" wrap="square" lIns="0" tIns="0" rIns="0" bIns="0" rtlCol="0" anchor="t">
            <a:noAutofit/>
          </a:bodyPr>
          <a:lstStyle/>
          <a:p>
            <a:pPr>
              <a:lnSpc>
                <a:spcPct val="95000"/>
              </a:lnSpc>
            </a:pPr>
            <a:r>
              <a:rPr lang="en-US" sz="1600">
                <a:solidFill>
                  <a:srgbClr val="0A1A2C"/>
                </a:solidFill>
                <a:latin typeface="Georgia" panose="02040502050405020303" pitchFamily="18" charset="0"/>
                <a:cs typeface="Segoe UI" panose="020B0502040204020203" pitchFamily="34" charset="0"/>
              </a:rPr>
              <a:t>Evidence inspection</a:t>
            </a:r>
          </a:p>
        </p:txBody>
      </p:sp>
      <p:cxnSp>
        <p:nvCxnSpPr>
          <p:cNvPr id="12" name="rule-49">
            <a:extLst>
              <a:ext uri="{FF2B5EF4-FFF2-40B4-BE49-F238E27FC236}">
                <a16:creationId xmlns:a16="http://schemas.microsoft.com/office/drawing/2014/main" id="{5EA2DF26-4997-D5C6-E5BE-E82B2DBA368B}"/>
              </a:ext>
            </a:extLst>
          </p:cNvPr>
          <p:cNvCxnSpPr/>
          <p:nvPr/>
        </p:nvCxnSpPr>
        <p:spPr>
          <a:xfrm>
            <a:off x="4183380" y="3022600"/>
            <a:ext cx="132080" cy="0"/>
          </a:xfrm>
          <a:prstGeom prst="line">
            <a:avLst/>
          </a:prstGeom>
          <a:ln w="15875">
            <a:solidFill>
              <a:srgbClr val="2A66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xt-50">
            <a:extLst>
              <a:ext uri="{FF2B5EF4-FFF2-40B4-BE49-F238E27FC236}">
                <a16:creationId xmlns:a16="http://schemas.microsoft.com/office/drawing/2014/main" id="{268F178C-28F0-B97E-01A5-D9154A5D1865}"/>
              </a:ext>
            </a:extLst>
          </p:cNvPr>
          <p:cNvSpPr txBox="1"/>
          <p:nvPr/>
        </p:nvSpPr>
        <p:spPr>
          <a:xfrm>
            <a:off x="2519680" y="3759200"/>
            <a:ext cx="1651000" cy="5080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EvidenceLens</a:t>
            </a:r>
          </a:p>
        </p:txBody>
      </p:sp>
      <p:sp>
        <p:nvSpPr>
          <p:cNvPr id="14" name="shape-51">
            <a:extLst>
              <a:ext uri="{FF2B5EF4-FFF2-40B4-BE49-F238E27FC236}">
                <a16:creationId xmlns:a16="http://schemas.microsoft.com/office/drawing/2014/main" id="{6E8F6466-9D88-7538-D833-1B7F0DB58684}"/>
              </a:ext>
            </a:extLst>
          </p:cNvPr>
          <p:cNvSpPr/>
          <p:nvPr/>
        </p:nvSpPr>
        <p:spPr>
          <a:xfrm>
            <a:off x="4328160" y="2413000"/>
            <a:ext cx="1651000" cy="12192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xt-52">
            <a:extLst>
              <a:ext uri="{FF2B5EF4-FFF2-40B4-BE49-F238E27FC236}">
                <a16:creationId xmlns:a16="http://schemas.microsoft.com/office/drawing/2014/main" id="{5B21D5EF-78E4-74D9-5ED4-8BED710192EB}"/>
              </a:ext>
            </a:extLst>
          </p:cNvPr>
          <p:cNvSpPr txBox="1"/>
          <p:nvPr/>
        </p:nvSpPr>
        <p:spPr>
          <a:xfrm>
            <a:off x="4455160" y="2540000"/>
            <a:ext cx="355600" cy="3048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03</a:t>
            </a:r>
          </a:p>
        </p:txBody>
      </p:sp>
      <p:sp>
        <p:nvSpPr>
          <p:cNvPr id="16" name="txt-53">
            <a:extLst>
              <a:ext uri="{FF2B5EF4-FFF2-40B4-BE49-F238E27FC236}">
                <a16:creationId xmlns:a16="http://schemas.microsoft.com/office/drawing/2014/main" id="{CDF435B0-204E-92D5-20F1-39A46C1A33AA}"/>
              </a:ext>
            </a:extLst>
          </p:cNvPr>
          <p:cNvSpPr txBox="1"/>
          <p:nvPr/>
        </p:nvSpPr>
        <p:spPr>
          <a:xfrm>
            <a:off x="4455160" y="2844800"/>
            <a:ext cx="1422400" cy="711200"/>
          </a:xfrm>
          <a:prstGeom prst="rect">
            <a:avLst/>
          </a:prstGeom>
          <a:noFill/>
        </p:spPr>
        <p:txBody>
          <a:bodyPr vert="horz" wrap="square" lIns="0" tIns="0" rIns="0" bIns="0" rtlCol="0" anchor="t">
            <a:noAutofit/>
          </a:bodyPr>
          <a:lstStyle/>
          <a:p>
            <a:pPr>
              <a:lnSpc>
                <a:spcPct val="95000"/>
              </a:lnSpc>
            </a:pPr>
            <a:r>
              <a:rPr lang="en-US" sz="1600">
                <a:solidFill>
                  <a:srgbClr val="0A1A2C"/>
                </a:solidFill>
                <a:latin typeface="Georgia" panose="02040502050405020303" pitchFamily="18" charset="0"/>
                <a:cs typeface="Segoe UI" panose="020B0502040204020203" pitchFamily="34" charset="0"/>
              </a:rPr>
              <a:t>Human interpretation</a:t>
            </a:r>
          </a:p>
        </p:txBody>
      </p:sp>
      <p:cxnSp>
        <p:nvCxnSpPr>
          <p:cNvPr id="17" name="rule-54">
            <a:extLst>
              <a:ext uri="{FF2B5EF4-FFF2-40B4-BE49-F238E27FC236}">
                <a16:creationId xmlns:a16="http://schemas.microsoft.com/office/drawing/2014/main" id="{42BA1D8D-71C9-9C8D-3C8C-736563880E70}"/>
              </a:ext>
            </a:extLst>
          </p:cNvPr>
          <p:cNvCxnSpPr/>
          <p:nvPr/>
        </p:nvCxnSpPr>
        <p:spPr>
          <a:xfrm>
            <a:off x="5991860" y="3022600"/>
            <a:ext cx="132080" cy="0"/>
          </a:xfrm>
          <a:prstGeom prst="line">
            <a:avLst/>
          </a:prstGeom>
          <a:ln w="15875">
            <a:solidFill>
              <a:srgbClr val="2A66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xt-55">
            <a:extLst>
              <a:ext uri="{FF2B5EF4-FFF2-40B4-BE49-F238E27FC236}">
                <a16:creationId xmlns:a16="http://schemas.microsoft.com/office/drawing/2014/main" id="{65F2F16F-BBED-8CD6-B005-E5090EC2D341}"/>
              </a:ext>
            </a:extLst>
          </p:cNvPr>
          <p:cNvSpPr txBox="1"/>
          <p:nvPr/>
        </p:nvSpPr>
        <p:spPr>
          <a:xfrm>
            <a:off x="4328160" y="3759200"/>
            <a:ext cx="1651000" cy="5080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Diagnostic Duel · lock</a:t>
            </a:r>
          </a:p>
        </p:txBody>
      </p:sp>
      <p:sp>
        <p:nvSpPr>
          <p:cNvPr id="19" name="shape-56">
            <a:extLst>
              <a:ext uri="{FF2B5EF4-FFF2-40B4-BE49-F238E27FC236}">
                <a16:creationId xmlns:a16="http://schemas.microsoft.com/office/drawing/2014/main" id="{DFB880A0-15D9-2BE9-EEDC-20485EC6544C}"/>
              </a:ext>
            </a:extLst>
          </p:cNvPr>
          <p:cNvSpPr/>
          <p:nvPr/>
        </p:nvSpPr>
        <p:spPr>
          <a:xfrm>
            <a:off x="6136640" y="2413000"/>
            <a:ext cx="1651000" cy="12192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xt-57">
            <a:extLst>
              <a:ext uri="{FF2B5EF4-FFF2-40B4-BE49-F238E27FC236}">
                <a16:creationId xmlns:a16="http://schemas.microsoft.com/office/drawing/2014/main" id="{07AFB0E6-1E69-D11A-DC1B-4977770B65AB}"/>
              </a:ext>
            </a:extLst>
          </p:cNvPr>
          <p:cNvSpPr txBox="1"/>
          <p:nvPr/>
        </p:nvSpPr>
        <p:spPr>
          <a:xfrm>
            <a:off x="6263640" y="2540000"/>
            <a:ext cx="355600" cy="3048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04</a:t>
            </a:r>
          </a:p>
        </p:txBody>
      </p:sp>
      <p:sp>
        <p:nvSpPr>
          <p:cNvPr id="21" name="txt-58">
            <a:extLst>
              <a:ext uri="{FF2B5EF4-FFF2-40B4-BE49-F238E27FC236}">
                <a16:creationId xmlns:a16="http://schemas.microsoft.com/office/drawing/2014/main" id="{9F313530-BB7E-447E-07D4-7B512AD62FCC}"/>
              </a:ext>
            </a:extLst>
          </p:cNvPr>
          <p:cNvSpPr txBox="1"/>
          <p:nvPr/>
        </p:nvSpPr>
        <p:spPr>
          <a:xfrm>
            <a:off x="6263640" y="2844800"/>
            <a:ext cx="1422400" cy="711200"/>
          </a:xfrm>
          <a:prstGeom prst="rect">
            <a:avLst/>
          </a:prstGeom>
          <a:noFill/>
        </p:spPr>
        <p:txBody>
          <a:bodyPr vert="horz" wrap="square" lIns="0" tIns="0" rIns="0" bIns="0" rtlCol="0" anchor="t">
            <a:noAutofit/>
          </a:bodyPr>
          <a:lstStyle/>
          <a:p>
            <a:pPr>
              <a:lnSpc>
                <a:spcPct val="95000"/>
              </a:lnSpc>
            </a:pPr>
            <a:r>
              <a:rPr lang="en-US" sz="1600">
                <a:solidFill>
                  <a:srgbClr val="0A1A2C"/>
                </a:solidFill>
                <a:latin typeface="Georgia" panose="02040502050405020303" pitchFamily="18" charset="0"/>
                <a:cs typeface="Segoe UI" panose="020B0502040204020203" pitchFamily="34" charset="0"/>
              </a:rPr>
              <a:t>Reference comparison</a:t>
            </a:r>
          </a:p>
        </p:txBody>
      </p:sp>
      <p:cxnSp>
        <p:nvCxnSpPr>
          <p:cNvPr id="22" name="rule-59">
            <a:extLst>
              <a:ext uri="{FF2B5EF4-FFF2-40B4-BE49-F238E27FC236}">
                <a16:creationId xmlns:a16="http://schemas.microsoft.com/office/drawing/2014/main" id="{74965546-6DDB-AFCA-4F30-301908AA74C1}"/>
              </a:ext>
            </a:extLst>
          </p:cNvPr>
          <p:cNvCxnSpPr/>
          <p:nvPr/>
        </p:nvCxnSpPr>
        <p:spPr>
          <a:xfrm>
            <a:off x="7800340" y="3022600"/>
            <a:ext cx="132080" cy="0"/>
          </a:xfrm>
          <a:prstGeom prst="line">
            <a:avLst/>
          </a:prstGeom>
          <a:ln w="15875">
            <a:solidFill>
              <a:srgbClr val="2A66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xt-60">
            <a:extLst>
              <a:ext uri="{FF2B5EF4-FFF2-40B4-BE49-F238E27FC236}">
                <a16:creationId xmlns:a16="http://schemas.microsoft.com/office/drawing/2014/main" id="{F248E40A-68FE-A03C-A8E1-1DA41B2B2452}"/>
              </a:ext>
            </a:extLst>
          </p:cNvPr>
          <p:cNvSpPr txBox="1"/>
          <p:nvPr/>
        </p:nvSpPr>
        <p:spPr>
          <a:xfrm>
            <a:off x="6136640" y="3759200"/>
            <a:ext cx="1651000" cy="5080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Diagnostic Duel · reveal</a:t>
            </a:r>
          </a:p>
        </p:txBody>
      </p:sp>
      <p:sp>
        <p:nvSpPr>
          <p:cNvPr id="24" name="shape-61">
            <a:extLst>
              <a:ext uri="{FF2B5EF4-FFF2-40B4-BE49-F238E27FC236}">
                <a16:creationId xmlns:a16="http://schemas.microsoft.com/office/drawing/2014/main" id="{AE7E392B-7492-9021-A50F-757CC2B7C151}"/>
              </a:ext>
            </a:extLst>
          </p:cNvPr>
          <p:cNvSpPr/>
          <p:nvPr/>
        </p:nvSpPr>
        <p:spPr>
          <a:xfrm>
            <a:off x="7945120" y="2413000"/>
            <a:ext cx="1651000" cy="1219200"/>
          </a:xfrm>
          <a:prstGeom prst="rect">
            <a:avLst/>
          </a:prstGeom>
          <a:solidFill>
            <a:srgbClr val="0A1A2C"/>
          </a:solidFill>
          <a:ln w="9525">
            <a:solidFill>
              <a:srgbClr val="0A1A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xt-62">
            <a:extLst>
              <a:ext uri="{FF2B5EF4-FFF2-40B4-BE49-F238E27FC236}">
                <a16:creationId xmlns:a16="http://schemas.microsoft.com/office/drawing/2014/main" id="{9A56D485-A095-6AAE-29EF-3DEB56B663B2}"/>
              </a:ext>
            </a:extLst>
          </p:cNvPr>
          <p:cNvSpPr txBox="1"/>
          <p:nvPr/>
        </p:nvSpPr>
        <p:spPr>
          <a:xfrm>
            <a:off x="8072120" y="2540000"/>
            <a:ext cx="355600" cy="304800"/>
          </a:xfrm>
          <a:prstGeom prst="rect">
            <a:avLst/>
          </a:prstGeom>
          <a:noFill/>
        </p:spPr>
        <p:txBody>
          <a:bodyPr vert="horz" wrap="square" lIns="0" tIns="0" rIns="0" bIns="0" rtlCol="0" anchor="t">
            <a:noAutofit/>
          </a:bodyPr>
          <a:lstStyle/>
          <a:p>
            <a:r>
              <a:rPr lang="en-US" sz="1100">
                <a:solidFill>
                  <a:srgbClr val="4A9A92"/>
                </a:solidFill>
                <a:latin typeface="Consolas" panose="020B0609020204030204" pitchFamily="49" charset="0"/>
                <a:cs typeface="Segoe UI" panose="020B0502040204020203" pitchFamily="34" charset="0"/>
              </a:rPr>
              <a:t>05</a:t>
            </a:r>
          </a:p>
        </p:txBody>
      </p:sp>
      <p:sp>
        <p:nvSpPr>
          <p:cNvPr id="26" name="txt-63">
            <a:extLst>
              <a:ext uri="{FF2B5EF4-FFF2-40B4-BE49-F238E27FC236}">
                <a16:creationId xmlns:a16="http://schemas.microsoft.com/office/drawing/2014/main" id="{FBB261B4-FD42-D0D2-2D12-0ACBD6B3176E}"/>
              </a:ext>
            </a:extLst>
          </p:cNvPr>
          <p:cNvSpPr txBox="1"/>
          <p:nvPr/>
        </p:nvSpPr>
        <p:spPr>
          <a:xfrm>
            <a:off x="8072120" y="2844800"/>
            <a:ext cx="1422400" cy="711200"/>
          </a:xfrm>
          <a:prstGeom prst="rect">
            <a:avLst/>
          </a:prstGeom>
          <a:noFill/>
        </p:spPr>
        <p:txBody>
          <a:bodyPr vert="horz" wrap="square" lIns="0" tIns="0" rIns="0" bIns="0" rtlCol="0" anchor="t">
            <a:noAutofit/>
          </a:bodyPr>
          <a:lstStyle/>
          <a:p>
            <a:pPr>
              <a:lnSpc>
                <a:spcPct val="95000"/>
              </a:lnSpc>
            </a:pPr>
            <a:r>
              <a:rPr lang="en-US" sz="1600">
                <a:solidFill>
                  <a:srgbClr val="F7F2E8"/>
                </a:solidFill>
                <a:latin typeface="Georgia" panose="02040502050405020303" pitchFamily="18" charset="0"/>
                <a:cs typeface="Segoe UI" panose="020B0502040204020203" pitchFamily="34" charset="0"/>
              </a:rPr>
              <a:t>Reliability evaluation</a:t>
            </a:r>
          </a:p>
        </p:txBody>
      </p:sp>
      <p:cxnSp>
        <p:nvCxnSpPr>
          <p:cNvPr id="27" name="rule-64">
            <a:extLst>
              <a:ext uri="{FF2B5EF4-FFF2-40B4-BE49-F238E27FC236}">
                <a16:creationId xmlns:a16="http://schemas.microsoft.com/office/drawing/2014/main" id="{713DC45C-5EE3-4ADC-75D0-059754B241C7}"/>
              </a:ext>
            </a:extLst>
          </p:cNvPr>
          <p:cNvCxnSpPr/>
          <p:nvPr/>
        </p:nvCxnSpPr>
        <p:spPr>
          <a:xfrm>
            <a:off x="9608820" y="3022600"/>
            <a:ext cx="132080" cy="0"/>
          </a:xfrm>
          <a:prstGeom prst="line">
            <a:avLst/>
          </a:prstGeom>
          <a:ln w="15875">
            <a:solidFill>
              <a:srgbClr val="2A66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xt-65">
            <a:extLst>
              <a:ext uri="{FF2B5EF4-FFF2-40B4-BE49-F238E27FC236}">
                <a16:creationId xmlns:a16="http://schemas.microsoft.com/office/drawing/2014/main" id="{9484E1F4-341D-78F5-1B64-404AFD48FC77}"/>
              </a:ext>
            </a:extLst>
          </p:cNvPr>
          <p:cNvSpPr txBox="1"/>
          <p:nvPr/>
        </p:nvSpPr>
        <p:spPr>
          <a:xfrm>
            <a:off x="7945120" y="3759200"/>
            <a:ext cx="1651000" cy="5080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Quality &amp; Uncertainty · Accuracy Lab</a:t>
            </a:r>
          </a:p>
        </p:txBody>
      </p:sp>
      <p:sp>
        <p:nvSpPr>
          <p:cNvPr id="29" name="shape-66">
            <a:extLst>
              <a:ext uri="{FF2B5EF4-FFF2-40B4-BE49-F238E27FC236}">
                <a16:creationId xmlns:a16="http://schemas.microsoft.com/office/drawing/2014/main" id="{F43629F8-0280-7DBF-6065-70CF87B58C81}"/>
              </a:ext>
            </a:extLst>
          </p:cNvPr>
          <p:cNvSpPr/>
          <p:nvPr/>
        </p:nvSpPr>
        <p:spPr>
          <a:xfrm>
            <a:off x="9753600" y="2413000"/>
            <a:ext cx="1651000" cy="12192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xt-67">
            <a:extLst>
              <a:ext uri="{FF2B5EF4-FFF2-40B4-BE49-F238E27FC236}">
                <a16:creationId xmlns:a16="http://schemas.microsoft.com/office/drawing/2014/main" id="{3E416085-00EB-5FCA-DBFF-968072545E10}"/>
              </a:ext>
            </a:extLst>
          </p:cNvPr>
          <p:cNvSpPr txBox="1"/>
          <p:nvPr/>
        </p:nvSpPr>
        <p:spPr>
          <a:xfrm>
            <a:off x="9880600" y="2540000"/>
            <a:ext cx="355600" cy="3048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06</a:t>
            </a:r>
          </a:p>
        </p:txBody>
      </p:sp>
      <p:sp>
        <p:nvSpPr>
          <p:cNvPr id="31" name="txt-68">
            <a:extLst>
              <a:ext uri="{FF2B5EF4-FFF2-40B4-BE49-F238E27FC236}">
                <a16:creationId xmlns:a16="http://schemas.microsoft.com/office/drawing/2014/main" id="{82EF625D-9ACC-262C-89AE-CB38E7D2C2A3}"/>
              </a:ext>
            </a:extLst>
          </p:cNvPr>
          <p:cNvSpPr txBox="1"/>
          <p:nvPr/>
        </p:nvSpPr>
        <p:spPr>
          <a:xfrm>
            <a:off x="9880600" y="2844800"/>
            <a:ext cx="1422400" cy="711200"/>
          </a:xfrm>
          <a:prstGeom prst="rect">
            <a:avLst/>
          </a:prstGeom>
          <a:noFill/>
        </p:spPr>
        <p:txBody>
          <a:bodyPr vert="horz" wrap="square" lIns="0" tIns="0" rIns="0" bIns="0" rtlCol="0" anchor="t">
            <a:noAutofit/>
          </a:bodyPr>
          <a:lstStyle/>
          <a:p>
            <a:pPr>
              <a:lnSpc>
                <a:spcPct val="95000"/>
              </a:lnSpc>
            </a:pPr>
            <a:r>
              <a:rPr lang="en-US" sz="1600">
                <a:solidFill>
                  <a:srgbClr val="0A1A2C"/>
                </a:solidFill>
                <a:latin typeface="Georgia" panose="02040502050405020303" pitchFamily="18" charset="0"/>
                <a:cs typeface="Segoe UI" panose="020B0502040204020203" pitchFamily="34" charset="0"/>
              </a:rPr>
              <a:t>Human review</a:t>
            </a:r>
          </a:p>
        </p:txBody>
      </p:sp>
      <p:sp>
        <p:nvSpPr>
          <p:cNvPr id="32" name="txt-69">
            <a:extLst>
              <a:ext uri="{FF2B5EF4-FFF2-40B4-BE49-F238E27FC236}">
                <a16:creationId xmlns:a16="http://schemas.microsoft.com/office/drawing/2014/main" id="{1F4A8C50-BBD1-6401-6418-568C052B6B56}"/>
              </a:ext>
            </a:extLst>
          </p:cNvPr>
          <p:cNvSpPr txBox="1"/>
          <p:nvPr/>
        </p:nvSpPr>
        <p:spPr>
          <a:xfrm>
            <a:off x="9753600" y="3759200"/>
            <a:ext cx="1651000" cy="5080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Review Queue · Clinician approval</a:t>
            </a:r>
          </a:p>
        </p:txBody>
      </p:sp>
      <p:cxnSp>
        <p:nvCxnSpPr>
          <p:cNvPr id="33" name="rule-70">
            <a:extLst>
              <a:ext uri="{FF2B5EF4-FFF2-40B4-BE49-F238E27FC236}">
                <a16:creationId xmlns:a16="http://schemas.microsoft.com/office/drawing/2014/main" id="{7DAE552E-020E-5EC6-EC65-ACFF68082161}"/>
              </a:ext>
            </a:extLst>
          </p:cNvPr>
          <p:cNvCxnSpPr/>
          <p:nvPr/>
        </p:nvCxnSpPr>
        <p:spPr>
          <a:xfrm>
            <a:off x="711200" y="4724400"/>
            <a:ext cx="107696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34" name="txt-71">
            <a:extLst>
              <a:ext uri="{FF2B5EF4-FFF2-40B4-BE49-F238E27FC236}">
                <a16:creationId xmlns:a16="http://schemas.microsoft.com/office/drawing/2014/main" id="{297F33C1-C921-CC30-9678-08471BEF696D}"/>
              </a:ext>
            </a:extLst>
          </p:cNvPr>
          <p:cNvSpPr txBox="1"/>
          <p:nvPr/>
        </p:nvSpPr>
        <p:spPr>
          <a:xfrm>
            <a:off x="711200" y="4876800"/>
            <a:ext cx="4826000" cy="2286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THE PLATFORM INVESTIGATES</a:t>
            </a:r>
          </a:p>
        </p:txBody>
      </p:sp>
      <p:sp>
        <p:nvSpPr>
          <p:cNvPr id="35" name="txt-72">
            <a:extLst>
              <a:ext uri="{FF2B5EF4-FFF2-40B4-BE49-F238E27FC236}">
                <a16:creationId xmlns:a16="http://schemas.microsoft.com/office/drawing/2014/main" id="{69FDAA3E-065F-EB9C-A803-985FD4B02755}"/>
              </a:ext>
            </a:extLst>
          </p:cNvPr>
          <p:cNvSpPr txBox="1"/>
          <p:nvPr/>
        </p:nvSpPr>
        <p:spPr>
          <a:xfrm>
            <a:off x="711200" y="5207000"/>
            <a:ext cx="3556000" cy="330200"/>
          </a:xfrm>
          <a:prstGeom prst="rect">
            <a:avLst/>
          </a:prstGeom>
          <a:noFill/>
        </p:spPr>
        <p:txBody>
          <a:bodyPr vert="horz" wrap="square" lIns="0" tIns="0" rIns="0" bIns="0" rtlCol="0" anchor="t">
            <a:noAutofit/>
          </a:bodyPr>
          <a:lstStyle/>
          <a:p>
            <a:r>
              <a:rPr lang="en-US" sz="2000">
                <a:solidFill>
                  <a:srgbClr val="0A1A2C"/>
                </a:solidFill>
                <a:latin typeface="Georgia" panose="02040502050405020303" pitchFamily="18" charset="0"/>
                <a:cs typeface="Segoe UI" panose="020B0502040204020203" pitchFamily="34" charset="0"/>
              </a:rPr>
              <a:t>Diagnostic interpretation</a:t>
            </a:r>
          </a:p>
        </p:txBody>
      </p:sp>
      <p:sp>
        <p:nvSpPr>
          <p:cNvPr id="36" name="txt-73">
            <a:extLst>
              <a:ext uri="{FF2B5EF4-FFF2-40B4-BE49-F238E27FC236}">
                <a16:creationId xmlns:a16="http://schemas.microsoft.com/office/drawing/2014/main" id="{B8AAC4D5-72CD-DAB2-230A-8EE4634BB169}"/>
              </a:ext>
            </a:extLst>
          </p:cNvPr>
          <p:cNvSpPr txBox="1"/>
          <p:nvPr/>
        </p:nvSpPr>
        <p:spPr>
          <a:xfrm>
            <a:off x="4394200" y="5207000"/>
            <a:ext cx="3556000" cy="330200"/>
          </a:xfrm>
          <a:prstGeom prst="rect">
            <a:avLst/>
          </a:prstGeom>
          <a:noFill/>
        </p:spPr>
        <p:txBody>
          <a:bodyPr vert="horz" wrap="square" lIns="0" tIns="0" rIns="0" bIns="0" rtlCol="0" anchor="t">
            <a:noAutofit/>
          </a:bodyPr>
          <a:lstStyle/>
          <a:p>
            <a:r>
              <a:rPr lang="en-US" sz="2000">
                <a:solidFill>
                  <a:srgbClr val="0A1A2C"/>
                </a:solidFill>
                <a:latin typeface="Georgia" panose="02040502050405020303" pitchFamily="18" charset="0"/>
                <a:cs typeface="Segoe UI" panose="020B0502040204020203" pitchFamily="34" charset="0"/>
              </a:rPr>
              <a:t>Evidence inspection</a:t>
            </a:r>
          </a:p>
        </p:txBody>
      </p:sp>
      <p:sp>
        <p:nvSpPr>
          <p:cNvPr id="37" name="txt-74">
            <a:extLst>
              <a:ext uri="{FF2B5EF4-FFF2-40B4-BE49-F238E27FC236}">
                <a16:creationId xmlns:a16="http://schemas.microsoft.com/office/drawing/2014/main" id="{3EE4224F-5529-3A0B-371C-24FDFE0F4242}"/>
              </a:ext>
            </a:extLst>
          </p:cNvPr>
          <p:cNvSpPr txBox="1"/>
          <p:nvPr/>
        </p:nvSpPr>
        <p:spPr>
          <a:xfrm>
            <a:off x="8077200" y="5207000"/>
            <a:ext cx="3556000" cy="330200"/>
          </a:xfrm>
          <a:prstGeom prst="rect">
            <a:avLst/>
          </a:prstGeom>
          <a:noFill/>
        </p:spPr>
        <p:txBody>
          <a:bodyPr vert="horz" wrap="square" lIns="0" tIns="0" rIns="0" bIns="0" rtlCol="0" anchor="t">
            <a:noAutofit/>
          </a:bodyPr>
          <a:lstStyle/>
          <a:p>
            <a:r>
              <a:rPr lang="en-US" sz="2000">
                <a:solidFill>
                  <a:srgbClr val="0A1A2C"/>
                </a:solidFill>
                <a:latin typeface="Georgia" panose="02040502050405020303" pitchFamily="18" charset="0"/>
                <a:cs typeface="Segoe UI" panose="020B0502040204020203" pitchFamily="34" charset="0"/>
              </a:rPr>
              <a:t>Error detection</a:t>
            </a:r>
          </a:p>
        </p:txBody>
      </p:sp>
      <p:sp>
        <p:nvSpPr>
          <p:cNvPr id="38" name="txt-75">
            <a:extLst>
              <a:ext uri="{FF2B5EF4-FFF2-40B4-BE49-F238E27FC236}">
                <a16:creationId xmlns:a16="http://schemas.microsoft.com/office/drawing/2014/main" id="{5BDBEE07-1D4F-FA3D-D7C9-CB829F6F59C3}"/>
              </a:ext>
            </a:extLst>
          </p:cNvPr>
          <p:cNvSpPr txBox="1"/>
          <p:nvPr/>
        </p:nvSpPr>
        <p:spPr>
          <a:xfrm>
            <a:off x="711200" y="5638800"/>
            <a:ext cx="3556000" cy="330200"/>
          </a:xfrm>
          <a:prstGeom prst="rect">
            <a:avLst/>
          </a:prstGeom>
          <a:noFill/>
        </p:spPr>
        <p:txBody>
          <a:bodyPr vert="horz" wrap="square" lIns="0" tIns="0" rIns="0" bIns="0" rtlCol="0" anchor="t">
            <a:noAutofit/>
          </a:bodyPr>
          <a:lstStyle/>
          <a:p>
            <a:r>
              <a:rPr lang="en-US" sz="2000">
                <a:solidFill>
                  <a:srgbClr val="0A1A2C"/>
                </a:solidFill>
                <a:latin typeface="Georgia" panose="02040502050405020303" pitchFamily="18" charset="0"/>
                <a:cs typeface="Segoe UI" panose="020B0502040204020203" pitchFamily="34" charset="0"/>
              </a:rPr>
              <a:t>Reliability</a:t>
            </a:r>
          </a:p>
        </p:txBody>
      </p:sp>
      <p:sp>
        <p:nvSpPr>
          <p:cNvPr id="39" name="txt-76">
            <a:extLst>
              <a:ext uri="{FF2B5EF4-FFF2-40B4-BE49-F238E27FC236}">
                <a16:creationId xmlns:a16="http://schemas.microsoft.com/office/drawing/2014/main" id="{4CE6864D-6265-DEB8-A538-745A16BDD71B}"/>
              </a:ext>
            </a:extLst>
          </p:cNvPr>
          <p:cNvSpPr txBox="1"/>
          <p:nvPr/>
        </p:nvSpPr>
        <p:spPr>
          <a:xfrm>
            <a:off x="4394200" y="5638800"/>
            <a:ext cx="3556000" cy="330200"/>
          </a:xfrm>
          <a:prstGeom prst="rect">
            <a:avLst/>
          </a:prstGeom>
          <a:noFill/>
        </p:spPr>
        <p:txBody>
          <a:bodyPr vert="horz" wrap="square" lIns="0" tIns="0" rIns="0" bIns="0" rtlCol="0" anchor="t">
            <a:noAutofit/>
          </a:bodyPr>
          <a:lstStyle/>
          <a:p>
            <a:r>
              <a:rPr lang="en-US" sz="2000">
                <a:solidFill>
                  <a:srgbClr val="0A1A2C"/>
                </a:solidFill>
                <a:latin typeface="Georgia" panose="02040502050405020303" pitchFamily="18" charset="0"/>
                <a:cs typeface="Segoe UI" panose="020B0502040204020203" pitchFamily="34" charset="0"/>
              </a:rPr>
              <a:t>Accuracy evaluation</a:t>
            </a:r>
          </a:p>
        </p:txBody>
      </p:sp>
      <p:sp>
        <p:nvSpPr>
          <p:cNvPr id="40" name="txt-77">
            <a:extLst>
              <a:ext uri="{FF2B5EF4-FFF2-40B4-BE49-F238E27FC236}">
                <a16:creationId xmlns:a16="http://schemas.microsoft.com/office/drawing/2014/main" id="{90D7CC7D-9412-C9BC-FB44-3E61566B4515}"/>
              </a:ext>
            </a:extLst>
          </p:cNvPr>
          <p:cNvSpPr txBox="1"/>
          <p:nvPr/>
        </p:nvSpPr>
        <p:spPr>
          <a:xfrm>
            <a:off x="8077200" y="5638800"/>
            <a:ext cx="3556000" cy="330200"/>
          </a:xfrm>
          <a:prstGeom prst="rect">
            <a:avLst/>
          </a:prstGeom>
          <a:noFill/>
        </p:spPr>
        <p:txBody>
          <a:bodyPr vert="horz" wrap="square" lIns="0" tIns="0" rIns="0" bIns="0" rtlCol="0" anchor="t">
            <a:noAutofit/>
          </a:bodyPr>
          <a:lstStyle/>
          <a:p>
            <a:r>
              <a:rPr lang="en-US" sz="2000">
                <a:solidFill>
                  <a:srgbClr val="0A1A2C"/>
                </a:solidFill>
                <a:latin typeface="Georgia" panose="02040502050405020303" pitchFamily="18" charset="0"/>
                <a:cs typeface="Segoe UI" panose="020B0502040204020203" pitchFamily="34" charset="0"/>
              </a:rPr>
              <a:t>Accountability</a:t>
            </a:r>
          </a:p>
        </p:txBody>
      </p:sp>
      <p:sp>
        <p:nvSpPr>
          <p:cNvPr id="41" name="txt-78">
            <a:extLst>
              <a:ext uri="{FF2B5EF4-FFF2-40B4-BE49-F238E27FC236}">
                <a16:creationId xmlns:a16="http://schemas.microsoft.com/office/drawing/2014/main" id="{EA5FFABD-12CD-1158-3A54-07570BAAE3C4}"/>
              </a:ext>
            </a:extLst>
          </p:cNvPr>
          <p:cNvSpPr txBox="1"/>
          <p:nvPr/>
        </p:nvSpPr>
        <p:spPr>
          <a:xfrm>
            <a:off x="711200" y="6527800"/>
            <a:ext cx="8890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DIAGNOSTIC INTELLIGENCE LAB · AL DHAFRA HEALTH FORUM · EDUCATIONAL PROTOTYPE · NOT A MEDICAL DEVICE</a:t>
            </a:r>
          </a:p>
        </p:txBody>
      </p:sp>
      <p:sp>
        <p:nvSpPr>
          <p:cNvPr id="42" name="txt-79">
            <a:extLst>
              <a:ext uri="{FF2B5EF4-FFF2-40B4-BE49-F238E27FC236}">
                <a16:creationId xmlns:a16="http://schemas.microsoft.com/office/drawing/2014/main" id="{571EAA19-4F5B-570F-AC06-39274A0E5CD3}"/>
              </a:ext>
            </a:extLst>
          </p:cNvPr>
          <p:cNvSpPr txBox="1"/>
          <p:nvPr/>
        </p:nvSpPr>
        <p:spPr>
          <a:xfrm>
            <a:off x="10972800" y="6527800"/>
            <a:ext cx="5080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cs typeface="Segoe UI" panose="020B0502040204020203" pitchFamily="34" charset="0"/>
              </a:rPr>
              <a:t>03</a:t>
            </a:r>
          </a:p>
        </p:txBody>
      </p:sp>
    </p:spTree>
    <p:extLst>
      <p:ext uri="{BB962C8B-B14F-4D97-AF65-F5344CB8AC3E}">
        <p14:creationId xmlns:p14="http://schemas.microsoft.com/office/powerpoint/2010/main" val="3226557973"/>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A2C"/>
        </a:solidFill>
        <a:effectLst/>
      </p:bgPr>
    </p:bg>
    <p:spTree>
      <p:nvGrpSpPr>
        <p:cNvPr id="1" name=""/>
        <p:cNvGrpSpPr/>
        <p:nvPr/>
      </p:nvGrpSpPr>
      <p:grpSpPr>
        <a:xfrm>
          <a:off x="0" y="0"/>
          <a:ext cx="0" cy="0"/>
          <a:chOff x="0" y="0"/>
          <a:chExt cx="0" cy="0"/>
        </a:xfrm>
      </p:grpSpPr>
      <p:sp>
        <p:nvSpPr>
          <p:cNvPr id="2" name="txt-80">
            <a:extLst>
              <a:ext uri="{FF2B5EF4-FFF2-40B4-BE49-F238E27FC236}">
                <a16:creationId xmlns:a16="http://schemas.microsoft.com/office/drawing/2014/main" id="{B3C4C5B7-E195-E734-F2CA-75AA16C75A5E}"/>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4A9A92"/>
                </a:solidFill>
                <a:latin typeface="Consolas" panose="020B0609020204030204" pitchFamily="49" charset="0"/>
                <a:cs typeface="Segoe UI" panose="020B0502040204020203" pitchFamily="34" charset="0"/>
              </a:rPr>
              <a:t>03 · WHY RETINAL SCREENING?</a:t>
            </a:r>
          </a:p>
        </p:txBody>
      </p:sp>
      <p:pic>
        <p:nvPicPr>
          <p:cNvPr id="4" name="pic-81" descr="Synthetic teaching illustration of a left-eye retinal fundus image with many red haemorrhages and beaded veins, drawn by the prototype code. It is not a patient image.">
            <a:extLst>
              <a:ext uri="{FF2B5EF4-FFF2-40B4-BE49-F238E27FC236}">
                <a16:creationId xmlns:a16="http://schemas.microsoft.com/office/drawing/2014/main" id="{96EC5246-C20A-D024-ACEA-0BB5A86045FA}"/>
              </a:ext>
            </a:extLst>
          </p:cNvPr>
          <p:cNvPicPr>
            <a:picLocks/>
          </p:cNvPicPr>
          <p:nvPr/>
        </p:nvPicPr>
        <p:blipFill>
          <a:blip r:embed="rId3">
            <a:extLst>
              <a:ext uri="{28A0092B-C50C-407E-A947-70E740481C1C}">
                <a14:useLocalDpi xmlns:a14="http://schemas.microsoft.com/office/drawing/2010/main" val="0"/>
              </a:ext>
            </a:extLst>
          </a:blip>
          <a:srcRect l="2000" t="2000" r="2000" b="2000"/>
          <a:stretch>
            <a:fillRect/>
          </a:stretch>
        </p:blipFill>
        <p:spPr>
          <a:xfrm>
            <a:off x="711200" y="787400"/>
            <a:ext cx="5384800" cy="5384800"/>
          </a:xfrm>
          <a:prstGeom prst="ellipse">
            <a:avLst/>
          </a:prstGeom>
        </p:spPr>
      </p:pic>
      <p:sp>
        <p:nvSpPr>
          <p:cNvPr id="5" name="oval-82">
            <a:extLst>
              <a:ext uri="{FF2B5EF4-FFF2-40B4-BE49-F238E27FC236}">
                <a16:creationId xmlns:a16="http://schemas.microsoft.com/office/drawing/2014/main" id="{CC2323C9-832B-EDB4-FBCD-611E1C7E4BD8}"/>
              </a:ext>
            </a:extLst>
          </p:cNvPr>
          <p:cNvSpPr/>
          <p:nvPr/>
        </p:nvSpPr>
        <p:spPr>
          <a:xfrm>
            <a:off x="2158922" y="3284759"/>
            <a:ext cx="228600" cy="228600"/>
          </a:xfrm>
          <a:prstGeom prst="ellipse">
            <a:avLst/>
          </a:prstGeom>
          <a:solidFill>
            <a:srgbClr val="8FD0C8"/>
          </a:solidFill>
          <a:ln w="12700">
            <a:solidFill>
              <a:srgbClr val="0A1A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xt-83">
            <a:extLst>
              <a:ext uri="{FF2B5EF4-FFF2-40B4-BE49-F238E27FC236}">
                <a16:creationId xmlns:a16="http://schemas.microsoft.com/office/drawing/2014/main" id="{112B4678-4B09-11BA-CC4B-B51EAEBDA02A}"/>
              </a:ext>
            </a:extLst>
          </p:cNvPr>
          <p:cNvSpPr txBox="1"/>
          <p:nvPr/>
        </p:nvSpPr>
        <p:spPr>
          <a:xfrm>
            <a:off x="2158922" y="3284759"/>
            <a:ext cx="228600" cy="228600"/>
          </a:xfrm>
          <a:prstGeom prst="rect">
            <a:avLst/>
          </a:prstGeom>
          <a:noFill/>
        </p:spPr>
        <p:txBody>
          <a:bodyPr vert="horz" wrap="square" lIns="0" tIns="0" rIns="0" bIns="0" rtlCol="0" anchor="ctr">
            <a:noAutofit/>
          </a:bodyPr>
          <a:lstStyle/>
          <a:p>
            <a:pPr algn="ctr"/>
            <a:r>
              <a:rPr lang="en-US" sz="1000" b="1">
                <a:solidFill>
                  <a:srgbClr val="0A1A2C"/>
                </a:solidFill>
                <a:latin typeface="Consolas" panose="020B0609020204030204" pitchFamily="49" charset="0"/>
                <a:cs typeface="Segoe UI" panose="020B0502040204020203" pitchFamily="34" charset="0"/>
              </a:rPr>
              <a:t>1</a:t>
            </a:r>
          </a:p>
        </p:txBody>
      </p:sp>
      <p:sp>
        <p:nvSpPr>
          <p:cNvPr id="7" name="oval-84">
            <a:extLst>
              <a:ext uri="{FF2B5EF4-FFF2-40B4-BE49-F238E27FC236}">
                <a16:creationId xmlns:a16="http://schemas.microsoft.com/office/drawing/2014/main" id="{794E72BB-805C-83AC-FB01-0909ABA20774}"/>
              </a:ext>
            </a:extLst>
          </p:cNvPr>
          <p:cNvSpPr/>
          <p:nvPr/>
        </p:nvSpPr>
        <p:spPr>
          <a:xfrm>
            <a:off x="3289300" y="3446241"/>
            <a:ext cx="228600" cy="228600"/>
          </a:xfrm>
          <a:prstGeom prst="ellipse">
            <a:avLst/>
          </a:prstGeom>
          <a:solidFill>
            <a:srgbClr val="8FD0C8"/>
          </a:solidFill>
          <a:ln w="12700">
            <a:solidFill>
              <a:srgbClr val="0A1A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xt-85">
            <a:extLst>
              <a:ext uri="{FF2B5EF4-FFF2-40B4-BE49-F238E27FC236}">
                <a16:creationId xmlns:a16="http://schemas.microsoft.com/office/drawing/2014/main" id="{85D80317-FD11-F3A7-4FF9-DDE13FDE7F68}"/>
              </a:ext>
            </a:extLst>
          </p:cNvPr>
          <p:cNvSpPr txBox="1"/>
          <p:nvPr/>
        </p:nvSpPr>
        <p:spPr>
          <a:xfrm>
            <a:off x="3289300" y="3446241"/>
            <a:ext cx="228600" cy="228600"/>
          </a:xfrm>
          <a:prstGeom prst="rect">
            <a:avLst/>
          </a:prstGeom>
          <a:noFill/>
        </p:spPr>
        <p:txBody>
          <a:bodyPr vert="horz" wrap="square" lIns="0" tIns="0" rIns="0" bIns="0" rtlCol="0" anchor="ctr">
            <a:noAutofit/>
          </a:bodyPr>
          <a:lstStyle/>
          <a:p>
            <a:pPr algn="ctr"/>
            <a:r>
              <a:rPr lang="en-US" sz="1000" b="1">
                <a:solidFill>
                  <a:srgbClr val="0A1A2C"/>
                </a:solidFill>
                <a:latin typeface="Consolas" panose="020B0609020204030204" pitchFamily="49" charset="0"/>
                <a:cs typeface="Segoe UI" panose="020B0502040204020203" pitchFamily="34" charset="0"/>
              </a:rPr>
              <a:t>2</a:t>
            </a:r>
          </a:p>
        </p:txBody>
      </p:sp>
      <p:sp>
        <p:nvSpPr>
          <p:cNvPr id="9" name="oval-86">
            <a:extLst>
              <a:ext uri="{FF2B5EF4-FFF2-40B4-BE49-F238E27FC236}">
                <a16:creationId xmlns:a16="http://schemas.microsoft.com/office/drawing/2014/main" id="{05F92CC2-5F92-5C87-5B6C-31137D779F70}"/>
              </a:ext>
            </a:extLst>
          </p:cNvPr>
          <p:cNvSpPr/>
          <p:nvPr/>
        </p:nvSpPr>
        <p:spPr>
          <a:xfrm>
            <a:off x="3719988" y="4400857"/>
            <a:ext cx="228600" cy="228600"/>
          </a:xfrm>
          <a:prstGeom prst="ellipse">
            <a:avLst/>
          </a:prstGeom>
          <a:solidFill>
            <a:srgbClr val="8FD0C8"/>
          </a:solidFill>
          <a:ln w="12700">
            <a:solidFill>
              <a:srgbClr val="0A1A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xt-87">
            <a:extLst>
              <a:ext uri="{FF2B5EF4-FFF2-40B4-BE49-F238E27FC236}">
                <a16:creationId xmlns:a16="http://schemas.microsoft.com/office/drawing/2014/main" id="{0C1D4989-398C-66D5-957A-5C885A180CBA}"/>
              </a:ext>
            </a:extLst>
          </p:cNvPr>
          <p:cNvSpPr txBox="1"/>
          <p:nvPr/>
        </p:nvSpPr>
        <p:spPr>
          <a:xfrm>
            <a:off x="3719988" y="4400857"/>
            <a:ext cx="228600" cy="228600"/>
          </a:xfrm>
          <a:prstGeom prst="rect">
            <a:avLst/>
          </a:prstGeom>
          <a:noFill/>
        </p:spPr>
        <p:txBody>
          <a:bodyPr vert="horz" wrap="square" lIns="0" tIns="0" rIns="0" bIns="0" rtlCol="0" anchor="ctr">
            <a:noAutofit/>
          </a:bodyPr>
          <a:lstStyle/>
          <a:p>
            <a:pPr algn="ctr"/>
            <a:r>
              <a:rPr lang="en-US" sz="1000" b="1">
                <a:solidFill>
                  <a:srgbClr val="0A1A2C"/>
                </a:solidFill>
                <a:latin typeface="Consolas" panose="020B0609020204030204" pitchFamily="49" charset="0"/>
                <a:cs typeface="Segoe UI" panose="020B0502040204020203" pitchFamily="34" charset="0"/>
              </a:rPr>
              <a:t>3</a:t>
            </a:r>
          </a:p>
        </p:txBody>
      </p:sp>
      <p:sp>
        <p:nvSpPr>
          <p:cNvPr id="11" name="oval-88">
            <a:extLst>
              <a:ext uri="{FF2B5EF4-FFF2-40B4-BE49-F238E27FC236}">
                <a16:creationId xmlns:a16="http://schemas.microsoft.com/office/drawing/2014/main" id="{EB558954-6353-A841-68EF-50831F8CCE91}"/>
              </a:ext>
            </a:extLst>
          </p:cNvPr>
          <p:cNvSpPr/>
          <p:nvPr/>
        </p:nvSpPr>
        <p:spPr>
          <a:xfrm>
            <a:off x="3055064" y="1960449"/>
            <a:ext cx="228600" cy="228600"/>
          </a:xfrm>
          <a:prstGeom prst="ellipse">
            <a:avLst/>
          </a:prstGeom>
          <a:solidFill>
            <a:srgbClr val="8FD0C8"/>
          </a:solidFill>
          <a:ln w="12700">
            <a:solidFill>
              <a:srgbClr val="0A1A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xt-89">
            <a:extLst>
              <a:ext uri="{FF2B5EF4-FFF2-40B4-BE49-F238E27FC236}">
                <a16:creationId xmlns:a16="http://schemas.microsoft.com/office/drawing/2014/main" id="{A9B41F6A-0E07-40D0-0162-E641CA5896FF}"/>
              </a:ext>
            </a:extLst>
          </p:cNvPr>
          <p:cNvSpPr txBox="1"/>
          <p:nvPr/>
        </p:nvSpPr>
        <p:spPr>
          <a:xfrm>
            <a:off x="3055064" y="1960449"/>
            <a:ext cx="228600" cy="228600"/>
          </a:xfrm>
          <a:prstGeom prst="rect">
            <a:avLst/>
          </a:prstGeom>
          <a:noFill/>
        </p:spPr>
        <p:txBody>
          <a:bodyPr vert="horz" wrap="square" lIns="0" tIns="0" rIns="0" bIns="0" rtlCol="0" anchor="ctr">
            <a:noAutofit/>
          </a:bodyPr>
          <a:lstStyle/>
          <a:p>
            <a:pPr algn="ctr"/>
            <a:r>
              <a:rPr lang="en-US" sz="1000" b="1">
                <a:solidFill>
                  <a:srgbClr val="0A1A2C"/>
                </a:solidFill>
                <a:latin typeface="Consolas" panose="020B0609020204030204" pitchFamily="49" charset="0"/>
                <a:cs typeface="Segoe UI" panose="020B0502040204020203" pitchFamily="34" charset="0"/>
              </a:rPr>
              <a:t>4</a:t>
            </a:r>
          </a:p>
        </p:txBody>
      </p:sp>
      <p:sp>
        <p:nvSpPr>
          <p:cNvPr id="13" name="shape-90">
            <a:extLst>
              <a:ext uri="{FF2B5EF4-FFF2-40B4-BE49-F238E27FC236}">
                <a16:creationId xmlns:a16="http://schemas.microsoft.com/office/drawing/2014/main" id="{7D8D386B-E799-3215-EA69-ED34C6256C0A}"/>
              </a:ext>
            </a:extLst>
          </p:cNvPr>
          <p:cNvSpPr/>
          <p:nvPr/>
        </p:nvSpPr>
        <p:spPr>
          <a:xfrm>
            <a:off x="914400" y="6070600"/>
            <a:ext cx="3810000" cy="254000"/>
          </a:xfrm>
          <a:prstGeom prst="rect">
            <a:avLst/>
          </a:prstGeom>
          <a:solidFill>
            <a:srgbClr val="0A1A2C"/>
          </a:solidFill>
          <a:ln w="9525">
            <a:solidFill>
              <a:srgbClr val="8FD0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xt-91">
            <a:extLst>
              <a:ext uri="{FF2B5EF4-FFF2-40B4-BE49-F238E27FC236}">
                <a16:creationId xmlns:a16="http://schemas.microsoft.com/office/drawing/2014/main" id="{562BDF0F-3E14-81A4-B2F0-4BCAF0D175FE}"/>
              </a:ext>
            </a:extLst>
          </p:cNvPr>
          <p:cNvSpPr txBox="1"/>
          <p:nvPr/>
        </p:nvSpPr>
        <p:spPr>
          <a:xfrm>
            <a:off x="914400" y="6108700"/>
            <a:ext cx="3810000" cy="177800"/>
          </a:xfrm>
          <a:prstGeom prst="rect">
            <a:avLst/>
          </a:prstGeom>
          <a:noFill/>
        </p:spPr>
        <p:txBody>
          <a:bodyPr vert="horz" wrap="square" lIns="0" tIns="0" rIns="0" bIns="0" rtlCol="0" anchor="t">
            <a:noAutofit/>
          </a:bodyPr>
          <a:lstStyle/>
          <a:p>
            <a:pPr algn="ctr"/>
            <a:r>
              <a:rPr lang="en-US" sz="1000">
                <a:solidFill>
                  <a:srgbClr val="8FD0C8"/>
                </a:solidFill>
                <a:latin typeface="Consolas" panose="020B0609020204030204" pitchFamily="49" charset="0"/>
                <a:cs typeface="Segoe UI" panose="020B0502040204020203" pitchFamily="34" charset="0"/>
              </a:rPr>
              <a:t>SYNTHETIC ILLUSTRATION · NOT A PATIENT</a:t>
            </a:r>
          </a:p>
        </p:txBody>
      </p:sp>
      <p:sp>
        <p:nvSpPr>
          <p:cNvPr id="15" name="txt-92">
            <a:extLst>
              <a:ext uri="{FF2B5EF4-FFF2-40B4-BE49-F238E27FC236}">
                <a16:creationId xmlns:a16="http://schemas.microsoft.com/office/drawing/2014/main" id="{CD0506C8-F0C2-A9BF-0375-E3105EBD926A}"/>
              </a:ext>
            </a:extLst>
          </p:cNvPr>
          <p:cNvSpPr txBox="1"/>
          <p:nvPr/>
        </p:nvSpPr>
        <p:spPr>
          <a:xfrm>
            <a:off x="6604000" y="762000"/>
            <a:ext cx="4826000" cy="1524000"/>
          </a:xfrm>
          <a:prstGeom prst="rect">
            <a:avLst/>
          </a:prstGeom>
          <a:noFill/>
        </p:spPr>
        <p:txBody>
          <a:bodyPr vert="horz" wrap="square" lIns="0" tIns="0" rIns="0" bIns="0" rtlCol="0" anchor="t">
            <a:noAutofit/>
          </a:bodyPr>
          <a:lstStyle/>
          <a:p>
            <a:pPr>
              <a:lnSpc>
                <a:spcPct val="98000"/>
              </a:lnSpc>
            </a:pPr>
            <a:r>
              <a:rPr lang="en-US" sz="2500">
                <a:solidFill>
                  <a:srgbClr val="F7F2E8"/>
                </a:solidFill>
                <a:latin typeface="Georgia" panose="02040502050405020303" pitchFamily="18" charset="0"/>
                <a:cs typeface="Segoe UI" panose="020B0502040204020203" pitchFamily="34" charset="0"/>
              </a:rPr>
              <a:t>Retinal imaging gives diagnosis a structured case study.</a:t>
            </a:r>
          </a:p>
        </p:txBody>
      </p:sp>
      <p:sp>
        <p:nvSpPr>
          <p:cNvPr id="16" name="txt-93">
            <a:extLst>
              <a:ext uri="{FF2B5EF4-FFF2-40B4-BE49-F238E27FC236}">
                <a16:creationId xmlns:a16="http://schemas.microsoft.com/office/drawing/2014/main" id="{0680CF7E-C670-D6C1-F0B6-6926CCCA565C}"/>
              </a:ext>
            </a:extLst>
          </p:cNvPr>
          <p:cNvSpPr txBox="1"/>
          <p:nvPr/>
        </p:nvSpPr>
        <p:spPr>
          <a:xfrm>
            <a:off x="6604000" y="2286000"/>
            <a:ext cx="4876800" cy="1143000"/>
          </a:xfrm>
          <a:prstGeom prst="rect">
            <a:avLst/>
          </a:prstGeom>
          <a:noFill/>
        </p:spPr>
        <p:txBody>
          <a:bodyPr vert="horz" wrap="square" lIns="0" tIns="0" rIns="0" bIns="0" rtlCol="0" anchor="t">
            <a:noAutofit/>
          </a:bodyPr>
          <a:lstStyle/>
          <a:p>
            <a:pPr marL="177800" indent="-177800">
              <a:spcAft>
                <a:spcPts val="600"/>
              </a:spcAft>
              <a:buClr>
                <a:srgbClr val="C9CFD6"/>
              </a:buClr>
              <a:buFont typeface="+mj-lt"/>
              <a:buChar char="•"/>
            </a:pPr>
            <a:r>
              <a:rPr lang="en-US" sz="1400" b="1">
                <a:solidFill>
                  <a:srgbClr val="F7F2E8"/>
                </a:solidFill>
                <a:latin typeface="Calibri" panose="020F0502020204030204" pitchFamily="34" charset="0"/>
                <a:cs typeface="Segoe UI" panose="020B0502040204020203" pitchFamily="34" charset="0"/>
              </a:rPr>
              <a:t>Visible evidence. </a:t>
            </a:r>
            <a:r>
              <a:rPr lang="en-US" sz="1400">
                <a:solidFill>
                  <a:srgbClr val="C9CFD6"/>
                </a:solidFill>
                <a:latin typeface="Calibri" panose="020F0502020204030204" pitchFamily="34" charset="0"/>
                <a:cs typeface="Segoe UI" panose="020B0502040204020203" pitchFamily="34" charset="0"/>
              </a:rPr>
              <a:t>Lesions can be seen, counted, located.</a:t>
            </a:r>
          </a:p>
          <a:p>
            <a:pPr marL="177800" indent="-177800">
              <a:spcAft>
                <a:spcPts val="600"/>
              </a:spcAft>
              <a:buClr>
                <a:srgbClr val="C9CFD6"/>
              </a:buClr>
              <a:buFont typeface="+mj-lt"/>
              <a:buChar char="•"/>
            </a:pPr>
            <a:r>
              <a:rPr lang="en-US" sz="1400" b="1">
                <a:solidFill>
                  <a:srgbClr val="F7F2E8"/>
                </a:solidFill>
                <a:latin typeface="Calibri" panose="020F0502020204030204" pitchFamily="34" charset="0"/>
                <a:cs typeface="Segoe UI" panose="020B0502040204020203" pitchFamily="34" charset="0"/>
              </a:rPr>
              <a:t>A clear question. </a:t>
            </a:r>
            <a:r>
              <a:rPr lang="en-US" sz="1400">
                <a:solidFill>
                  <a:srgbClr val="C9CFD6"/>
                </a:solidFill>
                <a:latin typeface="Calibri" panose="020F0502020204030204" pitchFamily="34" charset="0"/>
                <a:cs typeface="Segoe UI" panose="020B0502040204020203" pitchFamily="34" charset="0"/>
              </a:rPr>
              <a:t>Refer — or re-screen.</a:t>
            </a:r>
          </a:p>
          <a:p>
            <a:pPr marL="177800" indent="-177800">
              <a:spcAft>
                <a:spcPts val="600"/>
              </a:spcAft>
              <a:buClr>
                <a:srgbClr val="C9CFD6"/>
              </a:buClr>
              <a:buFont typeface="+mj-lt"/>
              <a:buChar char="•"/>
            </a:pPr>
            <a:r>
              <a:rPr lang="en-US" sz="1400" b="1">
                <a:solidFill>
                  <a:srgbClr val="F7F2E8"/>
                </a:solidFill>
                <a:latin typeface="Calibri" panose="020F0502020204030204" pitchFamily="34" charset="0"/>
                <a:cs typeface="Segoe UI" panose="020B0502040204020203" pitchFamily="34" charset="0"/>
              </a:rPr>
              <a:t>Two unequal errors. </a:t>
            </a:r>
            <a:r>
              <a:rPr lang="en-US" sz="1400">
                <a:solidFill>
                  <a:srgbClr val="C9CFD6"/>
                </a:solidFill>
                <a:latin typeface="Calibri" panose="020F0502020204030204" pitchFamily="34" charset="0"/>
                <a:cs typeface="Segoe UI" panose="020B0502040204020203" pitchFamily="34" charset="0"/>
              </a:rPr>
              <a:t>False negative · false positive.</a:t>
            </a:r>
          </a:p>
        </p:txBody>
      </p:sp>
      <p:sp>
        <p:nvSpPr>
          <p:cNvPr id="17" name="txt-94">
            <a:extLst>
              <a:ext uri="{FF2B5EF4-FFF2-40B4-BE49-F238E27FC236}">
                <a16:creationId xmlns:a16="http://schemas.microsoft.com/office/drawing/2014/main" id="{DB339776-4614-FA00-E3EB-9A85AB33C193}"/>
              </a:ext>
            </a:extLst>
          </p:cNvPr>
          <p:cNvSpPr txBox="1"/>
          <p:nvPr/>
        </p:nvSpPr>
        <p:spPr>
          <a:xfrm>
            <a:off x="6604000" y="3505200"/>
            <a:ext cx="4876800" cy="787400"/>
          </a:xfrm>
          <a:prstGeom prst="rect">
            <a:avLst/>
          </a:prstGeom>
          <a:noFill/>
        </p:spPr>
        <p:txBody>
          <a:bodyPr vert="horz" wrap="square" lIns="0" tIns="0" rIns="0" bIns="0" rtlCol="0" anchor="t">
            <a:noAutofit/>
          </a:bodyPr>
          <a:lstStyle/>
          <a:p>
            <a:pPr>
              <a:spcAft>
                <a:spcPts val="200"/>
              </a:spcAft>
            </a:pPr>
            <a:r>
              <a:rPr lang="en-US" sz="1000" b="1">
                <a:solidFill>
                  <a:srgbClr val="8FD0C8"/>
                </a:solidFill>
                <a:latin typeface="Consolas" panose="020B0609020204030204" pitchFamily="49" charset="0"/>
                <a:cs typeface="Segoe UI" panose="020B0502040204020203" pitchFamily="34" charset="0"/>
              </a:rPr>
              <a:t>1  </a:t>
            </a:r>
            <a:r>
              <a:rPr lang="en-US" sz="1000">
                <a:solidFill>
                  <a:srgbClr val="9DB1C4"/>
                </a:solidFill>
                <a:latin typeface="Consolas" panose="020B0609020204030204" pitchFamily="49" charset="0"/>
                <a:cs typeface="Segoe UI" panose="020B0502040204020203" pitchFamily="34" charset="0"/>
              </a:rPr>
              <a:t>OPTIC DISC · nasal to the macula</a:t>
            </a:r>
          </a:p>
          <a:p>
            <a:pPr>
              <a:spcAft>
                <a:spcPts val="200"/>
              </a:spcAft>
            </a:pPr>
            <a:r>
              <a:rPr lang="en-US" sz="1000" b="1">
                <a:solidFill>
                  <a:srgbClr val="8FD0C8"/>
                </a:solidFill>
                <a:latin typeface="Consolas" panose="020B0609020204030204" pitchFamily="49" charset="0"/>
                <a:cs typeface="Segoe UI" panose="020B0502040204020203" pitchFamily="34" charset="0"/>
              </a:rPr>
              <a:t>2  </a:t>
            </a:r>
            <a:r>
              <a:rPr lang="en-US" sz="1000">
                <a:solidFill>
                  <a:srgbClr val="9DB1C4"/>
                </a:solidFill>
                <a:latin typeface="Consolas" panose="020B0609020204030204" pitchFamily="49" charset="0"/>
                <a:cs typeface="Segoe UI" panose="020B0502040204020203" pitchFamily="34" charset="0"/>
              </a:rPr>
              <a:t>MACULA · FOVEA · sharpest vision</a:t>
            </a:r>
          </a:p>
          <a:p>
            <a:pPr>
              <a:spcAft>
                <a:spcPts val="200"/>
              </a:spcAft>
            </a:pPr>
            <a:r>
              <a:rPr lang="en-US" sz="1000" b="1">
                <a:solidFill>
                  <a:srgbClr val="8FD0C8"/>
                </a:solidFill>
                <a:latin typeface="Consolas" panose="020B0609020204030204" pitchFamily="49" charset="0"/>
                <a:cs typeface="Segoe UI" panose="020B0502040204020203" pitchFamily="34" charset="0"/>
              </a:rPr>
              <a:t>3  </a:t>
            </a:r>
            <a:r>
              <a:rPr lang="en-US" sz="1000">
                <a:solidFill>
                  <a:srgbClr val="9DB1C4"/>
                </a:solidFill>
                <a:latin typeface="Consolas" panose="020B0609020204030204" pitchFamily="49" charset="0"/>
                <a:cs typeface="Segoe UI" panose="020B0502040204020203" pitchFamily="34" charset="0"/>
              </a:rPr>
              <a:t>HAEMORRHAGE · authored reference annotation</a:t>
            </a:r>
          </a:p>
          <a:p>
            <a:pPr>
              <a:spcAft>
                <a:spcPts val="200"/>
              </a:spcAft>
            </a:pPr>
            <a:r>
              <a:rPr lang="en-US" sz="1000" b="1">
                <a:solidFill>
                  <a:srgbClr val="8FD0C8"/>
                </a:solidFill>
                <a:latin typeface="Consolas" panose="020B0609020204030204" pitchFamily="49" charset="0"/>
                <a:cs typeface="Segoe UI" panose="020B0502040204020203" pitchFamily="34" charset="0"/>
              </a:rPr>
              <a:t>4  </a:t>
            </a:r>
            <a:r>
              <a:rPr lang="en-US" sz="1000">
                <a:solidFill>
                  <a:srgbClr val="9DB1C4"/>
                </a:solidFill>
                <a:latin typeface="Consolas" panose="020B0609020204030204" pitchFamily="49" charset="0"/>
                <a:cs typeface="Segoe UI" panose="020B0502040204020203" pitchFamily="34" charset="0"/>
              </a:rPr>
              <a:t>VENOUS BEADING · a severe-grade sign</a:t>
            </a:r>
          </a:p>
        </p:txBody>
      </p:sp>
      <p:sp>
        <p:nvSpPr>
          <p:cNvPr id="18" name="txt-95">
            <a:extLst>
              <a:ext uri="{FF2B5EF4-FFF2-40B4-BE49-F238E27FC236}">
                <a16:creationId xmlns:a16="http://schemas.microsoft.com/office/drawing/2014/main" id="{92BB724E-AC94-7F6F-9EC0-87C6009A627E}"/>
              </a:ext>
            </a:extLst>
          </p:cNvPr>
          <p:cNvSpPr txBox="1"/>
          <p:nvPr/>
        </p:nvSpPr>
        <p:spPr>
          <a:xfrm>
            <a:off x="6604000" y="4368800"/>
            <a:ext cx="4826000" cy="1778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ICDR SEVERITY · AUTHORED REFERENCE LABELS</a:t>
            </a:r>
          </a:p>
        </p:txBody>
      </p:sp>
      <p:sp>
        <p:nvSpPr>
          <p:cNvPr id="19" name="shape-96">
            <a:extLst>
              <a:ext uri="{FF2B5EF4-FFF2-40B4-BE49-F238E27FC236}">
                <a16:creationId xmlns:a16="http://schemas.microsoft.com/office/drawing/2014/main" id="{F865D82E-46D1-B26C-6F76-61DD9136BAB2}"/>
              </a:ext>
            </a:extLst>
          </p:cNvPr>
          <p:cNvSpPr/>
          <p:nvPr/>
        </p:nvSpPr>
        <p:spPr>
          <a:xfrm>
            <a:off x="6604000" y="4597400"/>
            <a:ext cx="889000" cy="355600"/>
          </a:xfrm>
          <a:prstGeom prst="rect">
            <a:avLst/>
          </a:prstGeom>
          <a:solidFill>
            <a:srgbClr val="4A9A9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xt-97">
            <a:extLst>
              <a:ext uri="{FF2B5EF4-FFF2-40B4-BE49-F238E27FC236}">
                <a16:creationId xmlns:a16="http://schemas.microsoft.com/office/drawing/2014/main" id="{6790E294-EB80-8EB2-785A-38A61C5ED82B}"/>
              </a:ext>
            </a:extLst>
          </p:cNvPr>
          <p:cNvSpPr txBox="1"/>
          <p:nvPr/>
        </p:nvSpPr>
        <p:spPr>
          <a:xfrm>
            <a:off x="6604000" y="4673600"/>
            <a:ext cx="889000" cy="228600"/>
          </a:xfrm>
          <a:prstGeom prst="rect">
            <a:avLst/>
          </a:prstGeom>
          <a:noFill/>
        </p:spPr>
        <p:txBody>
          <a:bodyPr vert="horz" wrap="square" lIns="0" tIns="0" rIns="0" bIns="0" rtlCol="0" anchor="t">
            <a:noAutofit/>
          </a:bodyPr>
          <a:lstStyle/>
          <a:p>
            <a:pPr algn="ctr"/>
            <a:r>
              <a:rPr lang="en-US" sz="1500">
                <a:solidFill>
                  <a:srgbClr val="FFFFFF"/>
                </a:solidFill>
                <a:latin typeface="Georgia" panose="02040502050405020303" pitchFamily="18" charset="0"/>
                <a:cs typeface="Segoe UI" panose="020B0502040204020203" pitchFamily="34" charset="0"/>
              </a:rPr>
              <a:t>0</a:t>
            </a:r>
          </a:p>
        </p:txBody>
      </p:sp>
      <p:sp>
        <p:nvSpPr>
          <p:cNvPr id="21" name="shape-98">
            <a:extLst>
              <a:ext uri="{FF2B5EF4-FFF2-40B4-BE49-F238E27FC236}">
                <a16:creationId xmlns:a16="http://schemas.microsoft.com/office/drawing/2014/main" id="{D8AFB728-ABA6-5C91-9F05-EA88CE96D29D}"/>
              </a:ext>
            </a:extLst>
          </p:cNvPr>
          <p:cNvSpPr/>
          <p:nvPr/>
        </p:nvSpPr>
        <p:spPr>
          <a:xfrm>
            <a:off x="7569200" y="4597400"/>
            <a:ext cx="889000" cy="355600"/>
          </a:xfrm>
          <a:prstGeom prst="rect">
            <a:avLst/>
          </a:prstGeom>
          <a:solidFill>
            <a:srgbClr val="4A9A9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xt-99">
            <a:extLst>
              <a:ext uri="{FF2B5EF4-FFF2-40B4-BE49-F238E27FC236}">
                <a16:creationId xmlns:a16="http://schemas.microsoft.com/office/drawing/2014/main" id="{520CB96E-9352-5C7E-A41A-0B27F9AA9BBF}"/>
              </a:ext>
            </a:extLst>
          </p:cNvPr>
          <p:cNvSpPr txBox="1"/>
          <p:nvPr/>
        </p:nvSpPr>
        <p:spPr>
          <a:xfrm>
            <a:off x="7569200" y="4673600"/>
            <a:ext cx="889000" cy="228600"/>
          </a:xfrm>
          <a:prstGeom prst="rect">
            <a:avLst/>
          </a:prstGeom>
          <a:noFill/>
        </p:spPr>
        <p:txBody>
          <a:bodyPr vert="horz" wrap="square" lIns="0" tIns="0" rIns="0" bIns="0" rtlCol="0" anchor="t">
            <a:noAutofit/>
          </a:bodyPr>
          <a:lstStyle/>
          <a:p>
            <a:pPr algn="ctr"/>
            <a:r>
              <a:rPr lang="en-US" sz="1500">
                <a:solidFill>
                  <a:srgbClr val="FFFFFF"/>
                </a:solidFill>
                <a:latin typeface="Georgia" panose="02040502050405020303" pitchFamily="18" charset="0"/>
                <a:cs typeface="Segoe UI" panose="020B0502040204020203" pitchFamily="34" charset="0"/>
              </a:rPr>
              <a:t>1</a:t>
            </a:r>
          </a:p>
        </p:txBody>
      </p:sp>
      <p:sp>
        <p:nvSpPr>
          <p:cNvPr id="23" name="shape-100">
            <a:extLst>
              <a:ext uri="{FF2B5EF4-FFF2-40B4-BE49-F238E27FC236}">
                <a16:creationId xmlns:a16="http://schemas.microsoft.com/office/drawing/2014/main" id="{4ED7C1E6-689B-5A93-61F8-489B3E135BB0}"/>
              </a:ext>
            </a:extLst>
          </p:cNvPr>
          <p:cNvSpPr/>
          <p:nvPr/>
        </p:nvSpPr>
        <p:spPr>
          <a:xfrm>
            <a:off x="8534400" y="4597400"/>
            <a:ext cx="889000" cy="355600"/>
          </a:xfrm>
          <a:prstGeom prst="rect">
            <a:avLst/>
          </a:prstGeom>
          <a:solidFill>
            <a:srgbClr val="A946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xt-101">
            <a:extLst>
              <a:ext uri="{FF2B5EF4-FFF2-40B4-BE49-F238E27FC236}">
                <a16:creationId xmlns:a16="http://schemas.microsoft.com/office/drawing/2014/main" id="{E4D0A218-D698-5AF8-A0B6-664647C4E276}"/>
              </a:ext>
            </a:extLst>
          </p:cNvPr>
          <p:cNvSpPr txBox="1"/>
          <p:nvPr/>
        </p:nvSpPr>
        <p:spPr>
          <a:xfrm>
            <a:off x="8534400" y="4673600"/>
            <a:ext cx="889000" cy="228600"/>
          </a:xfrm>
          <a:prstGeom prst="rect">
            <a:avLst/>
          </a:prstGeom>
          <a:noFill/>
        </p:spPr>
        <p:txBody>
          <a:bodyPr vert="horz" wrap="square" lIns="0" tIns="0" rIns="0" bIns="0" rtlCol="0" anchor="t">
            <a:noAutofit/>
          </a:bodyPr>
          <a:lstStyle/>
          <a:p>
            <a:pPr algn="ctr"/>
            <a:r>
              <a:rPr lang="en-US" sz="1500">
                <a:solidFill>
                  <a:srgbClr val="FFFFFF"/>
                </a:solidFill>
                <a:latin typeface="Georgia" panose="02040502050405020303" pitchFamily="18" charset="0"/>
                <a:cs typeface="Segoe UI" panose="020B0502040204020203" pitchFamily="34" charset="0"/>
              </a:rPr>
              <a:t>2</a:t>
            </a:r>
          </a:p>
        </p:txBody>
      </p:sp>
      <p:sp>
        <p:nvSpPr>
          <p:cNvPr id="25" name="shape-102">
            <a:extLst>
              <a:ext uri="{FF2B5EF4-FFF2-40B4-BE49-F238E27FC236}">
                <a16:creationId xmlns:a16="http://schemas.microsoft.com/office/drawing/2014/main" id="{46310703-8CE9-966E-37B8-F3B6E474FA3A}"/>
              </a:ext>
            </a:extLst>
          </p:cNvPr>
          <p:cNvSpPr/>
          <p:nvPr/>
        </p:nvSpPr>
        <p:spPr>
          <a:xfrm>
            <a:off x="9499600" y="4597400"/>
            <a:ext cx="889000" cy="355600"/>
          </a:xfrm>
          <a:prstGeom prst="rect">
            <a:avLst/>
          </a:prstGeom>
          <a:solidFill>
            <a:srgbClr val="A946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xt-103">
            <a:extLst>
              <a:ext uri="{FF2B5EF4-FFF2-40B4-BE49-F238E27FC236}">
                <a16:creationId xmlns:a16="http://schemas.microsoft.com/office/drawing/2014/main" id="{A4E92756-C662-5C3A-C2FA-3F77B65FF3A0}"/>
              </a:ext>
            </a:extLst>
          </p:cNvPr>
          <p:cNvSpPr txBox="1"/>
          <p:nvPr/>
        </p:nvSpPr>
        <p:spPr>
          <a:xfrm>
            <a:off x="9499600" y="4673600"/>
            <a:ext cx="889000" cy="228600"/>
          </a:xfrm>
          <a:prstGeom prst="rect">
            <a:avLst/>
          </a:prstGeom>
          <a:noFill/>
        </p:spPr>
        <p:txBody>
          <a:bodyPr vert="horz" wrap="square" lIns="0" tIns="0" rIns="0" bIns="0" rtlCol="0" anchor="t">
            <a:noAutofit/>
          </a:bodyPr>
          <a:lstStyle/>
          <a:p>
            <a:pPr algn="ctr"/>
            <a:r>
              <a:rPr lang="en-US" sz="1500">
                <a:solidFill>
                  <a:srgbClr val="FFFFFF"/>
                </a:solidFill>
                <a:latin typeface="Georgia" panose="02040502050405020303" pitchFamily="18" charset="0"/>
                <a:cs typeface="Segoe UI" panose="020B0502040204020203" pitchFamily="34" charset="0"/>
              </a:rPr>
              <a:t>3</a:t>
            </a:r>
          </a:p>
        </p:txBody>
      </p:sp>
      <p:sp>
        <p:nvSpPr>
          <p:cNvPr id="27" name="shape-104">
            <a:extLst>
              <a:ext uri="{FF2B5EF4-FFF2-40B4-BE49-F238E27FC236}">
                <a16:creationId xmlns:a16="http://schemas.microsoft.com/office/drawing/2014/main" id="{B783618A-4F1C-4253-7582-E0CAAF207B40}"/>
              </a:ext>
            </a:extLst>
          </p:cNvPr>
          <p:cNvSpPr/>
          <p:nvPr/>
        </p:nvSpPr>
        <p:spPr>
          <a:xfrm>
            <a:off x="10464800" y="4597400"/>
            <a:ext cx="889000" cy="355600"/>
          </a:xfrm>
          <a:prstGeom prst="rect">
            <a:avLst/>
          </a:prstGeom>
          <a:solidFill>
            <a:srgbClr val="A946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xt-105">
            <a:extLst>
              <a:ext uri="{FF2B5EF4-FFF2-40B4-BE49-F238E27FC236}">
                <a16:creationId xmlns:a16="http://schemas.microsoft.com/office/drawing/2014/main" id="{F2722BC4-5258-1108-11F6-6C8AE5DFF6FB}"/>
              </a:ext>
            </a:extLst>
          </p:cNvPr>
          <p:cNvSpPr txBox="1"/>
          <p:nvPr/>
        </p:nvSpPr>
        <p:spPr>
          <a:xfrm>
            <a:off x="10464800" y="4673600"/>
            <a:ext cx="889000" cy="228600"/>
          </a:xfrm>
          <a:prstGeom prst="rect">
            <a:avLst/>
          </a:prstGeom>
          <a:noFill/>
        </p:spPr>
        <p:txBody>
          <a:bodyPr vert="horz" wrap="square" lIns="0" tIns="0" rIns="0" bIns="0" rtlCol="0" anchor="t">
            <a:noAutofit/>
          </a:bodyPr>
          <a:lstStyle/>
          <a:p>
            <a:pPr algn="ctr"/>
            <a:r>
              <a:rPr lang="en-US" sz="1500">
                <a:solidFill>
                  <a:srgbClr val="FFFFFF"/>
                </a:solidFill>
                <a:latin typeface="Georgia" panose="02040502050405020303" pitchFamily="18" charset="0"/>
                <a:cs typeface="Segoe UI" panose="020B0502040204020203" pitchFamily="34" charset="0"/>
              </a:rPr>
              <a:t>4</a:t>
            </a:r>
          </a:p>
        </p:txBody>
      </p:sp>
      <p:sp>
        <p:nvSpPr>
          <p:cNvPr id="29" name="txt-106">
            <a:extLst>
              <a:ext uri="{FF2B5EF4-FFF2-40B4-BE49-F238E27FC236}">
                <a16:creationId xmlns:a16="http://schemas.microsoft.com/office/drawing/2014/main" id="{D8AB7487-C170-6DB4-67FA-3BCB9EA595F9}"/>
              </a:ext>
            </a:extLst>
          </p:cNvPr>
          <p:cNvSpPr txBox="1"/>
          <p:nvPr/>
        </p:nvSpPr>
        <p:spPr>
          <a:xfrm>
            <a:off x="6604000" y="5029200"/>
            <a:ext cx="1905000" cy="177800"/>
          </a:xfrm>
          <a:prstGeom prst="rect">
            <a:avLst/>
          </a:prstGeom>
          <a:noFill/>
        </p:spPr>
        <p:txBody>
          <a:bodyPr vert="horz" wrap="square" lIns="0" tIns="0" rIns="0" bIns="0" rtlCol="0" anchor="t">
            <a:noAutofit/>
          </a:bodyPr>
          <a:lstStyle/>
          <a:p>
            <a:r>
              <a:rPr lang="en-US" sz="1000">
                <a:solidFill>
                  <a:srgbClr val="8FD0C8"/>
                </a:solidFill>
                <a:latin typeface="Consolas" panose="020B0609020204030204" pitchFamily="49" charset="0"/>
                <a:cs typeface="Segoe UI" panose="020B0502040204020203" pitchFamily="34" charset="0"/>
              </a:rPr>
              <a:t>NON-REFERABLE</a:t>
            </a:r>
          </a:p>
        </p:txBody>
      </p:sp>
      <p:sp>
        <p:nvSpPr>
          <p:cNvPr id="30" name="txt-107">
            <a:extLst>
              <a:ext uri="{FF2B5EF4-FFF2-40B4-BE49-F238E27FC236}">
                <a16:creationId xmlns:a16="http://schemas.microsoft.com/office/drawing/2014/main" id="{B0D71797-04BB-5DC9-A57A-63E5C2EDC0A6}"/>
              </a:ext>
            </a:extLst>
          </p:cNvPr>
          <p:cNvSpPr txBox="1"/>
          <p:nvPr/>
        </p:nvSpPr>
        <p:spPr>
          <a:xfrm>
            <a:off x="8534400" y="5029200"/>
            <a:ext cx="2895600" cy="177800"/>
          </a:xfrm>
          <a:prstGeom prst="rect">
            <a:avLst/>
          </a:prstGeom>
          <a:noFill/>
        </p:spPr>
        <p:txBody>
          <a:bodyPr vert="horz" wrap="square" lIns="0" tIns="0" rIns="0" bIns="0" rtlCol="0" anchor="t">
            <a:noAutofit/>
          </a:bodyPr>
          <a:lstStyle/>
          <a:p>
            <a:r>
              <a:rPr lang="en-US" sz="1000">
                <a:solidFill>
                  <a:srgbClr val="E8A090"/>
                </a:solidFill>
                <a:latin typeface="Consolas" panose="020B0609020204030204" pitchFamily="49" charset="0"/>
                <a:cs typeface="Segoe UI" panose="020B0502040204020203" pitchFamily="34" charset="0"/>
              </a:rPr>
              <a:t>REFERABLE · or suspected DME</a:t>
            </a:r>
          </a:p>
        </p:txBody>
      </p:sp>
      <p:sp>
        <p:nvSpPr>
          <p:cNvPr id="31" name="txt-108">
            <a:extLst>
              <a:ext uri="{FF2B5EF4-FFF2-40B4-BE49-F238E27FC236}">
                <a16:creationId xmlns:a16="http://schemas.microsoft.com/office/drawing/2014/main" id="{5400D1BF-D762-1C8D-B3DD-9D628DD4F93B}"/>
              </a:ext>
            </a:extLst>
          </p:cNvPr>
          <p:cNvSpPr txBox="1"/>
          <p:nvPr/>
        </p:nvSpPr>
        <p:spPr>
          <a:xfrm>
            <a:off x="6604000" y="5334000"/>
            <a:ext cx="4876800" cy="558800"/>
          </a:xfrm>
          <a:prstGeom prst="rect">
            <a:avLst/>
          </a:prstGeom>
          <a:noFill/>
        </p:spPr>
        <p:txBody>
          <a:bodyPr vert="horz" wrap="square" lIns="0" tIns="0" rIns="0" bIns="0" rtlCol="0" anchor="t">
            <a:noAutofit/>
          </a:bodyPr>
          <a:lstStyle/>
          <a:p>
            <a:r>
              <a:rPr lang="en-US" sz="1400" i="1">
                <a:solidFill>
                  <a:srgbClr val="F7F2E8"/>
                </a:solidFill>
                <a:latin typeface="Georgia" panose="02040502050405020303" pitchFamily="18" charset="0"/>
                <a:cs typeface="Segoe UI" panose="020B0502040204020203" pitchFamily="34" charset="0"/>
              </a:rPr>
              <a:t>Retinal screening is the first research use case — not the limit of the platform.</a:t>
            </a:r>
          </a:p>
        </p:txBody>
      </p:sp>
      <p:sp>
        <p:nvSpPr>
          <p:cNvPr id="32" name="txt-109">
            <a:extLst>
              <a:ext uri="{FF2B5EF4-FFF2-40B4-BE49-F238E27FC236}">
                <a16:creationId xmlns:a16="http://schemas.microsoft.com/office/drawing/2014/main" id="{87CD9DC0-D1D6-1D9B-53DB-AB46E800DBEB}"/>
              </a:ext>
            </a:extLst>
          </p:cNvPr>
          <p:cNvSpPr txBox="1"/>
          <p:nvPr/>
        </p:nvSpPr>
        <p:spPr>
          <a:xfrm>
            <a:off x="6604000" y="5994400"/>
            <a:ext cx="4876800" cy="3810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ICDR: Wilkinson et al., Ophthalmology 2003 · ETDRS Report 10, 1991</a:t>
            </a:r>
          </a:p>
        </p:txBody>
      </p:sp>
      <p:sp>
        <p:nvSpPr>
          <p:cNvPr id="33" name="txt-110">
            <a:extLst>
              <a:ext uri="{FF2B5EF4-FFF2-40B4-BE49-F238E27FC236}">
                <a16:creationId xmlns:a16="http://schemas.microsoft.com/office/drawing/2014/main" id="{922DD201-E0CD-0DAA-8859-352EE44879C7}"/>
              </a:ext>
            </a:extLst>
          </p:cNvPr>
          <p:cNvSpPr txBox="1"/>
          <p:nvPr/>
        </p:nvSpPr>
        <p:spPr>
          <a:xfrm>
            <a:off x="711200" y="6527800"/>
            <a:ext cx="8890000" cy="1778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DIAGNOSTIC INTELLIGENCE LAB · AL DHAFRA HEALTH FORUM · EDUCATIONAL PROTOTYPE · NOT A MEDICAL DEVICE</a:t>
            </a:r>
          </a:p>
        </p:txBody>
      </p:sp>
      <p:sp>
        <p:nvSpPr>
          <p:cNvPr id="34" name="txt-111">
            <a:extLst>
              <a:ext uri="{FF2B5EF4-FFF2-40B4-BE49-F238E27FC236}">
                <a16:creationId xmlns:a16="http://schemas.microsoft.com/office/drawing/2014/main" id="{F745EA8B-3D10-EFD1-5122-E4C0C474044E}"/>
              </a:ext>
            </a:extLst>
          </p:cNvPr>
          <p:cNvSpPr txBox="1"/>
          <p:nvPr/>
        </p:nvSpPr>
        <p:spPr>
          <a:xfrm>
            <a:off x="10972800" y="6527800"/>
            <a:ext cx="508000" cy="177800"/>
          </a:xfrm>
          <a:prstGeom prst="rect">
            <a:avLst/>
          </a:prstGeom>
          <a:noFill/>
        </p:spPr>
        <p:txBody>
          <a:bodyPr vert="horz" wrap="square" lIns="0" tIns="0" rIns="0" bIns="0" rtlCol="0" anchor="t">
            <a:noAutofit/>
          </a:bodyPr>
          <a:lstStyle/>
          <a:p>
            <a:pPr algn="r"/>
            <a:r>
              <a:rPr lang="en-US" sz="1000">
                <a:solidFill>
                  <a:srgbClr val="9DB1C4"/>
                </a:solidFill>
                <a:latin typeface="Consolas" panose="020B0609020204030204" pitchFamily="49" charset="0"/>
                <a:cs typeface="Segoe UI" panose="020B0502040204020203" pitchFamily="34" charset="0"/>
              </a:rPr>
              <a:t>04</a:t>
            </a:r>
          </a:p>
        </p:txBody>
      </p:sp>
    </p:spTree>
    <p:extLst>
      <p:ext uri="{BB962C8B-B14F-4D97-AF65-F5344CB8AC3E}">
        <p14:creationId xmlns:p14="http://schemas.microsoft.com/office/powerpoint/2010/main" val="414319979"/>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A2C"/>
        </a:solidFill>
        <a:effectLst/>
      </p:bgPr>
    </p:bg>
    <p:spTree>
      <p:nvGrpSpPr>
        <p:cNvPr id="1" name=""/>
        <p:cNvGrpSpPr/>
        <p:nvPr/>
      </p:nvGrpSpPr>
      <p:grpSpPr>
        <a:xfrm>
          <a:off x="0" y="0"/>
          <a:ext cx="0" cy="0"/>
          <a:chOff x="0" y="0"/>
          <a:chExt cx="0" cy="0"/>
        </a:xfrm>
      </p:grpSpPr>
      <p:sp>
        <p:nvSpPr>
          <p:cNvPr id="2" name="txt-112">
            <a:extLst>
              <a:ext uri="{FF2B5EF4-FFF2-40B4-BE49-F238E27FC236}">
                <a16:creationId xmlns:a16="http://schemas.microsoft.com/office/drawing/2014/main" id="{2C9E0277-71C6-ACDD-F458-812863C4E15C}"/>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4A9A92"/>
                </a:solidFill>
                <a:latin typeface="Consolas" panose="020B0609020204030204" pitchFamily="49" charset="0"/>
                <a:cs typeface="Segoe UI" panose="020B0502040204020203" pitchFamily="34" charset="0"/>
              </a:rPr>
              <a:t>04 · EVIDENCELENS — SEE BEYOND THE IMAGE</a:t>
            </a:r>
          </a:p>
        </p:txBody>
      </p:sp>
      <p:sp>
        <p:nvSpPr>
          <p:cNvPr id="3" name="txt-113">
            <a:extLst>
              <a:ext uri="{FF2B5EF4-FFF2-40B4-BE49-F238E27FC236}">
                <a16:creationId xmlns:a16="http://schemas.microsoft.com/office/drawing/2014/main" id="{04444462-5557-1CDB-385D-121AEE1F6143}"/>
              </a:ext>
            </a:extLst>
          </p:cNvPr>
          <p:cNvSpPr txBox="1"/>
          <p:nvPr/>
        </p:nvSpPr>
        <p:spPr>
          <a:xfrm>
            <a:off x="711200" y="685800"/>
            <a:ext cx="7620000" cy="1143000"/>
          </a:xfrm>
          <a:prstGeom prst="rect">
            <a:avLst/>
          </a:prstGeom>
          <a:noFill/>
        </p:spPr>
        <p:txBody>
          <a:bodyPr vert="horz" wrap="square" lIns="0" tIns="0" rIns="0" bIns="0" rtlCol="0" anchor="t">
            <a:noAutofit/>
          </a:bodyPr>
          <a:lstStyle/>
          <a:p>
            <a:pPr>
              <a:lnSpc>
                <a:spcPct val="95000"/>
              </a:lnSpc>
            </a:pPr>
            <a:r>
              <a:rPr lang="en-US" sz="3000">
                <a:solidFill>
                  <a:srgbClr val="F7F2E8"/>
                </a:solidFill>
                <a:latin typeface="Georgia" panose="02040502050405020303" pitchFamily="18" charset="0"/>
                <a:cs typeface="Segoe UI" panose="020B0502040204020203" pitchFamily="34" charset="0"/>
              </a:rPr>
              <a:t>Evidence first. Answer later.</a:t>
            </a:r>
          </a:p>
        </p:txBody>
      </p:sp>
      <p:pic>
        <p:nvPicPr>
          <p:cNvPr id="5" name="pic-114" descr="Screenshot of EvidenceLens showing a synthetic retinal image with coloured reference annotation layers, anatomical guides, and the layer panel with opacity and comparison controls.">
            <a:extLst>
              <a:ext uri="{FF2B5EF4-FFF2-40B4-BE49-F238E27FC236}">
                <a16:creationId xmlns:a16="http://schemas.microsoft.com/office/drawing/2014/main" id="{9A738C0A-E532-C691-D2D8-E46C845866E8}"/>
              </a:ext>
            </a:extLst>
          </p:cNvPr>
          <p:cNvPicPr>
            <a:picLocks/>
          </p:cNvPicPr>
          <p:nvPr/>
        </p:nvPicPr>
        <p:blipFill>
          <a:blip r:embed="rId3">
            <a:extLst>
              <a:ext uri="{28A0092B-C50C-407E-A947-70E740481C1C}">
                <a14:useLocalDpi xmlns:a14="http://schemas.microsoft.com/office/drawing/2010/main" val="0"/>
              </a:ext>
            </a:extLst>
          </a:blip>
          <a:srcRect t="1200"/>
          <a:stretch>
            <a:fillRect/>
          </a:stretch>
        </p:blipFill>
        <p:spPr>
          <a:xfrm>
            <a:off x="711200" y="1295400"/>
            <a:ext cx="8128000" cy="4887334"/>
          </a:xfrm>
          <a:prstGeom prst="rect">
            <a:avLst/>
          </a:prstGeom>
          <a:ln w="9525">
            <a:solidFill>
              <a:srgbClr val="234A73"/>
            </a:solidFill>
          </a:ln>
        </p:spPr>
      </p:pic>
      <p:sp>
        <p:nvSpPr>
          <p:cNvPr id="6" name="txt-115">
            <a:extLst>
              <a:ext uri="{FF2B5EF4-FFF2-40B4-BE49-F238E27FC236}">
                <a16:creationId xmlns:a16="http://schemas.microsoft.com/office/drawing/2014/main" id="{75B2A934-90D1-C3ED-81C0-DD8031E5C4F7}"/>
              </a:ext>
            </a:extLst>
          </p:cNvPr>
          <p:cNvSpPr txBox="1"/>
          <p:nvPr/>
        </p:nvSpPr>
        <p:spPr>
          <a:xfrm>
            <a:off x="711200" y="6318295"/>
            <a:ext cx="8128000" cy="3556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LIVE APPLICATION · EvidenceLens · synthetic case C10 opened in Study Mode</a:t>
            </a:r>
          </a:p>
        </p:txBody>
      </p:sp>
      <p:cxnSp>
        <p:nvCxnSpPr>
          <p:cNvPr id="7" name="rule-116">
            <a:extLst>
              <a:ext uri="{FF2B5EF4-FFF2-40B4-BE49-F238E27FC236}">
                <a16:creationId xmlns:a16="http://schemas.microsoft.com/office/drawing/2014/main" id="{114F9C20-B21E-F9FF-91AD-668AC89CB4FA}"/>
              </a:ext>
            </a:extLst>
          </p:cNvPr>
          <p:cNvCxnSpPr/>
          <p:nvPr/>
        </p:nvCxnSpPr>
        <p:spPr>
          <a:xfrm>
            <a:off x="9169400" y="1371600"/>
            <a:ext cx="152400" cy="0"/>
          </a:xfrm>
          <a:prstGeom prst="line">
            <a:avLst/>
          </a:prstGeom>
          <a:ln w="12700">
            <a:solidFill>
              <a:srgbClr val="4A9A92"/>
            </a:solidFill>
          </a:ln>
        </p:spPr>
        <p:style>
          <a:lnRef idx="2">
            <a:schemeClr val="accent1"/>
          </a:lnRef>
          <a:fillRef idx="0">
            <a:schemeClr val="accent1"/>
          </a:fillRef>
          <a:effectRef idx="1">
            <a:schemeClr val="accent1"/>
          </a:effectRef>
          <a:fontRef idx="minor">
            <a:schemeClr val="tx1"/>
          </a:fontRef>
        </p:style>
      </p:cxnSp>
      <p:sp>
        <p:nvSpPr>
          <p:cNvPr id="8" name="txt-117">
            <a:extLst>
              <a:ext uri="{FF2B5EF4-FFF2-40B4-BE49-F238E27FC236}">
                <a16:creationId xmlns:a16="http://schemas.microsoft.com/office/drawing/2014/main" id="{2EED9CCE-0A3E-18DB-5DF6-1FA3455B3E95}"/>
              </a:ext>
            </a:extLst>
          </p:cNvPr>
          <p:cNvSpPr txBox="1"/>
          <p:nvPr/>
        </p:nvSpPr>
        <p:spPr>
          <a:xfrm>
            <a:off x="9398000" y="1282700"/>
            <a:ext cx="2082800" cy="584200"/>
          </a:xfrm>
          <a:prstGeom prst="rect">
            <a:avLst/>
          </a:prstGeom>
          <a:noFill/>
        </p:spPr>
        <p:txBody>
          <a:bodyPr vert="horz" wrap="square" lIns="0" tIns="0" rIns="0" bIns="0" rtlCol="0" anchor="t">
            <a:noAutofit/>
          </a:bodyPr>
          <a:lstStyle/>
          <a:p>
            <a:pPr>
              <a:spcAft>
                <a:spcPts val="100"/>
              </a:spcAft>
            </a:pPr>
            <a:r>
              <a:rPr lang="en-US" sz="1000">
                <a:solidFill>
                  <a:srgbClr val="8FD0C8"/>
                </a:solidFill>
                <a:latin typeface="Consolas" panose="020B0609020204030204" pitchFamily="49" charset="0"/>
                <a:cs typeface="Segoe UI" panose="020B0502040204020203" pitchFamily="34" charset="0"/>
              </a:rPr>
              <a:t>ZOOM · PAN · NATIVE RES.</a:t>
            </a:r>
          </a:p>
          <a:p>
            <a:pPr>
              <a:spcAft>
                <a:spcPts val="100"/>
              </a:spcAft>
            </a:pPr>
            <a:r>
              <a:rPr lang="en-US" sz="1250">
                <a:solidFill>
                  <a:srgbClr val="C9CFD6"/>
                </a:solidFill>
                <a:latin typeface="Calibri" panose="020F0502020204030204" pitchFamily="34" charset="0"/>
                <a:cs typeface="Segoe UI" panose="020B0502040204020203" pitchFamily="34" charset="0"/>
              </a:rPr>
              <a:t>Wheel, pinch or keys; zoom level shown</a:t>
            </a:r>
          </a:p>
        </p:txBody>
      </p:sp>
      <p:cxnSp>
        <p:nvCxnSpPr>
          <p:cNvPr id="9" name="rule-118">
            <a:extLst>
              <a:ext uri="{FF2B5EF4-FFF2-40B4-BE49-F238E27FC236}">
                <a16:creationId xmlns:a16="http://schemas.microsoft.com/office/drawing/2014/main" id="{3F8C1E6B-F718-C875-9FE4-43A506A2252A}"/>
              </a:ext>
            </a:extLst>
          </p:cNvPr>
          <p:cNvCxnSpPr/>
          <p:nvPr/>
        </p:nvCxnSpPr>
        <p:spPr>
          <a:xfrm>
            <a:off x="9169400" y="2032000"/>
            <a:ext cx="152400" cy="0"/>
          </a:xfrm>
          <a:prstGeom prst="line">
            <a:avLst/>
          </a:prstGeom>
          <a:ln w="12700">
            <a:solidFill>
              <a:srgbClr val="4A9A92"/>
            </a:solidFill>
          </a:ln>
        </p:spPr>
        <p:style>
          <a:lnRef idx="2">
            <a:schemeClr val="accent1"/>
          </a:lnRef>
          <a:fillRef idx="0">
            <a:schemeClr val="accent1"/>
          </a:fillRef>
          <a:effectRef idx="1">
            <a:schemeClr val="accent1"/>
          </a:effectRef>
          <a:fontRef idx="minor">
            <a:schemeClr val="tx1"/>
          </a:fontRef>
        </p:style>
      </p:cxnSp>
      <p:sp>
        <p:nvSpPr>
          <p:cNvPr id="10" name="txt-119">
            <a:extLst>
              <a:ext uri="{FF2B5EF4-FFF2-40B4-BE49-F238E27FC236}">
                <a16:creationId xmlns:a16="http://schemas.microsoft.com/office/drawing/2014/main" id="{E259FD8F-82CB-1224-BB4E-7638E7D0EEB1}"/>
              </a:ext>
            </a:extLst>
          </p:cNvPr>
          <p:cNvSpPr txBox="1"/>
          <p:nvPr/>
        </p:nvSpPr>
        <p:spPr>
          <a:xfrm>
            <a:off x="9398000" y="1943100"/>
            <a:ext cx="2082800" cy="584200"/>
          </a:xfrm>
          <a:prstGeom prst="rect">
            <a:avLst/>
          </a:prstGeom>
          <a:noFill/>
        </p:spPr>
        <p:txBody>
          <a:bodyPr vert="horz" wrap="square" lIns="0" tIns="0" rIns="0" bIns="0" rtlCol="0" anchor="t">
            <a:noAutofit/>
          </a:bodyPr>
          <a:lstStyle/>
          <a:p>
            <a:pPr>
              <a:spcAft>
                <a:spcPts val="100"/>
              </a:spcAft>
            </a:pPr>
            <a:r>
              <a:rPr lang="fr-FR" sz="1000">
                <a:solidFill>
                  <a:srgbClr val="8FD0C8"/>
                </a:solidFill>
                <a:latin typeface="Consolas" panose="020B0609020204030204" pitchFamily="49" charset="0"/>
                <a:cs typeface="Segoe UI" panose="020B0502040204020203" pitchFamily="34" charset="0"/>
              </a:rPr>
              <a:t>ANATOMY GUIDES</a:t>
            </a:r>
          </a:p>
          <a:p>
            <a:pPr>
              <a:spcAft>
                <a:spcPts val="100"/>
              </a:spcAft>
            </a:pPr>
            <a:r>
              <a:rPr lang="fr-FR" sz="1250">
                <a:solidFill>
                  <a:srgbClr val="C9CFD6"/>
                </a:solidFill>
                <a:latin typeface="Calibri" panose="020F0502020204030204" pitchFamily="34" charset="0"/>
                <a:cs typeface="Segoe UI" panose="020B0502040204020203" pitchFamily="34" charset="0"/>
              </a:rPr>
              <a:t>Disc outline · 1-DD macular zone · quadrants</a:t>
            </a:r>
            <a:endParaRPr lang="en-US" sz="1250">
              <a:solidFill>
                <a:srgbClr val="C9CFD6"/>
              </a:solidFill>
              <a:latin typeface="Calibri" panose="020F0502020204030204" pitchFamily="34" charset="0"/>
              <a:cs typeface="Segoe UI" panose="020B0502040204020203" pitchFamily="34" charset="0"/>
            </a:endParaRPr>
          </a:p>
        </p:txBody>
      </p:sp>
      <p:cxnSp>
        <p:nvCxnSpPr>
          <p:cNvPr id="11" name="rule-120">
            <a:extLst>
              <a:ext uri="{FF2B5EF4-FFF2-40B4-BE49-F238E27FC236}">
                <a16:creationId xmlns:a16="http://schemas.microsoft.com/office/drawing/2014/main" id="{ABBD26A9-AC61-B715-427A-57577B2E8CE9}"/>
              </a:ext>
            </a:extLst>
          </p:cNvPr>
          <p:cNvCxnSpPr/>
          <p:nvPr/>
        </p:nvCxnSpPr>
        <p:spPr>
          <a:xfrm>
            <a:off x="9169400" y="2692400"/>
            <a:ext cx="152400" cy="0"/>
          </a:xfrm>
          <a:prstGeom prst="line">
            <a:avLst/>
          </a:prstGeom>
          <a:ln w="12700">
            <a:solidFill>
              <a:srgbClr val="4A9A92"/>
            </a:solidFill>
          </a:ln>
        </p:spPr>
        <p:style>
          <a:lnRef idx="2">
            <a:schemeClr val="accent1"/>
          </a:lnRef>
          <a:fillRef idx="0">
            <a:schemeClr val="accent1"/>
          </a:fillRef>
          <a:effectRef idx="1">
            <a:schemeClr val="accent1"/>
          </a:effectRef>
          <a:fontRef idx="minor">
            <a:schemeClr val="tx1"/>
          </a:fontRef>
        </p:style>
      </p:cxnSp>
      <p:sp>
        <p:nvSpPr>
          <p:cNvPr id="12" name="txt-121">
            <a:extLst>
              <a:ext uri="{FF2B5EF4-FFF2-40B4-BE49-F238E27FC236}">
                <a16:creationId xmlns:a16="http://schemas.microsoft.com/office/drawing/2014/main" id="{D1A4BE7A-BE06-8130-9087-491787608F39}"/>
              </a:ext>
            </a:extLst>
          </p:cNvPr>
          <p:cNvSpPr txBox="1"/>
          <p:nvPr/>
        </p:nvSpPr>
        <p:spPr>
          <a:xfrm>
            <a:off x="9398000" y="2603500"/>
            <a:ext cx="2082800" cy="584200"/>
          </a:xfrm>
          <a:prstGeom prst="rect">
            <a:avLst/>
          </a:prstGeom>
          <a:noFill/>
        </p:spPr>
        <p:txBody>
          <a:bodyPr vert="horz" wrap="square" lIns="0" tIns="0" rIns="0" bIns="0" rtlCol="0" anchor="t">
            <a:noAutofit/>
          </a:bodyPr>
          <a:lstStyle/>
          <a:p>
            <a:pPr>
              <a:spcAft>
                <a:spcPts val="100"/>
              </a:spcAft>
            </a:pPr>
            <a:r>
              <a:rPr lang="en-US" sz="1000">
                <a:solidFill>
                  <a:srgbClr val="8FD0C8"/>
                </a:solidFill>
                <a:latin typeface="Consolas" panose="020B0609020204030204" pitchFamily="49" charset="0"/>
                <a:cs typeface="Segoe UI" panose="020B0502040204020203" pitchFamily="34" charset="0"/>
              </a:rPr>
              <a:t>LAYERS + OPACITY</a:t>
            </a:r>
          </a:p>
          <a:p>
            <a:pPr>
              <a:spcAft>
                <a:spcPts val="100"/>
              </a:spcAft>
            </a:pPr>
            <a:r>
              <a:rPr lang="en-US" sz="1250">
                <a:solidFill>
                  <a:srgbClr val="C9CFD6"/>
                </a:solidFill>
                <a:latin typeface="Calibri" panose="020F0502020204030204" pitchFamily="34" charset="0"/>
                <a:cs typeface="Segoe UI" panose="020B0502040204020203" pitchFamily="34" charset="0"/>
              </a:rPr>
              <a:t>Annotation layers revealed one at a time</a:t>
            </a:r>
          </a:p>
        </p:txBody>
      </p:sp>
      <p:cxnSp>
        <p:nvCxnSpPr>
          <p:cNvPr id="13" name="rule-122">
            <a:extLst>
              <a:ext uri="{FF2B5EF4-FFF2-40B4-BE49-F238E27FC236}">
                <a16:creationId xmlns:a16="http://schemas.microsoft.com/office/drawing/2014/main" id="{B9F59AF6-E7C0-D7CD-57BA-F67E8A338A42}"/>
              </a:ext>
            </a:extLst>
          </p:cNvPr>
          <p:cNvCxnSpPr/>
          <p:nvPr/>
        </p:nvCxnSpPr>
        <p:spPr>
          <a:xfrm>
            <a:off x="9169400" y="3352800"/>
            <a:ext cx="152400" cy="0"/>
          </a:xfrm>
          <a:prstGeom prst="line">
            <a:avLst/>
          </a:prstGeom>
          <a:ln w="12700">
            <a:solidFill>
              <a:srgbClr val="4A9A92"/>
            </a:solidFill>
          </a:ln>
        </p:spPr>
        <p:style>
          <a:lnRef idx="2">
            <a:schemeClr val="accent1"/>
          </a:lnRef>
          <a:fillRef idx="0">
            <a:schemeClr val="accent1"/>
          </a:fillRef>
          <a:effectRef idx="1">
            <a:schemeClr val="accent1"/>
          </a:effectRef>
          <a:fontRef idx="minor">
            <a:schemeClr val="tx1"/>
          </a:fontRef>
        </p:style>
      </p:cxnSp>
      <p:sp>
        <p:nvSpPr>
          <p:cNvPr id="14" name="txt-123">
            <a:extLst>
              <a:ext uri="{FF2B5EF4-FFF2-40B4-BE49-F238E27FC236}">
                <a16:creationId xmlns:a16="http://schemas.microsoft.com/office/drawing/2014/main" id="{00303A42-163A-B3F5-5EAF-425C4418551F}"/>
              </a:ext>
            </a:extLst>
          </p:cNvPr>
          <p:cNvSpPr txBox="1"/>
          <p:nvPr/>
        </p:nvSpPr>
        <p:spPr>
          <a:xfrm>
            <a:off x="9398000" y="3263900"/>
            <a:ext cx="2082800" cy="584200"/>
          </a:xfrm>
          <a:prstGeom prst="rect">
            <a:avLst/>
          </a:prstGeom>
          <a:noFill/>
        </p:spPr>
        <p:txBody>
          <a:bodyPr vert="horz" wrap="square" lIns="0" tIns="0" rIns="0" bIns="0" rtlCol="0" anchor="t">
            <a:noAutofit/>
          </a:bodyPr>
          <a:lstStyle/>
          <a:p>
            <a:pPr>
              <a:spcAft>
                <a:spcPts val="100"/>
              </a:spcAft>
            </a:pPr>
            <a:r>
              <a:rPr lang="en-US" sz="1000">
                <a:solidFill>
                  <a:srgbClr val="8FD0C8"/>
                </a:solidFill>
                <a:latin typeface="Consolas" panose="020B0609020204030204" pitchFamily="49" charset="0"/>
                <a:cs typeface="Segoe UI" panose="020B0502040204020203" pitchFamily="34" charset="0"/>
              </a:rPr>
              <a:t>GREEN-CHANNEL COMPARISON</a:t>
            </a:r>
          </a:p>
          <a:p>
            <a:pPr>
              <a:spcAft>
                <a:spcPts val="100"/>
              </a:spcAft>
            </a:pPr>
            <a:r>
              <a:rPr lang="en-US" sz="1250">
                <a:solidFill>
                  <a:srgbClr val="C9CFD6"/>
                </a:solidFill>
                <a:latin typeface="Calibri" panose="020F0502020204030204" pitchFamily="34" charset="0"/>
                <a:cs typeface="Segoe UI" panose="020B0502040204020203" pitchFamily="34" charset="0"/>
              </a:rPr>
              <a:t>Draggable plain | enhanced divider</a:t>
            </a:r>
          </a:p>
        </p:txBody>
      </p:sp>
      <p:sp>
        <p:nvSpPr>
          <p:cNvPr id="15" name="shape-124">
            <a:extLst>
              <a:ext uri="{FF2B5EF4-FFF2-40B4-BE49-F238E27FC236}">
                <a16:creationId xmlns:a16="http://schemas.microsoft.com/office/drawing/2014/main" id="{7037396C-8F8D-F2E6-925C-116B99B30F2E}"/>
              </a:ext>
            </a:extLst>
          </p:cNvPr>
          <p:cNvSpPr/>
          <p:nvPr/>
        </p:nvSpPr>
        <p:spPr>
          <a:xfrm>
            <a:off x="9169400" y="4140200"/>
            <a:ext cx="2311400" cy="1905000"/>
          </a:xfrm>
          <a:prstGeom prst="rect">
            <a:avLst/>
          </a:prstGeom>
          <a:solidFill>
            <a:srgbClr val="12304F"/>
          </a:solidFill>
          <a:ln w="9525">
            <a:solidFill>
              <a:srgbClr val="234A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xt-125">
            <a:extLst>
              <a:ext uri="{FF2B5EF4-FFF2-40B4-BE49-F238E27FC236}">
                <a16:creationId xmlns:a16="http://schemas.microsoft.com/office/drawing/2014/main" id="{CD5706DD-77EB-68EE-1534-A55A5D68D0B8}"/>
              </a:ext>
            </a:extLst>
          </p:cNvPr>
          <p:cNvSpPr txBox="1"/>
          <p:nvPr/>
        </p:nvSpPr>
        <p:spPr>
          <a:xfrm>
            <a:off x="9321800" y="4241800"/>
            <a:ext cx="2006600" cy="203200"/>
          </a:xfrm>
          <a:prstGeom prst="rect">
            <a:avLst/>
          </a:prstGeom>
          <a:noFill/>
        </p:spPr>
        <p:txBody>
          <a:bodyPr vert="horz" wrap="square" lIns="0" tIns="0" rIns="0" bIns="0" rtlCol="0" anchor="t">
            <a:noAutofit/>
          </a:bodyPr>
          <a:lstStyle/>
          <a:p>
            <a:r>
              <a:rPr lang="en-US" sz="1000">
                <a:solidFill>
                  <a:srgbClr val="E8A090"/>
                </a:solidFill>
                <a:latin typeface="Consolas" panose="020B0609020204030204" pitchFamily="49" charset="0"/>
                <a:cs typeface="Segoe UI" panose="020B0502040204020203" pitchFamily="34" charset="0"/>
              </a:rPr>
              <a:t>BLIND-FIRST SAFEGUARD</a:t>
            </a:r>
          </a:p>
        </p:txBody>
      </p:sp>
      <p:sp>
        <p:nvSpPr>
          <p:cNvPr id="17" name="txt-126">
            <a:extLst>
              <a:ext uri="{FF2B5EF4-FFF2-40B4-BE49-F238E27FC236}">
                <a16:creationId xmlns:a16="http://schemas.microsoft.com/office/drawing/2014/main" id="{8A07790D-CE24-F9FD-9DEC-44008D4400E0}"/>
              </a:ext>
            </a:extLst>
          </p:cNvPr>
          <p:cNvSpPr txBox="1"/>
          <p:nvPr/>
        </p:nvSpPr>
        <p:spPr>
          <a:xfrm>
            <a:off x="9321800" y="4470400"/>
            <a:ext cx="2006600" cy="1524000"/>
          </a:xfrm>
          <a:prstGeom prst="rect">
            <a:avLst/>
          </a:prstGeom>
          <a:noFill/>
        </p:spPr>
        <p:txBody>
          <a:bodyPr vert="horz" wrap="square" lIns="0" tIns="0" rIns="0" bIns="0" rtlCol="0" anchor="t">
            <a:noAutofit/>
          </a:bodyPr>
          <a:lstStyle/>
          <a:p>
            <a:pPr>
              <a:spcAft>
                <a:spcPts val="500"/>
              </a:spcAft>
            </a:pPr>
            <a:r>
              <a:rPr lang="en-US" sz="1400">
                <a:solidFill>
                  <a:srgbClr val="F7F2E8"/>
                </a:solidFill>
                <a:latin typeface="Calibri" panose="020F0502020204030204" pitchFamily="34" charset="0"/>
                <a:cs typeface="Segoe UI" panose="020B0502040204020203" pitchFamily="34" charset="0"/>
              </a:rPr>
              <a:t>Reference annotations stay locked until the interpretation is locked.</a:t>
            </a:r>
          </a:p>
          <a:p>
            <a:pPr>
              <a:spcAft>
                <a:spcPts val="500"/>
              </a:spcAft>
            </a:pPr>
            <a:r>
              <a:rPr lang="en-US" sz="1200">
                <a:solidFill>
                  <a:srgbClr val="9DB1C4"/>
                </a:solidFill>
                <a:latin typeface="Calibri" panose="020F0502020204030204" pitchFamily="34" charset="0"/>
                <a:cs typeface="Segoe UI" panose="020B0502040204020203" pitchFamily="34" charset="0"/>
              </a:rPr>
              <a:t>Reduces anchoring in the educational reading. Early access = Study Mode = practice only.</a:t>
            </a:r>
          </a:p>
        </p:txBody>
      </p:sp>
      <p:sp>
        <p:nvSpPr>
          <p:cNvPr id="18" name="txt-127">
            <a:extLst>
              <a:ext uri="{FF2B5EF4-FFF2-40B4-BE49-F238E27FC236}">
                <a16:creationId xmlns:a16="http://schemas.microsoft.com/office/drawing/2014/main" id="{E9C49614-6542-B495-6DBA-753355878EA0}"/>
              </a:ext>
            </a:extLst>
          </p:cNvPr>
          <p:cNvSpPr txBox="1"/>
          <p:nvPr/>
        </p:nvSpPr>
        <p:spPr>
          <a:xfrm>
            <a:off x="711200" y="6527800"/>
            <a:ext cx="8890000" cy="1778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DIAGNOSTIC INTELLIGENCE LAB · AL DHAFRA HEALTH FORUM · EDUCATIONAL PROTOTYPE · NOT A MEDICAL DEVICE</a:t>
            </a:r>
          </a:p>
        </p:txBody>
      </p:sp>
      <p:sp>
        <p:nvSpPr>
          <p:cNvPr id="19" name="txt-128">
            <a:extLst>
              <a:ext uri="{FF2B5EF4-FFF2-40B4-BE49-F238E27FC236}">
                <a16:creationId xmlns:a16="http://schemas.microsoft.com/office/drawing/2014/main" id="{655B8F06-E8E7-4275-212B-35BFB5AE17A5}"/>
              </a:ext>
            </a:extLst>
          </p:cNvPr>
          <p:cNvSpPr txBox="1"/>
          <p:nvPr/>
        </p:nvSpPr>
        <p:spPr>
          <a:xfrm>
            <a:off x="10972800" y="6527800"/>
            <a:ext cx="508000" cy="177800"/>
          </a:xfrm>
          <a:prstGeom prst="rect">
            <a:avLst/>
          </a:prstGeom>
          <a:noFill/>
        </p:spPr>
        <p:txBody>
          <a:bodyPr vert="horz" wrap="square" lIns="0" tIns="0" rIns="0" bIns="0" rtlCol="0" anchor="t">
            <a:noAutofit/>
          </a:bodyPr>
          <a:lstStyle/>
          <a:p>
            <a:pPr algn="r"/>
            <a:r>
              <a:rPr lang="en-US" sz="1000">
                <a:solidFill>
                  <a:srgbClr val="9DB1C4"/>
                </a:solidFill>
                <a:latin typeface="Consolas" panose="020B0609020204030204" pitchFamily="49" charset="0"/>
                <a:cs typeface="Segoe UI" panose="020B0502040204020203" pitchFamily="34" charset="0"/>
              </a:rPr>
              <a:t>05</a:t>
            </a:r>
          </a:p>
        </p:txBody>
      </p:sp>
    </p:spTree>
    <p:extLst>
      <p:ext uri="{BB962C8B-B14F-4D97-AF65-F5344CB8AC3E}">
        <p14:creationId xmlns:p14="http://schemas.microsoft.com/office/powerpoint/2010/main" val="3249982318"/>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129">
            <a:extLst>
              <a:ext uri="{FF2B5EF4-FFF2-40B4-BE49-F238E27FC236}">
                <a16:creationId xmlns:a16="http://schemas.microsoft.com/office/drawing/2014/main" id="{0E1C7B1D-AB75-8669-570A-ED86AB40831E}"/>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05 · DIAGNOSTIC DUEL</a:t>
            </a:r>
          </a:p>
        </p:txBody>
      </p:sp>
      <p:sp>
        <p:nvSpPr>
          <p:cNvPr id="3" name="txt-130">
            <a:extLst>
              <a:ext uri="{FF2B5EF4-FFF2-40B4-BE49-F238E27FC236}">
                <a16:creationId xmlns:a16="http://schemas.microsoft.com/office/drawing/2014/main" id="{4C0A25BC-50F6-731F-6AE2-98A81413A799}"/>
              </a:ext>
            </a:extLst>
          </p:cNvPr>
          <p:cNvSpPr txBox="1"/>
          <p:nvPr/>
        </p:nvSpPr>
        <p:spPr>
          <a:xfrm>
            <a:off x="711200" y="685800"/>
            <a:ext cx="6604000" cy="1143000"/>
          </a:xfrm>
          <a:prstGeom prst="rect">
            <a:avLst/>
          </a:prstGeom>
          <a:noFill/>
        </p:spPr>
        <p:txBody>
          <a:bodyPr vert="horz" wrap="square" lIns="0" tIns="0" rIns="0" bIns="0" rtlCol="0" anchor="t">
            <a:noAutofit/>
          </a:bodyPr>
          <a:lstStyle/>
          <a:p>
            <a:pPr>
              <a:lnSpc>
                <a:spcPct val="95000"/>
              </a:lnSpc>
            </a:pPr>
            <a:r>
              <a:rPr lang="en-US" sz="4000">
                <a:solidFill>
                  <a:srgbClr val="0A1A2C"/>
                </a:solidFill>
                <a:latin typeface="Georgia" panose="02040502050405020303" pitchFamily="18" charset="0"/>
                <a:cs typeface="Segoe UI" panose="020B0502040204020203" pitchFamily="34" charset="0"/>
              </a:rPr>
              <a:t>Read. Lock. Reveal.</a:t>
            </a:r>
          </a:p>
        </p:txBody>
      </p:sp>
      <p:sp>
        <p:nvSpPr>
          <p:cNvPr id="4" name="shape-131">
            <a:extLst>
              <a:ext uri="{FF2B5EF4-FFF2-40B4-BE49-F238E27FC236}">
                <a16:creationId xmlns:a16="http://schemas.microsoft.com/office/drawing/2014/main" id="{138BE64B-8839-415B-3170-335C55F6F177}"/>
              </a:ext>
            </a:extLst>
          </p:cNvPr>
          <p:cNvSpPr/>
          <p:nvPr/>
        </p:nvSpPr>
        <p:spPr>
          <a:xfrm>
            <a:off x="7112000" y="787400"/>
            <a:ext cx="4368800" cy="558800"/>
          </a:xfrm>
          <a:prstGeom prst="rect">
            <a:avLst/>
          </a:prstGeom>
          <a:solidFill>
            <a:srgbClr val="FCFAF4"/>
          </a:solidFill>
          <a:ln w="9525">
            <a:solidFill>
              <a:srgbClr val="A946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xt-132">
            <a:extLst>
              <a:ext uri="{FF2B5EF4-FFF2-40B4-BE49-F238E27FC236}">
                <a16:creationId xmlns:a16="http://schemas.microsoft.com/office/drawing/2014/main" id="{0CD613E7-8BE6-7DC5-AD60-9A657A5BBDBC}"/>
              </a:ext>
            </a:extLst>
          </p:cNvPr>
          <p:cNvSpPr txBox="1"/>
          <p:nvPr/>
        </p:nvSpPr>
        <p:spPr>
          <a:xfrm>
            <a:off x="7239000" y="850900"/>
            <a:ext cx="4114800" cy="457200"/>
          </a:xfrm>
          <a:prstGeom prst="rect">
            <a:avLst/>
          </a:prstGeom>
          <a:noFill/>
        </p:spPr>
        <p:txBody>
          <a:bodyPr vert="horz" wrap="square" lIns="0" tIns="0" rIns="0" bIns="0" rtlCol="0" anchor="ctr">
            <a:noAutofit/>
          </a:bodyPr>
          <a:lstStyle/>
          <a:p>
            <a:r>
              <a:rPr lang="en-US" sz="1000" b="1">
                <a:solidFill>
                  <a:srgbClr val="A94632"/>
                </a:solidFill>
                <a:latin typeface="Consolas" panose="020B0609020204030204" pitchFamily="49" charset="0"/>
                <a:cs typeface="Segoe UI" panose="020B0502040204020203" pitchFamily="34" charset="0"/>
              </a:rPr>
              <a:t>EDUCATIONAL HUMAN-VERSUS-REFERENCE COMPARISON. </a:t>
            </a:r>
            <a:r>
              <a:rPr lang="en-US" sz="1000">
                <a:solidFill>
                  <a:srgbClr val="3B4A5C"/>
                </a:solidFill>
                <a:latin typeface="Consolas" panose="020B0609020204030204" pitchFamily="49" charset="0"/>
                <a:cs typeface="Segoe UI" panose="020B0502040204020203" pitchFamily="34" charset="0"/>
              </a:rPr>
              <a:t>No trained diagnostic AI model is involved.</a:t>
            </a:r>
          </a:p>
        </p:txBody>
      </p:sp>
      <p:sp>
        <p:nvSpPr>
          <p:cNvPr id="6" name="txt-133">
            <a:extLst>
              <a:ext uri="{FF2B5EF4-FFF2-40B4-BE49-F238E27FC236}">
                <a16:creationId xmlns:a16="http://schemas.microsoft.com/office/drawing/2014/main" id="{731E0596-875F-F6A7-CF5F-798C23403310}"/>
              </a:ext>
            </a:extLst>
          </p:cNvPr>
          <p:cNvSpPr txBox="1"/>
          <p:nvPr/>
        </p:nvSpPr>
        <p:spPr>
          <a:xfrm>
            <a:off x="711200" y="1549400"/>
            <a:ext cx="3429000" cy="355600"/>
          </a:xfrm>
          <a:prstGeom prst="rect">
            <a:avLst/>
          </a:prstGeom>
          <a:noFill/>
        </p:spPr>
        <p:txBody>
          <a:bodyPr vert="horz" wrap="square" lIns="0" tIns="0" rIns="0" bIns="0" rtlCol="0" anchor="t">
            <a:noAutofit/>
          </a:bodyPr>
          <a:lstStyle/>
          <a:p>
            <a:r>
              <a:rPr lang="en-US" sz="2400">
                <a:solidFill>
                  <a:srgbClr val="0A1A2C"/>
                </a:solidFill>
                <a:latin typeface="Georgia" panose="02040502050405020303" pitchFamily="18" charset="0"/>
                <a:cs typeface="Segoe UI" panose="020B0502040204020203" pitchFamily="34" charset="0"/>
              </a:rPr>
              <a:t>READ</a:t>
            </a:r>
          </a:p>
        </p:txBody>
      </p:sp>
      <p:pic>
        <p:nvPicPr>
          <p:cNvPr id="8" name="pic-134" descr="Screenshot of the Diagnostic Duel panel in its read state.">
            <a:extLst>
              <a:ext uri="{FF2B5EF4-FFF2-40B4-BE49-F238E27FC236}">
                <a16:creationId xmlns:a16="http://schemas.microsoft.com/office/drawing/2014/main" id="{7E9E923C-D88B-2E4A-D09F-1A4320F1B779}"/>
              </a:ext>
            </a:extLst>
          </p:cNvPr>
          <p:cNvPicPr>
            <a:picLocks/>
          </p:cNvPicPr>
          <p:nvPr/>
        </p:nvPicPr>
        <p:blipFill>
          <a:blip r:embed="rId3">
            <a:extLst>
              <a:ext uri="{28A0092B-C50C-407E-A947-70E740481C1C}">
                <a14:useLocalDpi xmlns:a14="http://schemas.microsoft.com/office/drawing/2010/main" val="0"/>
              </a:ext>
            </a:extLst>
          </a:blip>
          <a:srcRect l="70500" t="27000" b="30000"/>
          <a:stretch>
            <a:fillRect/>
          </a:stretch>
        </p:blipFill>
        <p:spPr>
          <a:xfrm>
            <a:off x="711200" y="2064331"/>
            <a:ext cx="3429000" cy="3389738"/>
          </a:xfrm>
          <a:prstGeom prst="rect">
            <a:avLst/>
          </a:prstGeom>
          <a:ln w="9525">
            <a:solidFill>
              <a:srgbClr val="CFC6B3"/>
            </a:solidFill>
          </a:ln>
        </p:spPr>
      </p:pic>
      <p:sp>
        <p:nvSpPr>
          <p:cNvPr id="9" name="txt-135">
            <a:extLst>
              <a:ext uri="{FF2B5EF4-FFF2-40B4-BE49-F238E27FC236}">
                <a16:creationId xmlns:a16="http://schemas.microsoft.com/office/drawing/2014/main" id="{43999D75-8C2D-6C00-D416-27E970947EC0}"/>
              </a:ext>
            </a:extLst>
          </p:cNvPr>
          <p:cNvSpPr txBox="1"/>
          <p:nvPr/>
        </p:nvSpPr>
        <p:spPr>
          <a:xfrm>
            <a:off x="711200" y="5638800"/>
            <a:ext cx="3429000" cy="381000"/>
          </a:xfrm>
          <a:prstGeom prst="rect">
            <a:avLst/>
          </a:prstGeom>
          <a:noFill/>
        </p:spPr>
        <p:txBody>
          <a:bodyPr vert="horz" wrap="square" lIns="0" tIns="0" rIns="0" bIns="0" rtlCol="0" anchor="t">
            <a:noAutofit/>
          </a:bodyPr>
          <a:lstStyle/>
          <a:p>
            <a:r>
              <a:rPr lang="en-US" sz="1000">
                <a:solidFill>
                  <a:srgbClr val="2A665F"/>
                </a:solidFill>
                <a:latin typeface="Consolas" panose="020B0609020204030204" pitchFamily="49" charset="0"/>
                <a:cs typeface="Segoe UI" panose="020B0502040204020203" pitchFamily="34" charset="0"/>
              </a:rPr>
              <a:t>1 Observe  ·  2 Gradability  ·  3 Confidence  ·  4 Interpret</a:t>
            </a:r>
          </a:p>
        </p:txBody>
      </p:sp>
      <p:cxnSp>
        <p:nvCxnSpPr>
          <p:cNvPr id="10" name="rule-136">
            <a:extLst>
              <a:ext uri="{FF2B5EF4-FFF2-40B4-BE49-F238E27FC236}">
                <a16:creationId xmlns:a16="http://schemas.microsoft.com/office/drawing/2014/main" id="{8C7B793E-5BC7-838D-5754-B671DAB1BEED}"/>
              </a:ext>
            </a:extLst>
          </p:cNvPr>
          <p:cNvCxnSpPr/>
          <p:nvPr/>
        </p:nvCxnSpPr>
        <p:spPr>
          <a:xfrm>
            <a:off x="4191000" y="3759200"/>
            <a:ext cx="241300" cy="0"/>
          </a:xfrm>
          <a:prstGeom prst="line">
            <a:avLst/>
          </a:prstGeom>
          <a:ln w="15875">
            <a:solidFill>
              <a:srgbClr val="2A66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xt-137">
            <a:extLst>
              <a:ext uri="{FF2B5EF4-FFF2-40B4-BE49-F238E27FC236}">
                <a16:creationId xmlns:a16="http://schemas.microsoft.com/office/drawing/2014/main" id="{E4902340-2FE8-C73A-1D58-AC03333B6937}"/>
              </a:ext>
            </a:extLst>
          </p:cNvPr>
          <p:cNvSpPr txBox="1"/>
          <p:nvPr/>
        </p:nvSpPr>
        <p:spPr>
          <a:xfrm>
            <a:off x="4483100" y="1549400"/>
            <a:ext cx="3429000" cy="355600"/>
          </a:xfrm>
          <a:prstGeom prst="rect">
            <a:avLst/>
          </a:prstGeom>
          <a:noFill/>
        </p:spPr>
        <p:txBody>
          <a:bodyPr vert="horz" wrap="square" lIns="0" tIns="0" rIns="0" bIns="0" rtlCol="0" anchor="t">
            <a:noAutofit/>
          </a:bodyPr>
          <a:lstStyle/>
          <a:p>
            <a:r>
              <a:rPr lang="en-US" sz="2400">
                <a:solidFill>
                  <a:srgbClr val="0A1A2C"/>
                </a:solidFill>
                <a:latin typeface="Georgia" panose="02040502050405020303" pitchFamily="18" charset="0"/>
                <a:cs typeface="Segoe UI" panose="020B0502040204020203" pitchFamily="34" charset="0"/>
              </a:rPr>
              <a:t>LOCK</a:t>
            </a:r>
          </a:p>
        </p:txBody>
      </p:sp>
      <p:pic>
        <p:nvPicPr>
          <p:cNvPr id="13" name="pic-138" descr="Screenshot of the Diagnostic Duel panel in its lock state.">
            <a:extLst>
              <a:ext uri="{FF2B5EF4-FFF2-40B4-BE49-F238E27FC236}">
                <a16:creationId xmlns:a16="http://schemas.microsoft.com/office/drawing/2014/main" id="{B34085F0-AF36-072A-3A45-2C07A8DD8EF4}"/>
              </a:ext>
            </a:extLst>
          </p:cNvPr>
          <p:cNvPicPr>
            <a:picLocks/>
          </p:cNvPicPr>
          <p:nvPr/>
        </p:nvPicPr>
        <p:blipFill>
          <a:blip r:embed="rId3">
            <a:extLst>
              <a:ext uri="{28A0092B-C50C-407E-A947-70E740481C1C}">
                <a14:useLocalDpi xmlns:a14="http://schemas.microsoft.com/office/drawing/2010/main" val="0"/>
              </a:ext>
            </a:extLst>
          </a:blip>
          <a:srcRect l="70500" t="76000" b="1500"/>
          <a:stretch>
            <a:fillRect/>
          </a:stretch>
        </p:blipFill>
        <p:spPr>
          <a:xfrm>
            <a:off x="4483100" y="2872350"/>
            <a:ext cx="3429000" cy="1773700"/>
          </a:xfrm>
          <a:prstGeom prst="rect">
            <a:avLst/>
          </a:prstGeom>
          <a:ln w="9525">
            <a:solidFill>
              <a:srgbClr val="CFC6B3"/>
            </a:solidFill>
          </a:ln>
        </p:spPr>
      </p:pic>
      <p:sp>
        <p:nvSpPr>
          <p:cNvPr id="14" name="txt-139">
            <a:extLst>
              <a:ext uri="{FF2B5EF4-FFF2-40B4-BE49-F238E27FC236}">
                <a16:creationId xmlns:a16="http://schemas.microsoft.com/office/drawing/2014/main" id="{B0F3403A-29E3-44AE-ADD8-29D08030E817}"/>
              </a:ext>
            </a:extLst>
          </p:cNvPr>
          <p:cNvSpPr txBox="1"/>
          <p:nvPr/>
        </p:nvSpPr>
        <p:spPr>
          <a:xfrm>
            <a:off x="4483100" y="5638800"/>
            <a:ext cx="3429000" cy="381000"/>
          </a:xfrm>
          <a:prstGeom prst="rect">
            <a:avLst/>
          </a:prstGeom>
          <a:noFill/>
        </p:spPr>
        <p:txBody>
          <a:bodyPr vert="horz" wrap="square" lIns="0" tIns="0" rIns="0" bIns="0" rtlCol="0" anchor="t">
            <a:noAutofit/>
          </a:bodyPr>
          <a:lstStyle/>
          <a:p>
            <a:r>
              <a:rPr lang="en-US" sz="1000">
                <a:solidFill>
                  <a:srgbClr val="2A665F"/>
                </a:solidFill>
                <a:latin typeface="Consolas" panose="020B0609020204030204" pitchFamily="49" charset="0"/>
                <a:cs typeface="Segoe UI" panose="020B0502040204020203" pitchFamily="34" charset="0"/>
              </a:rPr>
              <a:t>5 Lock — final, no edits</a:t>
            </a:r>
          </a:p>
        </p:txBody>
      </p:sp>
      <p:cxnSp>
        <p:nvCxnSpPr>
          <p:cNvPr id="15" name="rule-140">
            <a:extLst>
              <a:ext uri="{FF2B5EF4-FFF2-40B4-BE49-F238E27FC236}">
                <a16:creationId xmlns:a16="http://schemas.microsoft.com/office/drawing/2014/main" id="{A0B47EA1-5355-56CF-3711-6D24DFC766AA}"/>
              </a:ext>
            </a:extLst>
          </p:cNvPr>
          <p:cNvCxnSpPr/>
          <p:nvPr/>
        </p:nvCxnSpPr>
        <p:spPr>
          <a:xfrm>
            <a:off x="7962900" y="3759200"/>
            <a:ext cx="241300" cy="0"/>
          </a:xfrm>
          <a:prstGeom prst="line">
            <a:avLst/>
          </a:prstGeom>
          <a:ln w="15875">
            <a:solidFill>
              <a:srgbClr val="2A66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xt-141">
            <a:extLst>
              <a:ext uri="{FF2B5EF4-FFF2-40B4-BE49-F238E27FC236}">
                <a16:creationId xmlns:a16="http://schemas.microsoft.com/office/drawing/2014/main" id="{CF26A754-9C89-9284-9184-BA2BBFC3CF4C}"/>
              </a:ext>
            </a:extLst>
          </p:cNvPr>
          <p:cNvSpPr txBox="1"/>
          <p:nvPr/>
        </p:nvSpPr>
        <p:spPr>
          <a:xfrm>
            <a:off x="8255000" y="1549400"/>
            <a:ext cx="3429000" cy="355600"/>
          </a:xfrm>
          <a:prstGeom prst="rect">
            <a:avLst/>
          </a:prstGeom>
          <a:noFill/>
        </p:spPr>
        <p:txBody>
          <a:bodyPr vert="horz" wrap="square" lIns="0" tIns="0" rIns="0" bIns="0" rtlCol="0" anchor="t">
            <a:noAutofit/>
          </a:bodyPr>
          <a:lstStyle/>
          <a:p>
            <a:r>
              <a:rPr lang="en-US" sz="2400">
                <a:solidFill>
                  <a:srgbClr val="A94632"/>
                </a:solidFill>
                <a:latin typeface="Georgia" panose="02040502050405020303" pitchFamily="18" charset="0"/>
                <a:cs typeface="Segoe UI" panose="020B0502040204020203" pitchFamily="34" charset="0"/>
              </a:rPr>
              <a:t>REVEAL</a:t>
            </a:r>
          </a:p>
        </p:txBody>
      </p:sp>
      <p:pic>
        <p:nvPicPr>
          <p:cNvPr id="18" name="pic-142" descr="Screenshot of the Diagnostic Duel panel in its reveal state.">
            <a:extLst>
              <a:ext uri="{FF2B5EF4-FFF2-40B4-BE49-F238E27FC236}">
                <a16:creationId xmlns:a16="http://schemas.microsoft.com/office/drawing/2014/main" id="{6BA690FB-19E0-AD76-3DC7-0289966A8A0E}"/>
              </a:ext>
            </a:extLst>
          </p:cNvPr>
          <p:cNvPicPr>
            <a:picLocks/>
          </p:cNvPicPr>
          <p:nvPr/>
        </p:nvPicPr>
        <p:blipFill>
          <a:blip r:embed="rId4">
            <a:extLst>
              <a:ext uri="{28A0092B-C50C-407E-A947-70E740481C1C}">
                <a14:useLocalDpi xmlns:a14="http://schemas.microsoft.com/office/drawing/2010/main" val="0"/>
              </a:ext>
            </a:extLst>
          </a:blip>
          <a:srcRect l="70500" t="2000" b="71600"/>
          <a:stretch>
            <a:fillRect/>
          </a:stretch>
        </p:blipFill>
        <p:spPr>
          <a:xfrm>
            <a:off x="8551987" y="1981200"/>
            <a:ext cx="2835026" cy="3556000"/>
          </a:xfrm>
          <a:prstGeom prst="rect">
            <a:avLst/>
          </a:prstGeom>
          <a:ln w="9525">
            <a:solidFill>
              <a:srgbClr val="CFC6B3"/>
            </a:solidFill>
          </a:ln>
        </p:spPr>
      </p:pic>
      <p:sp>
        <p:nvSpPr>
          <p:cNvPr id="19" name="txt-143">
            <a:extLst>
              <a:ext uri="{FF2B5EF4-FFF2-40B4-BE49-F238E27FC236}">
                <a16:creationId xmlns:a16="http://schemas.microsoft.com/office/drawing/2014/main" id="{F9A6E07D-C635-BD38-95CD-15A0ED0CA518}"/>
              </a:ext>
            </a:extLst>
          </p:cNvPr>
          <p:cNvSpPr txBox="1"/>
          <p:nvPr/>
        </p:nvSpPr>
        <p:spPr>
          <a:xfrm>
            <a:off x="8255000" y="5638800"/>
            <a:ext cx="3429000" cy="381000"/>
          </a:xfrm>
          <a:prstGeom prst="rect">
            <a:avLst/>
          </a:prstGeom>
          <a:noFill/>
        </p:spPr>
        <p:txBody>
          <a:bodyPr vert="horz" wrap="square" lIns="0" tIns="0" rIns="0" bIns="0" rtlCol="0" anchor="t">
            <a:noAutofit/>
          </a:bodyPr>
          <a:lstStyle/>
          <a:p>
            <a:r>
              <a:rPr lang="en-US" sz="1000">
                <a:solidFill>
                  <a:srgbClr val="2A665F"/>
                </a:solidFill>
                <a:latin typeface="Consolas" panose="020B0609020204030204" pitchFamily="49" charset="0"/>
                <a:cs typeface="Segoe UI" panose="020B0502040204020203" pitchFamily="34" charset="0"/>
              </a:rPr>
              <a:t>6 Reference  ·  7 Discrepancies</a:t>
            </a:r>
          </a:p>
        </p:txBody>
      </p:sp>
      <p:sp>
        <p:nvSpPr>
          <p:cNvPr id="20" name="txt-144">
            <a:extLst>
              <a:ext uri="{FF2B5EF4-FFF2-40B4-BE49-F238E27FC236}">
                <a16:creationId xmlns:a16="http://schemas.microsoft.com/office/drawing/2014/main" id="{BD1418ED-6497-037C-B5C0-29224602ED13}"/>
              </a:ext>
            </a:extLst>
          </p:cNvPr>
          <p:cNvSpPr txBox="1"/>
          <p:nvPr/>
        </p:nvSpPr>
        <p:spPr>
          <a:xfrm>
            <a:off x="711200" y="6070600"/>
            <a:ext cx="10922000" cy="304800"/>
          </a:xfrm>
          <a:prstGeom prst="rect">
            <a:avLst/>
          </a:prstGeom>
          <a:noFill/>
        </p:spPr>
        <p:txBody>
          <a:bodyPr vert="horz" wrap="square" lIns="0" tIns="0" rIns="0" bIns="0" rtlCol="0" anchor="t">
            <a:noAutofit/>
          </a:bodyPr>
          <a:lstStyle/>
          <a:p>
            <a:r>
              <a:rPr lang="en-US" sz="1700" b="1">
                <a:solidFill>
                  <a:srgbClr val="0A1A2C"/>
                </a:solidFill>
                <a:latin typeface="Georgia" panose="02040502050405020303" pitchFamily="18" charset="0"/>
                <a:cs typeface="Segoe UI" panose="020B0502040204020203" pitchFamily="34" charset="0"/>
              </a:rPr>
              <a:t>The interpretation comes first. </a:t>
            </a:r>
            <a:r>
              <a:rPr lang="en-US" sz="1700">
                <a:solidFill>
                  <a:srgbClr val="3B4A5C"/>
                </a:solidFill>
                <a:latin typeface="Georgia" panose="02040502050405020303" pitchFamily="18" charset="0"/>
                <a:cs typeface="Segoe UI" panose="020B0502040204020203" pitchFamily="34" charset="0"/>
              </a:rPr>
              <a:t>The reference comes afterward.</a:t>
            </a:r>
          </a:p>
        </p:txBody>
      </p:sp>
      <p:sp>
        <p:nvSpPr>
          <p:cNvPr id="21" name="txt-145">
            <a:extLst>
              <a:ext uri="{FF2B5EF4-FFF2-40B4-BE49-F238E27FC236}">
                <a16:creationId xmlns:a16="http://schemas.microsoft.com/office/drawing/2014/main" id="{6C60EBB9-AB6B-BD39-77A1-722DEA96A2C2}"/>
              </a:ext>
            </a:extLst>
          </p:cNvPr>
          <p:cNvSpPr txBox="1"/>
          <p:nvPr/>
        </p:nvSpPr>
        <p:spPr>
          <a:xfrm>
            <a:off x="711200" y="6527800"/>
            <a:ext cx="8890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DIAGNOSTIC INTELLIGENCE LAB · AL DHAFRA HEALTH FORUM · EDUCATIONAL PROTOTYPE · NOT A MEDICAL DEVICE</a:t>
            </a:r>
          </a:p>
        </p:txBody>
      </p:sp>
      <p:sp>
        <p:nvSpPr>
          <p:cNvPr id="22" name="txt-146">
            <a:extLst>
              <a:ext uri="{FF2B5EF4-FFF2-40B4-BE49-F238E27FC236}">
                <a16:creationId xmlns:a16="http://schemas.microsoft.com/office/drawing/2014/main" id="{918B7098-6C0D-3DC8-A3F7-B726A1894B25}"/>
              </a:ext>
            </a:extLst>
          </p:cNvPr>
          <p:cNvSpPr txBox="1"/>
          <p:nvPr/>
        </p:nvSpPr>
        <p:spPr>
          <a:xfrm>
            <a:off x="10972800" y="6527800"/>
            <a:ext cx="5080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cs typeface="Segoe UI" panose="020B0502040204020203" pitchFamily="34" charset="0"/>
              </a:rPr>
              <a:t>06</a:t>
            </a:r>
          </a:p>
        </p:txBody>
      </p:sp>
    </p:spTree>
    <p:extLst>
      <p:ext uri="{BB962C8B-B14F-4D97-AF65-F5344CB8AC3E}">
        <p14:creationId xmlns:p14="http://schemas.microsoft.com/office/powerpoint/2010/main" val="402513510"/>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A2C"/>
        </a:solidFill>
        <a:effectLst/>
      </p:bgPr>
    </p:bg>
    <p:spTree>
      <p:nvGrpSpPr>
        <p:cNvPr id="1" name=""/>
        <p:cNvGrpSpPr/>
        <p:nvPr/>
      </p:nvGrpSpPr>
      <p:grpSpPr>
        <a:xfrm>
          <a:off x="0" y="0"/>
          <a:ext cx="0" cy="0"/>
          <a:chOff x="0" y="0"/>
          <a:chExt cx="0" cy="0"/>
        </a:xfrm>
      </p:grpSpPr>
      <p:sp>
        <p:nvSpPr>
          <p:cNvPr id="2" name="txt-147">
            <a:extLst>
              <a:ext uri="{FF2B5EF4-FFF2-40B4-BE49-F238E27FC236}">
                <a16:creationId xmlns:a16="http://schemas.microsoft.com/office/drawing/2014/main" id="{4A0056F9-3D89-5AF2-E614-C8EE37644E42}"/>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4A9A92"/>
                </a:solidFill>
                <a:latin typeface="Consolas" panose="020B0609020204030204" pitchFamily="49" charset="0"/>
                <a:cs typeface="Segoe UI" panose="020B0502040204020203" pitchFamily="34" charset="0"/>
              </a:rPr>
              <a:t>06 · QUALITY &amp; UNCERTAINTY — RELIABILITY UNDER PRESSURE</a:t>
            </a:r>
          </a:p>
        </p:txBody>
      </p:sp>
      <p:sp>
        <p:nvSpPr>
          <p:cNvPr id="3" name="txt-148">
            <a:extLst>
              <a:ext uri="{FF2B5EF4-FFF2-40B4-BE49-F238E27FC236}">
                <a16:creationId xmlns:a16="http://schemas.microsoft.com/office/drawing/2014/main" id="{819847C7-D627-F0D9-41FA-A0C0A8918057}"/>
              </a:ext>
            </a:extLst>
          </p:cNvPr>
          <p:cNvSpPr txBox="1"/>
          <p:nvPr/>
        </p:nvSpPr>
        <p:spPr>
          <a:xfrm>
            <a:off x="711200" y="685800"/>
            <a:ext cx="8890000" cy="1143000"/>
          </a:xfrm>
          <a:prstGeom prst="rect">
            <a:avLst/>
          </a:prstGeom>
          <a:noFill/>
        </p:spPr>
        <p:txBody>
          <a:bodyPr vert="horz" wrap="square" lIns="0" tIns="0" rIns="0" bIns="0" rtlCol="0" anchor="t">
            <a:noAutofit/>
          </a:bodyPr>
          <a:lstStyle/>
          <a:p>
            <a:pPr>
              <a:lnSpc>
                <a:spcPct val="95000"/>
              </a:lnSpc>
            </a:pPr>
            <a:r>
              <a:rPr lang="en-US" sz="2900">
                <a:solidFill>
                  <a:srgbClr val="F7F2E8"/>
                </a:solidFill>
                <a:latin typeface="Georgia" panose="02040502050405020303" pitchFamily="18" charset="0"/>
                <a:cs typeface="Segoe UI" panose="020B0502040204020203" pitchFamily="34" charset="0"/>
              </a:rPr>
              <a:t>Judge the evidence before the interpretation.</a:t>
            </a:r>
          </a:p>
        </p:txBody>
      </p:sp>
      <p:pic>
        <p:nvPicPr>
          <p:cNvPr id="5" name="pic-149" descr="Synthetic retinal image: original.">
            <a:extLst>
              <a:ext uri="{FF2B5EF4-FFF2-40B4-BE49-F238E27FC236}">
                <a16:creationId xmlns:a16="http://schemas.microsoft.com/office/drawing/2014/main" id="{31CC8FFF-70E9-95C5-70DB-018E53AE2B37}"/>
              </a:ext>
            </a:extLst>
          </p:cNvPr>
          <p:cNvPicPr>
            <a:picLocks/>
          </p:cNvPicPr>
          <p:nvPr/>
        </p:nvPicPr>
        <p:blipFill>
          <a:blip r:embed="rId3">
            <a:extLst>
              <a:ext uri="{28A0092B-C50C-407E-A947-70E740481C1C}">
                <a14:useLocalDpi xmlns:a14="http://schemas.microsoft.com/office/drawing/2010/main" val="0"/>
              </a:ext>
            </a:extLst>
          </a:blip>
          <a:srcRect l="2000" t="2000" r="2000" b="2000"/>
          <a:stretch>
            <a:fillRect/>
          </a:stretch>
        </p:blipFill>
        <p:spPr>
          <a:xfrm>
            <a:off x="711200" y="1422400"/>
            <a:ext cx="2717800" cy="2717800"/>
          </a:xfrm>
          <a:prstGeom prst="ellipse">
            <a:avLst/>
          </a:prstGeom>
        </p:spPr>
      </p:pic>
      <p:sp>
        <p:nvSpPr>
          <p:cNvPr id="6" name="txt-150">
            <a:extLst>
              <a:ext uri="{FF2B5EF4-FFF2-40B4-BE49-F238E27FC236}">
                <a16:creationId xmlns:a16="http://schemas.microsoft.com/office/drawing/2014/main" id="{8FC0D626-8452-9BFC-B863-07BA26B6CCB0}"/>
              </a:ext>
            </a:extLst>
          </p:cNvPr>
          <p:cNvSpPr txBox="1"/>
          <p:nvPr/>
        </p:nvSpPr>
        <p:spPr>
          <a:xfrm>
            <a:off x="711200" y="4216400"/>
            <a:ext cx="2717800" cy="203200"/>
          </a:xfrm>
          <a:prstGeom prst="rect">
            <a:avLst/>
          </a:prstGeom>
          <a:noFill/>
        </p:spPr>
        <p:txBody>
          <a:bodyPr vert="horz" wrap="square" lIns="0" tIns="0" rIns="0" bIns="0" rtlCol="0" anchor="t">
            <a:noAutofit/>
          </a:bodyPr>
          <a:lstStyle/>
          <a:p>
            <a:pPr algn="ctr"/>
            <a:r>
              <a:rPr lang="en-US" sz="1000">
                <a:solidFill>
                  <a:srgbClr val="8FD0C8"/>
                </a:solidFill>
                <a:latin typeface="Consolas" panose="020B0609020204030204" pitchFamily="49" charset="0"/>
                <a:cs typeface="Segoe UI" panose="020B0502040204020203" pitchFamily="34" charset="0"/>
              </a:rPr>
              <a:t>ORIGINAL</a:t>
            </a:r>
          </a:p>
        </p:txBody>
      </p:sp>
      <p:pic>
        <p:nvPicPr>
          <p:cNvPr id="8" name="pic-151" descr="Synthetic retinal image: blur σ = 7 px.">
            <a:extLst>
              <a:ext uri="{FF2B5EF4-FFF2-40B4-BE49-F238E27FC236}">
                <a16:creationId xmlns:a16="http://schemas.microsoft.com/office/drawing/2014/main" id="{2D3E64B6-8613-91AD-DD90-A2BE903D130D}"/>
              </a:ext>
            </a:extLst>
          </p:cNvPr>
          <p:cNvPicPr>
            <a:picLocks/>
          </p:cNvPicPr>
          <p:nvPr/>
        </p:nvPicPr>
        <p:blipFill>
          <a:blip r:embed="rId4">
            <a:extLst>
              <a:ext uri="{28A0092B-C50C-407E-A947-70E740481C1C}">
                <a14:useLocalDpi xmlns:a14="http://schemas.microsoft.com/office/drawing/2010/main" val="0"/>
              </a:ext>
            </a:extLst>
          </a:blip>
          <a:srcRect l="2000" t="2000" r="2000" b="2000"/>
          <a:stretch>
            <a:fillRect/>
          </a:stretch>
        </p:blipFill>
        <p:spPr>
          <a:xfrm>
            <a:off x="3657600" y="1422400"/>
            <a:ext cx="2717800" cy="2717800"/>
          </a:xfrm>
          <a:prstGeom prst="ellipse">
            <a:avLst/>
          </a:prstGeom>
        </p:spPr>
      </p:pic>
      <p:sp>
        <p:nvSpPr>
          <p:cNvPr id="9" name="txt-152">
            <a:extLst>
              <a:ext uri="{FF2B5EF4-FFF2-40B4-BE49-F238E27FC236}">
                <a16:creationId xmlns:a16="http://schemas.microsoft.com/office/drawing/2014/main" id="{9B45ADFC-3A0D-242A-34E7-B6D57BA45882}"/>
              </a:ext>
            </a:extLst>
          </p:cNvPr>
          <p:cNvSpPr txBox="1"/>
          <p:nvPr/>
        </p:nvSpPr>
        <p:spPr>
          <a:xfrm>
            <a:off x="3657600" y="4216400"/>
            <a:ext cx="2717800" cy="203200"/>
          </a:xfrm>
          <a:prstGeom prst="rect">
            <a:avLst/>
          </a:prstGeom>
          <a:noFill/>
        </p:spPr>
        <p:txBody>
          <a:bodyPr vert="horz" wrap="square" lIns="0" tIns="0" rIns="0" bIns="0" rtlCol="0" anchor="t">
            <a:noAutofit/>
          </a:bodyPr>
          <a:lstStyle/>
          <a:p>
            <a:pPr algn="ctr"/>
            <a:r>
              <a:rPr lang="en-US" sz="1000">
                <a:solidFill>
                  <a:srgbClr val="8FD0C8"/>
                </a:solidFill>
                <a:latin typeface="Consolas" panose="020B0609020204030204" pitchFamily="49" charset="0"/>
                <a:cs typeface="Segoe UI" panose="020B0502040204020203" pitchFamily="34" charset="0"/>
              </a:rPr>
              <a:t>BLUR </a:t>
            </a:r>
            <a:r>
              <a:rPr lang="el-GR" sz="1000">
                <a:solidFill>
                  <a:srgbClr val="8FD0C8"/>
                </a:solidFill>
                <a:latin typeface="Consolas" panose="020B0609020204030204" pitchFamily="49" charset="0"/>
                <a:cs typeface="Segoe UI" panose="020B0502040204020203" pitchFamily="34" charset="0"/>
              </a:rPr>
              <a:t>σ = 7 </a:t>
            </a:r>
            <a:r>
              <a:rPr lang="en-US" sz="1000">
                <a:solidFill>
                  <a:srgbClr val="8FD0C8"/>
                </a:solidFill>
                <a:latin typeface="Consolas" panose="020B0609020204030204" pitchFamily="49" charset="0"/>
                <a:cs typeface="Segoe UI" panose="020B0502040204020203" pitchFamily="34" charset="0"/>
              </a:rPr>
              <a:t>px</a:t>
            </a:r>
          </a:p>
        </p:txBody>
      </p:sp>
      <p:pic>
        <p:nvPicPr>
          <p:cNvPr id="11" name="pic-153" descr="Synthetic retinal image: washed-out preset.">
            <a:extLst>
              <a:ext uri="{FF2B5EF4-FFF2-40B4-BE49-F238E27FC236}">
                <a16:creationId xmlns:a16="http://schemas.microsoft.com/office/drawing/2014/main" id="{068E2D27-1CB5-11CD-5A5A-F177E0EE0C8B}"/>
              </a:ext>
            </a:extLst>
          </p:cNvPr>
          <p:cNvPicPr>
            <a:picLocks/>
          </p:cNvPicPr>
          <p:nvPr/>
        </p:nvPicPr>
        <p:blipFill>
          <a:blip r:embed="rId5">
            <a:extLst>
              <a:ext uri="{28A0092B-C50C-407E-A947-70E740481C1C}">
                <a14:useLocalDpi xmlns:a14="http://schemas.microsoft.com/office/drawing/2010/main" val="0"/>
              </a:ext>
            </a:extLst>
          </a:blip>
          <a:srcRect l="2000" t="2000" r="2000" b="2000"/>
          <a:stretch>
            <a:fillRect/>
          </a:stretch>
        </p:blipFill>
        <p:spPr>
          <a:xfrm>
            <a:off x="6604000" y="1422400"/>
            <a:ext cx="2717800" cy="2717800"/>
          </a:xfrm>
          <a:prstGeom prst="ellipse">
            <a:avLst/>
          </a:prstGeom>
        </p:spPr>
      </p:pic>
      <p:sp>
        <p:nvSpPr>
          <p:cNvPr id="12" name="txt-154">
            <a:extLst>
              <a:ext uri="{FF2B5EF4-FFF2-40B4-BE49-F238E27FC236}">
                <a16:creationId xmlns:a16="http://schemas.microsoft.com/office/drawing/2014/main" id="{07FA1D88-E78A-120C-F85A-9375962CEFBC}"/>
              </a:ext>
            </a:extLst>
          </p:cNvPr>
          <p:cNvSpPr txBox="1"/>
          <p:nvPr/>
        </p:nvSpPr>
        <p:spPr>
          <a:xfrm>
            <a:off x="6604000" y="4216400"/>
            <a:ext cx="2717800" cy="203200"/>
          </a:xfrm>
          <a:prstGeom prst="rect">
            <a:avLst/>
          </a:prstGeom>
          <a:noFill/>
        </p:spPr>
        <p:txBody>
          <a:bodyPr vert="horz" wrap="square" lIns="0" tIns="0" rIns="0" bIns="0" rtlCol="0" anchor="t">
            <a:noAutofit/>
          </a:bodyPr>
          <a:lstStyle/>
          <a:p>
            <a:pPr algn="ctr"/>
            <a:r>
              <a:rPr lang="en-US" sz="1000">
                <a:solidFill>
                  <a:srgbClr val="8FD0C8"/>
                </a:solidFill>
                <a:latin typeface="Consolas" panose="020B0609020204030204" pitchFamily="49" charset="0"/>
                <a:cs typeface="Segoe UI" panose="020B0502040204020203" pitchFamily="34" charset="0"/>
              </a:rPr>
              <a:t>WASHED-OUT PRESET</a:t>
            </a:r>
          </a:p>
        </p:txBody>
      </p:sp>
      <p:cxnSp>
        <p:nvCxnSpPr>
          <p:cNvPr id="13" name="rule-155">
            <a:extLst>
              <a:ext uri="{FF2B5EF4-FFF2-40B4-BE49-F238E27FC236}">
                <a16:creationId xmlns:a16="http://schemas.microsoft.com/office/drawing/2014/main" id="{D01515E9-6F27-C035-F226-DB63ECDD63E6}"/>
              </a:ext>
            </a:extLst>
          </p:cNvPr>
          <p:cNvCxnSpPr/>
          <p:nvPr/>
        </p:nvCxnSpPr>
        <p:spPr>
          <a:xfrm>
            <a:off x="711200" y="4597400"/>
            <a:ext cx="8763000" cy="0"/>
          </a:xfrm>
          <a:prstGeom prst="line">
            <a:avLst/>
          </a:prstGeom>
          <a:ln w="12700">
            <a:solidFill>
              <a:srgbClr val="234A73"/>
            </a:solidFill>
          </a:ln>
        </p:spPr>
        <p:style>
          <a:lnRef idx="2">
            <a:schemeClr val="accent1"/>
          </a:lnRef>
          <a:fillRef idx="0">
            <a:schemeClr val="accent1"/>
          </a:fillRef>
          <a:effectRef idx="1">
            <a:schemeClr val="accent1"/>
          </a:effectRef>
          <a:fontRef idx="minor">
            <a:schemeClr val="tx1"/>
          </a:fontRef>
        </p:style>
      </p:cxnSp>
      <p:sp>
        <p:nvSpPr>
          <p:cNvPr id="14" name="txt-156">
            <a:extLst>
              <a:ext uri="{FF2B5EF4-FFF2-40B4-BE49-F238E27FC236}">
                <a16:creationId xmlns:a16="http://schemas.microsoft.com/office/drawing/2014/main" id="{95820B52-00DA-B8E4-6EC3-99296627E78D}"/>
              </a:ext>
            </a:extLst>
          </p:cNvPr>
          <p:cNvSpPr txBox="1"/>
          <p:nvPr/>
        </p:nvSpPr>
        <p:spPr>
          <a:xfrm>
            <a:off x="711200" y="4660900"/>
            <a:ext cx="2159000" cy="228600"/>
          </a:xfrm>
          <a:prstGeom prst="rect">
            <a:avLst/>
          </a:prstGeom>
          <a:noFill/>
        </p:spPr>
        <p:txBody>
          <a:bodyPr vert="horz" wrap="square" lIns="0" tIns="0" rIns="0" bIns="0" rtlCol="0" anchor="t">
            <a:noAutofit/>
          </a:bodyPr>
          <a:lstStyle/>
          <a:p>
            <a:endParaRPr lang="en-US" sz="1000">
              <a:solidFill>
                <a:srgbClr val="9DB1C4"/>
              </a:solidFill>
              <a:latin typeface="Consolas" panose="020B0609020204030204" pitchFamily="49" charset="0"/>
              <a:cs typeface="Segoe UI" panose="020B0502040204020203" pitchFamily="34" charset="0"/>
            </a:endParaRPr>
          </a:p>
        </p:txBody>
      </p:sp>
      <p:sp>
        <p:nvSpPr>
          <p:cNvPr id="15" name="txt-157">
            <a:extLst>
              <a:ext uri="{FF2B5EF4-FFF2-40B4-BE49-F238E27FC236}">
                <a16:creationId xmlns:a16="http://schemas.microsoft.com/office/drawing/2014/main" id="{06E90539-ED0D-2FA3-06A2-DEE1A405825D}"/>
              </a:ext>
            </a:extLst>
          </p:cNvPr>
          <p:cNvSpPr txBox="1"/>
          <p:nvPr/>
        </p:nvSpPr>
        <p:spPr>
          <a:xfrm>
            <a:off x="2616200" y="4660900"/>
            <a:ext cx="2159000" cy="2286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ORIGINAL</a:t>
            </a:r>
          </a:p>
        </p:txBody>
      </p:sp>
      <p:sp>
        <p:nvSpPr>
          <p:cNvPr id="16" name="txt-158">
            <a:extLst>
              <a:ext uri="{FF2B5EF4-FFF2-40B4-BE49-F238E27FC236}">
                <a16:creationId xmlns:a16="http://schemas.microsoft.com/office/drawing/2014/main" id="{81ED4BD3-21A7-C8B5-9649-FCFFBABBEE42}"/>
              </a:ext>
            </a:extLst>
          </p:cNvPr>
          <p:cNvSpPr txBox="1"/>
          <p:nvPr/>
        </p:nvSpPr>
        <p:spPr>
          <a:xfrm>
            <a:off x="4902200" y="4660900"/>
            <a:ext cx="2159000" cy="2286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BLUR </a:t>
            </a:r>
            <a:r>
              <a:rPr lang="el-GR" sz="1000">
                <a:solidFill>
                  <a:srgbClr val="9DB1C4"/>
                </a:solidFill>
                <a:latin typeface="Consolas" panose="020B0609020204030204" pitchFamily="49" charset="0"/>
                <a:cs typeface="Segoe UI" panose="020B0502040204020203" pitchFamily="34" charset="0"/>
              </a:rPr>
              <a:t>σ 7</a:t>
            </a:r>
            <a:endParaRPr lang="en-US" sz="1000">
              <a:solidFill>
                <a:srgbClr val="9DB1C4"/>
              </a:solidFill>
              <a:latin typeface="Consolas" panose="020B0609020204030204" pitchFamily="49" charset="0"/>
              <a:cs typeface="Segoe UI" panose="020B0502040204020203" pitchFamily="34" charset="0"/>
            </a:endParaRPr>
          </a:p>
        </p:txBody>
      </p:sp>
      <p:sp>
        <p:nvSpPr>
          <p:cNvPr id="17" name="txt-159">
            <a:extLst>
              <a:ext uri="{FF2B5EF4-FFF2-40B4-BE49-F238E27FC236}">
                <a16:creationId xmlns:a16="http://schemas.microsoft.com/office/drawing/2014/main" id="{36BB4A48-5BCE-2673-9E62-B9ED3D3F2C39}"/>
              </a:ext>
            </a:extLst>
          </p:cNvPr>
          <p:cNvSpPr txBox="1"/>
          <p:nvPr/>
        </p:nvSpPr>
        <p:spPr>
          <a:xfrm>
            <a:off x="7188200" y="4660900"/>
            <a:ext cx="2159000" cy="2286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WASHED-OUT</a:t>
            </a:r>
          </a:p>
        </p:txBody>
      </p:sp>
      <p:cxnSp>
        <p:nvCxnSpPr>
          <p:cNvPr id="18" name="rule-160">
            <a:extLst>
              <a:ext uri="{FF2B5EF4-FFF2-40B4-BE49-F238E27FC236}">
                <a16:creationId xmlns:a16="http://schemas.microsoft.com/office/drawing/2014/main" id="{C4CF8875-E01C-A705-E17B-A458B9688540}"/>
              </a:ext>
            </a:extLst>
          </p:cNvPr>
          <p:cNvCxnSpPr/>
          <p:nvPr/>
        </p:nvCxnSpPr>
        <p:spPr>
          <a:xfrm>
            <a:off x="711200" y="4914900"/>
            <a:ext cx="8763000" cy="0"/>
          </a:xfrm>
          <a:prstGeom prst="line">
            <a:avLst/>
          </a:prstGeom>
          <a:ln w="6350">
            <a:solidFill>
              <a:srgbClr val="234A73"/>
            </a:solidFill>
          </a:ln>
        </p:spPr>
        <p:style>
          <a:lnRef idx="2">
            <a:schemeClr val="accent1"/>
          </a:lnRef>
          <a:fillRef idx="0">
            <a:schemeClr val="accent1"/>
          </a:fillRef>
          <a:effectRef idx="1">
            <a:schemeClr val="accent1"/>
          </a:effectRef>
          <a:fontRef idx="minor">
            <a:schemeClr val="tx1"/>
          </a:fontRef>
        </p:style>
      </p:cxnSp>
      <p:sp>
        <p:nvSpPr>
          <p:cNvPr id="19" name="txt-161">
            <a:extLst>
              <a:ext uri="{FF2B5EF4-FFF2-40B4-BE49-F238E27FC236}">
                <a16:creationId xmlns:a16="http://schemas.microsoft.com/office/drawing/2014/main" id="{13C1693B-427F-7058-A78D-FA2CD8F963DA}"/>
              </a:ext>
            </a:extLst>
          </p:cNvPr>
          <p:cNvSpPr txBox="1"/>
          <p:nvPr/>
        </p:nvSpPr>
        <p:spPr>
          <a:xfrm>
            <a:off x="711200" y="4978400"/>
            <a:ext cx="2159000" cy="2286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Sharpness</a:t>
            </a:r>
          </a:p>
        </p:txBody>
      </p:sp>
      <p:sp>
        <p:nvSpPr>
          <p:cNvPr id="20" name="txt-162">
            <a:extLst>
              <a:ext uri="{FF2B5EF4-FFF2-40B4-BE49-F238E27FC236}">
                <a16:creationId xmlns:a16="http://schemas.microsoft.com/office/drawing/2014/main" id="{409167C8-AB52-8A55-190A-780D30AB26B7}"/>
              </a:ext>
            </a:extLst>
          </p:cNvPr>
          <p:cNvSpPr txBox="1"/>
          <p:nvPr/>
        </p:nvSpPr>
        <p:spPr>
          <a:xfrm>
            <a:off x="2616200" y="4978400"/>
            <a:ext cx="2159000" cy="228600"/>
          </a:xfrm>
          <a:prstGeom prst="rect">
            <a:avLst/>
          </a:prstGeom>
          <a:noFill/>
        </p:spPr>
        <p:txBody>
          <a:bodyPr vert="horz" wrap="square" lIns="0" tIns="0" rIns="0" bIns="0" rtlCol="0" anchor="t">
            <a:noAutofit/>
          </a:bodyPr>
          <a:lstStyle/>
          <a:p>
            <a:r>
              <a:rPr lang="en-US" sz="1000">
                <a:solidFill>
                  <a:srgbClr val="F7F2E8"/>
                </a:solidFill>
                <a:latin typeface="Consolas" panose="020B0609020204030204" pitchFamily="49" charset="0"/>
                <a:cs typeface="Segoe UI" panose="020B0502040204020203" pitchFamily="34" charset="0"/>
              </a:rPr>
              <a:t>3.48</a:t>
            </a:r>
          </a:p>
        </p:txBody>
      </p:sp>
      <p:sp>
        <p:nvSpPr>
          <p:cNvPr id="21" name="txt-163">
            <a:extLst>
              <a:ext uri="{FF2B5EF4-FFF2-40B4-BE49-F238E27FC236}">
                <a16:creationId xmlns:a16="http://schemas.microsoft.com/office/drawing/2014/main" id="{017CA01F-4083-42E8-2960-468909DE0C83}"/>
              </a:ext>
            </a:extLst>
          </p:cNvPr>
          <p:cNvSpPr txBox="1"/>
          <p:nvPr/>
        </p:nvSpPr>
        <p:spPr>
          <a:xfrm>
            <a:off x="4902200" y="4978400"/>
            <a:ext cx="2159000" cy="228600"/>
          </a:xfrm>
          <a:prstGeom prst="rect">
            <a:avLst/>
          </a:prstGeom>
          <a:noFill/>
        </p:spPr>
        <p:txBody>
          <a:bodyPr vert="horz" wrap="square" lIns="0" tIns="0" rIns="0" bIns="0" rtlCol="0" anchor="t">
            <a:noAutofit/>
          </a:bodyPr>
          <a:lstStyle/>
          <a:p>
            <a:r>
              <a:rPr lang="en-US" sz="1000">
                <a:solidFill>
                  <a:srgbClr val="F7F2E8"/>
                </a:solidFill>
                <a:latin typeface="Consolas" panose="020B0609020204030204" pitchFamily="49" charset="0"/>
                <a:cs typeface="Segoe UI" panose="020B0502040204020203" pitchFamily="34" charset="0"/>
              </a:rPr>
              <a:t>0.98</a:t>
            </a:r>
          </a:p>
        </p:txBody>
      </p:sp>
      <p:sp>
        <p:nvSpPr>
          <p:cNvPr id="22" name="txt-164">
            <a:extLst>
              <a:ext uri="{FF2B5EF4-FFF2-40B4-BE49-F238E27FC236}">
                <a16:creationId xmlns:a16="http://schemas.microsoft.com/office/drawing/2014/main" id="{013A0A20-B43E-7306-7DF4-7D4D9D4136F5}"/>
              </a:ext>
            </a:extLst>
          </p:cNvPr>
          <p:cNvSpPr txBox="1"/>
          <p:nvPr/>
        </p:nvSpPr>
        <p:spPr>
          <a:xfrm>
            <a:off x="7188200" y="4978400"/>
            <a:ext cx="2159000" cy="228600"/>
          </a:xfrm>
          <a:prstGeom prst="rect">
            <a:avLst/>
          </a:prstGeom>
          <a:noFill/>
        </p:spPr>
        <p:txBody>
          <a:bodyPr vert="horz" wrap="square" lIns="0" tIns="0" rIns="0" bIns="0" rtlCol="0" anchor="t">
            <a:noAutofit/>
          </a:bodyPr>
          <a:lstStyle/>
          <a:p>
            <a:r>
              <a:rPr lang="en-US" sz="1000">
                <a:solidFill>
                  <a:srgbClr val="F7F2E8"/>
                </a:solidFill>
                <a:latin typeface="Consolas" panose="020B0609020204030204" pitchFamily="49" charset="0"/>
                <a:cs typeface="Segoe UI" panose="020B0502040204020203" pitchFamily="34" charset="0"/>
              </a:rPr>
              <a:t>1.91</a:t>
            </a:r>
          </a:p>
        </p:txBody>
      </p:sp>
      <p:cxnSp>
        <p:nvCxnSpPr>
          <p:cNvPr id="23" name="rule-165">
            <a:extLst>
              <a:ext uri="{FF2B5EF4-FFF2-40B4-BE49-F238E27FC236}">
                <a16:creationId xmlns:a16="http://schemas.microsoft.com/office/drawing/2014/main" id="{C3246E24-6AA3-5F23-A7D0-AC99D1CA4A93}"/>
              </a:ext>
            </a:extLst>
          </p:cNvPr>
          <p:cNvCxnSpPr/>
          <p:nvPr/>
        </p:nvCxnSpPr>
        <p:spPr>
          <a:xfrm>
            <a:off x="711200" y="5232400"/>
            <a:ext cx="8763000" cy="0"/>
          </a:xfrm>
          <a:prstGeom prst="line">
            <a:avLst/>
          </a:prstGeom>
          <a:ln w="6350">
            <a:solidFill>
              <a:srgbClr val="234A73"/>
            </a:solidFill>
          </a:ln>
        </p:spPr>
        <p:style>
          <a:lnRef idx="2">
            <a:schemeClr val="accent1"/>
          </a:lnRef>
          <a:fillRef idx="0">
            <a:schemeClr val="accent1"/>
          </a:fillRef>
          <a:effectRef idx="1">
            <a:schemeClr val="accent1"/>
          </a:effectRef>
          <a:fontRef idx="minor">
            <a:schemeClr val="tx1"/>
          </a:fontRef>
        </p:style>
      </p:cxnSp>
      <p:sp>
        <p:nvSpPr>
          <p:cNvPr id="24" name="txt-166">
            <a:extLst>
              <a:ext uri="{FF2B5EF4-FFF2-40B4-BE49-F238E27FC236}">
                <a16:creationId xmlns:a16="http://schemas.microsoft.com/office/drawing/2014/main" id="{1AEEF69F-CD9A-A97D-0888-F628BA0BFDC0}"/>
              </a:ext>
            </a:extLst>
          </p:cNvPr>
          <p:cNvSpPr txBox="1"/>
          <p:nvPr/>
        </p:nvSpPr>
        <p:spPr>
          <a:xfrm>
            <a:off x="711200" y="5295900"/>
            <a:ext cx="2159000" cy="2286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Brightness</a:t>
            </a:r>
          </a:p>
        </p:txBody>
      </p:sp>
      <p:sp>
        <p:nvSpPr>
          <p:cNvPr id="25" name="txt-167">
            <a:extLst>
              <a:ext uri="{FF2B5EF4-FFF2-40B4-BE49-F238E27FC236}">
                <a16:creationId xmlns:a16="http://schemas.microsoft.com/office/drawing/2014/main" id="{13676CE2-E4CC-2EA4-C70E-0FEB1DF17EE2}"/>
              </a:ext>
            </a:extLst>
          </p:cNvPr>
          <p:cNvSpPr txBox="1"/>
          <p:nvPr/>
        </p:nvSpPr>
        <p:spPr>
          <a:xfrm>
            <a:off x="2616200" y="5295900"/>
            <a:ext cx="2159000" cy="228600"/>
          </a:xfrm>
          <a:prstGeom prst="rect">
            <a:avLst/>
          </a:prstGeom>
          <a:noFill/>
        </p:spPr>
        <p:txBody>
          <a:bodyPr vert="horz" wrap="square" lIns="0" tIns="0" rIns="0" bIns="0" rtlCol="0" anchor="t">
            <a:noAutofit/>
          </a:bodyPr>
          <a:lstStyle/>
          <a:p>
            <a:r>
              <a:rPr lang="en-US" sz="1000">
                <a:solidFill>
                  <a:srgbClr val="F7F2E8"/>
                </a:solidFill>
                <a:latin typeface="Consolas" panose="020B0609020204030204" pitchFamily="49" charset="0"/>
                <a:cs typeface="Segoe UI" panose="020B0502040204020203" pitchFamily="34" charset="0"/>
              </a:rPr>
              <a:t>76.58</a:t>
            </a:r>
          </a:p>
        </p:txBody>
      </p:sp>
      <p:sp>
        <p:nvSpPr>
          <p:cNvPr id="26" name="txt-168">
            <a:extLst>
              <a:ext uri="{FF2B5EF4-FFF2-40B4-BE49-F238E27FC236}">
                <a16:creationId xmlns:a16="http://schemas.microsoft.com/office/drawing/2014/main" id="{1DCE10AE-3393-B515-60AD-27AE6F3EA051}"/>
              </a:ext>
            </a:extLst>
          </p:cNvPr>
          <p:cNvSpPr txBox="1"/>
          <p:nvPr/>
        </p:nvSpPr>
        <p:spPr>
          <a:xfrm>
            <a:off x="4902200" y="5295900"/>
            <a:ext cx="2159000" cy="228600"/>
          </a:xfrm>
          <a:prstGeom prst="rect">
            <a:avLst/>
          </a:prstGeom>
          <a:noFill/>
        </p:spPr>
        <p:txBody>
          <a:bodyPr vert="horz" wrap="square" lIns="0" tIns="0" rIns="0" bIns="0" rtlCol="0" anchor="t">
            <a:noAutofit/>
          </a:bodyPr>
          <a:lstStyle/>
          <a:p>
            <a:r>
              <a:rPr lang="en-US" sz="1000">
                <a:solidFill>
                  <a:srgbClr val="F7F2E8"/>
                </a:solidFill>
                <a:latin typeface="Consolas" panose="020B0609020204030204" pitchFamily="49" charset="0"/>
                <a:cs typeface="Segoe UI" panose="020B0502040204020203" pitchFamily="34" charset="0"/>
              </a:rPr>
              <a:t>76.54</a:t>
            </a:r>
          </a:p>
        </p:txBody>
      </p:sp>
      <p:sp>
        <p:nvSpPr>
          <p:cNvPr id="27" name="txt-169">
            <a:extLst>
              <a:ext uri="{FF2B5EF4-FFF2-40B4-BE49-F238E27FC236}">
                <a16:creationId xmlns:a16="http://schemas.microsoft.com/office/drawing/2014/main" id="{EB4C8B4F-8F7B-85D3-8211-AD73698A16EA}"/>
              </a:ext>
            </a:extLst>
          </p:cNvPr>
          <p:cNvSpPr txBox="1"/>
          <p:nvPr/>
        </p:nvSpPr>
        <p:spPr>
          <a:xfrm>
            <a:off x="7188200" y="5295900"/>
            <a:ext cx="2159000" cy="228600"/>
          </a:xfrm>
          <a:prstGeom prst="rect">
            <a:avLst/>
          </a:prstGeom>
          <a:noFill/>
        </p:spPr>
        <p:txBody>
          <a:bodyPr vert="horz" wrap="square" lIns="0" tIns="0" rIns="0" bIns="0" rtlCol="0" anchor="t">
            <a:noAutofit/>
          </a:bodyPr>
          <a:lstStyle/>
          <a:p>
            <a:r>
              <a:rPr lang="en-US" sz="1000">
                <a:solidFill>
                  <a:srgbClr val="F7F2E8"/>
                </a:solidFill>
                <a:latin typeface="Consolas" panose="020B0609020204030204" pitchFamily="49" charset="0"/>
                <a:cs typeface="Segoe UI" panose="020B0502040204020203" pitchFamily="34" charset="0"/>
              </a:rPr>
              <a:t>171.12</a:t>
            </a:r>
          </a:p>
        </p:txBody>
      </p:sp>
      <p:cxnSp>
        <p:nvCxnSpPr>
          <p:cNvPr id="28" name="rule-170">
            <a:extLst>
              <a:ext uri="{FF2B5EF4-FFF2-40B4-BE49-F238E27FC236}">
                <a16:creationId xmlns:a16="http://schemas.microsoft.com/office/drawing/2014/main" id="{7474AC48-7EB4-09CD-F033-A0FFBC10873D}"/>
              </a:ext>
            </a:extLst>
          </p:cNvPr>
          <p:cNvCxnSpPr/>
          <p:nvPr/>
        </p:nvCxnSpPr>
        <p:spPr>
          <a:xfrm>
            <a:off x="711200" y="5549900"/>
            <a:ext cx="8763000" cy="0"/>
          </a:xfrm>
          <a:prstGeom prst="line">
            <a:avLst/>
          </a:prstGeom>
          <a:ln w="6350">
            <a:solidFill>
              <a:srgbClr val="234A73"/>
            </a:solidFill>
          </a:ln>
        </p:spPr>
        <p:style>
          <a:lnRef idx="2">
            <a:schemeClr val="accent1"/>
          </a:lnRef>
          <a:fillRef idx="0">
            <a:schemeClr val="accent1"/>
          </a:fillRef>
          <a:effectRef idx="1">
            <a:schemeClr val="accent1"/>
          </a:effectRef>
          <a:fontRef idx="minor">
            <a:schemeClr val="tx1"/>
          </a:fontRef>
        </p:style>
      </p:cxnSp>
      <p:sp>
        <p:nvSpPr>
          <p:cNvPr id="29" name="txt-171">
            <a:extLst>
              <a:ext uri="{FF2B5EF4-FFF2-40B4-BE49-F238E27FC236}">
                <a16:creationId xmlns:a16="http://schemas.microsoft.com/office/drawing/2014/main" id="{335CB9BC-1ECC-BBCA-52E6-DB3510408520}"/>
              </a:ext>
            </a:extLst>
          </p:cNvPr>
          <p:cNvSpPr txBox="1"/>
          <p:nvPr/>
        </p:nvSpPr>
        <p:spPr>
          <a:xfrm>
            <a:off x="711200" y="5613400"/>
            <a:ext cx="2159000" cy="2286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Contrast</a:t>
            </a:r>
          </a:p>
        </p:txBody>
      </p:sp>
      <p:sp>
        <p:nvSpPr>
          <p:cNvPr id="30" name="txt-172">
            <a:extLst>
              <a:ext uri="{FF2B5EF4-FFF2-40B4-BE49-F238E27FC236}">
                <a16:creationId xmlns:a16="http://schemas.microsoft.com/office/drawing/2014/main" id="{8D6B2108-D941-6835-456C-D6EF343905BD}"/>
              </a:ext>
            </a:extLst>
          </p:cNvPr>
          <p:cNvSpPr txBox="1"/>
          <p:nvPr/>
        </p:nvSpPr>
        <p:spPr>
          <a:xfrm>
            <a:off x="2616200" y="5613400"/>
            <a:ext cx="2159000" cy="228600"/>
          </a:xfrm>
          <a:prstGeom prst="rect">
            <a:avLst/>
          </a:prstGeom>
          <a:noFill/>
        </p:spPr>
        <p:txBody>
          <a:bodyPr vert="horz" wrap="square" lIns="0" tIns="0" rIns="0" bIns="0" rtlCol="0" anchor="t">
            <a:noAutofit/>
          </a:bodyPr>
          <a:lstStyle/>
          <a:p>
            <a:r>
              <a:rPr lang="en-US" sz="1000">
                <a:solidFill>
                  <a:srgbClr val="F7F2E8"/>
                </a:solidFill>
                <a:latin typeface="Consolas" panose="020B0609020204030204" pitchFamily="49" charset="0"/>
                <a:cs typeface="Segoe UI" panose="020B0502040204020203" pitchFamily="34" charset="0"/>
              </a:rPr>
              <a:t>32.58</a:t>
            </a:r>
          </a:p>
        </p:txBody>
      </p:sp>
      <p:sp>
        <p:nvSpPr>
          <p:cNvPr id="31" name="txt-173">
            <a:extLst>
              <a:ext uri="{FF2B5EF4-FFF2-40B4-BE49-F238E27FC236}">
                <a16:creationId xmlns:a16="http://schemas.microsoft.com/office/drawing/2014/main" id="{B6AEDE8F-E085-A3C7-81C4-BECE91ECEE6B}"/>
              </a:ext>
            </a:extLst>
          </p:cNvPr>
          <p:cNvSpPr txBox="1"/>
          <p:nvPr/>
        </p:nvSpPr>
        <p:spPr>
          <a:xfrm>
            <a:off x="4902200" y="5613400"/>
            <a:ext cx="2159000" cy="228600"/>
          </a:xfrm>
          <a:prstGeom prst="rect">
            <a:avLst/>
          </a:prstGeom>
          <a:noFill/>
        </p:spPr>
        <p:txBody>
          <a:bodyPr vert="horz" wrap="square" lIns="0" tIns="0" rIns="0" bIns="0" rtlCol="0" anchor="t">
            <a:noAutofit/>
          </a:bodyPr>
          <a:lstStyle/>
          <a:p>
            <a:r>
              <a:rPr lang="en-US" sz="1000">
                <a:solidFill>
                  <a:srgbClr val="F7F2E8"/>
                </a:solidFill>
                <a:latin typeface="Consolas" panose="020B0609020204030204" pitchFamily="49" charset="0"/>
                <a:cs typeface="Segoe UI" panose="020B0502040204020203" pitchFamily="34" charset="0"/>
              </a:rPr>
              <a:t>31.83</a:t>
            </a:r>
          </a:p>
        </p:txBody>
      </p:sp>
      <p:sp>
        <p:nvSpPr>
          <p:cNvPr id="32" name="txt-174">
            <a:extLst>
              <a:ext uri="{FF2B5EF4-FFF2-40B4-BE49-F238E27FC236}">
                <a16:creationId xmlns:a16="http://schemas.microsoft.com/office/drawing/2014/main" id="{6037CBE7-C3D6-E3D2-617B-FE963635E314}"/>
              </a:ext>
            </a:extLst>
          </p:cNvPr>
          <p:cNvSpPr txBox="1"/>
          <p:nvPr/>
        </p:nvSpPr>
        <p:spPr>
          <a:xfrm>
            <a:off x="7188200" y="5613400"/>
            <a:ext cx="2159000" cy="228600"/>
          </a:xfrm>
          <a:prstGeom prst="rect">
            <a:avLst/>
          </a:prstGeom>
          <a:noFill/>
        </p:spPr>
        <p:txBody>
          <a:bodyPr vert="horz" wrap="square" lIns="0" tIns="0" rIns="0" bIns="0" rtlCol="0" anchor="t">
            <a:noAutofit/>
          </a:bodyPr>
          <a:lstStyle/>
          <a:p>
            <a:r>
              <a:rPr lang="en-US" sz="1000">
                <a:solidFill>
                  <a:srgbClr val="F7F2E8"/>
                </a:solidFill>
                <a:latin typeface="Consolas" panose="020B0609020204030204" pitchFamily="49" charset="0"/>
                <a:cs typeface="Segoe UI" panose="020B0502040204020203" pitchFamily="34" charset="0"/>
              </a:rPr>
              <a:t>17.87</a:t>
            </a:r>
          </a:p>
        </p:txBody>
      </p:sp>
      <p:cxnSp>
        <p:nvCxnSpPr>
          <p:cNvPr id="33" name="rule-175">
            <a:extLst>
              <a:ext uri="{FF2B5EF4-FFF2-40B4-BE49-F238E27FC236}">
                <a16:creationId xmlns:a16="http://schemas.microsoft.com/office/drawing/2014/main" id="{FA3E4EE6-5788-369D-698B-2F1BA0AEF127}"/>
              </a:ext>
            </a:extLst>
          </p:cNvPr>
          <p:cNvCxnSpPr/>
          <p:nvPr/>
        </p:nvCxnSpPr>
        <p:spPr>
          <a:xfrm>
            <a:off x="711200" y="5867400"/>
            <a:ext cx="8763000" cy="0"/>
          </a:xfrm>
          <a:prstGeom prst="line">
            <a:avLst/>
          </a:prstGeom>
          <a:ln w="6350">
            <a:solidFill>
              <a:srgbClr val="234A73"/>
            </a:solidFill>
          </a:ln>
        </p:spPr>
        <p:style>
          <a:lnRef idx="2">
            <a:schemeClr val="accent1"/>
          </a:lnRef>
          <a:fillRef idx="0">
            <a:schemeClr val="accent1"/>
          </a:fillRef>
          <a:effectRef idx="1">
            <a:schemeClr val="accent1"/>
          </a:effectRef>
          <a:fontRef idx="minor">
            <a:schemeClr val="tx1"/>
          </a:fontRef>
        </p:style>
      </p:cxnSp>
      <p:sp>
        <p:nvSpPr>
          <p:cNvPr id="34" name="txt-176">
            <a:extLst>
              <a:ext uri="{FF2B5EF4-FFF2-40B4-BE49-F238E27FC236}">
                <a16:creationId xmlns:a16="http://schemas.microsoft.com/office/drawing/2014/main" id="{AF105BD6-EF16-2C1A-67D3-F4572ED560A0}"/>
              </a:ext>
            </a:extLst>
          </p:cNvPr>
          <p:cNvSpPr txBox="1"/>
          <p:nvPr/>
        </p:nvSpPr>
        <p:spPr>
          <a:xfrm>
            <a:off x="711200" y="5930900"/>
            <a:ext cx="2159000" cy="2286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Verdict</a:t>
            </a:r>
          </a:p>
        </p:txBody>
      </p:sp>
      <p:sp>
        <p:nvSpPr>
          <p:cNvPr id="35" name="txt-177">
            <a:extLst>
              <a:ext uri="{FF2B5EF4-FFF2-40B4-BE49-F238E27FC236}">
                <a16:creationId xmlns:a16="http://schemas.microsoft.com/office/drawing/2014/main" id="{DC05E97E-32F9-B994-214D-E01A877137CF}"/>
              </a:ext>
            </a:extLst>
          </p:cNvPr>
          <p:cNvSpPr txBox="1"/>
          <p:nvPr/>
        </p:nvSpPr>
        <p:spPr>
          <a:xfrm>
            <a:off x="2616200" y="5930900"/>
            <a:ext cx="2159000" cy="228600"/>
          </a:xfrm>
          <a:prstGeom prst="rect">
            <a:avLst/>
          </a:prstGeom>
          <a:noFill/>
        </p:spPr>
        <p:txBody>
          <a:bodyPr vert="horz" wrap="square" lIns="0" tIns="0" rIns="0" bIns="0" rtlCol="0" anchor="t">
            <a:noAutofit/>
          </a:bodyPr>
          <a:lstStyle/>
          <a:p>
            <a:r>
              <a:rPr lang="en-US" sz="1000">
                <a:solidFill>
                  <a:srgbClr val="8FD0C8"/>
                </a:solidFill>
                <a:latin typeface="Consolas" panose="020B0609020204030204" pitchFamily="49" charset="0"/>
                <a:cs typeface="Segoe UI" panose="020B0502040204020203" pitchFamily="34" charset="0"/>
              </a:rPr>
              <a:t>ADEQUATE</a:t>
            </a:r>
          </a:p>
        </p:txBody>
      </p:sp>
      <p:sp>
        <p:nvSpPr>
          <p:cNvPr id="36" name="txt-178">
            <a:extLst>
              <a:ext uri="{FF2B5EF4-FFF2-40B4-BE49-F238E27FC236}">
                <a16:creationId xmlns:a16="http://schemas.microsoft.com/office/drawing/2014/main" id="{57223E47-A36A-218C-B19F-F21A7FC75D3C}"/>
              </a:ext>
            </a:extLst>
          </p:cNvPr>
          <p:cNvSpPr txBox="1"/>
          <p:nvPr/>
        </p:nvSpPr>
        <p:spPr>
          <a:xfrm>
            <a:off x="4902200" y="5930900"/>
            <a:ext cx="2159000" cy="228600"/>
          </a:xfrm>
          <a:prstGeom prst="rect">
            <a:avLst/>
          </a:prstGeom>
          <a:noFill/>
        </p:spPr>
        <p:txBody>
          <a:bodyPr vert="horz" wrap="square" lIns="0" tIns="0" rIns="0" bIns="0" rtlCol="0" anchor="t">
            <a:noAutofit/>
          </a:bodyPr>
          <a:lstStyle/>
          <a:p>
            <a:r>
              <a:rPr lang="en-US" sz="1000">
                <a:solidFill>
                  <a:srgbClr val="E8A090"/>
                </a:solidFill>
                <a:latin typeface="Consolas" panose="020B0609020204030204" pitchFamily="49" charset="0"/>
                <a:cs typeface="Segoe UI" panose="020B0502040204020203" pitchFamily="34" charset="0"/>
              </a:rPr>
              <a:t>INSUFFICIENT</a:t>
            </a:r>
          </a:p>
        </p:txBody>
      </p:sp>
      <p:sp>
        <p:nvSpPr>
          <p:cNvPr id="37" name="txt-179">
            <a:extLst>
              <a:ext uri="{FF2B5EF4-FFF2-40B4-BE49-F238E27FC236}">
                <a16:creationId xmlns:a16="http://schemas.microsoft.com/office/drawing/2014/main" id="{84D7A55F-13A2-189C-9E60-06260E6BF21C}"/>
              </a:ext>
            </a:extLst>
          </p:cNvPr>
          <p:cNvSpPr txBox="1"/>
          <p:nvPr/>
        </p:nvSpPr>
        <p:spPr>
          <a:xfrm>
            <a:off x="7188200" y="5930900"/>
            <a:ext cx="2159000" cy="228600"/>
          </a:xfrm>
          <a:prstGeom prst="rect">
            <a:avLst/>
          </a:prstGeom>
          <a:noFill/>
        </p:spPr>
        <p:txBody>
          <a:bodyPr vert="horz" wrap="square" lIns="0" tIns="0" rIns="0" bIns="0" rtlCol="0" anchor="t">
            <a:noAutofit/>
          </a:bodyPr>
          <a:lstStyle/>
          <a:p>
            <a:r>
              <a:rPr lang="en-US" sz="1000">
                <a:solidFill>
                  <a:srgbClr val="E8C070"/>
                </a:solidFill>
                <a:latin typeface="Consolas" panose="020B0609020204030204" pitchFamily="49" charset="0"/>
                <a:cs typeface="Segoe UI" panose="020B0502040204020203" pitchFamily="34" charset="0"/>
              </a:rPr>
              <a:t>BORDERLINE</a:t>
            </a:r>
          </a:p>
        </p:txBody>
      </p:sp>
      <p:sp>
        <p:nvSpPr>
          <p:cNvPr id="38" name="txt-180">
            <a:extLst>
              <a:ext uri="{FF2B5EF4-FFF2-40B4-BE49-F238E27FC236}">
                <a16:creationId xmlns:a16="http://schemas.microsoft.com/office/drawing/2014/main" id="{209A0F41-FE46-9C4B-ADA2-D5673B821A6D}"/>
              </a:ext>
            </a:extLst>
          </p:cNvPr>
          <p:cNvSpPr txBox="1"/>
          <p:nvPr/>
        </p:nvSpPr>
        <p:spPr>
          <a:xfrm>
            <a:off x="9779000" y="1422400"/>
            <a:ext cx="1701800" cy="4318000"/>
          </a:xfrm>
          <a:prstGeom prst="rect">
            <a:avLst/>
          </a:prstGeom>
          <a:noFill/>
        </p:spPr>
        <p:txBody>
          <a:bodyPr vert="horz" wrap="square" lIns="0" tIns="0" rIns="0" bIns="0" rtlCol="0" anchor="t">
            <a:noAutofit/>
          </a:bodyPr>
          <a:lstStyle/>
          <a:p>
            <a:pPr>
              <a:spcAft>
                <a:spcPts val="500"/>
              </a:spcAft>
            </a:pPr>
            <a:r>
              <a:rPr lang="en-US" sz="1000">
                <a:solidFill>
                  <a:srgbClr val="8FD0C8"/>
                </a:solidFill>
                <a:latin typeface="Consolas" panose="020B0609020204030204" pitchFamily="49" charset="0"/>
                <a:cs typeface="Segoe UI" panose="020B0502040204020203" pitchFamily="34" charset="0"/>
              </a:rPr>
              <a:t>MEASURED FROM PIXELS</a:t>
            </a:r>
          </a:p>
          <a:p>
            <a:pPr>
              <a:spcAft>
                <a:spcPts val="500"/>
              </a:spcAft>
            </a:pPr>
            <a:r>
              <a:rPr lang="en-US" sz="1300">
                <a:solidFill>
                  <a:srgbClr val="C9CFD6"/>
                </a:solidFill>
                <a:latin typeface="Calibri" panose="020F0502020204030204" pitchFamily="34" charset="0"/>
                <a:cs typeface="Segoe UI" panose="020B0502040204020203" pitchFamily="34" charset="0"/>
              </a:rPr>
              <a:t>Sharpness · brightness · contrast · evenness · field coverage</a:t>
            </a:r>
          </a:p>
          <a:p>
            <a:pPr>
              <a:spcAft>
                <a:spcPts val="500"/>
              </a:spcAft>
            </a:pPr>
            <a:r>
              <a:rPr lang="en-US" sz="1000">
                <a:solidFill>
                  <a:srgbClr val="E8A090"/>
                </a:solidFill>
                <a:latin typeface="Consolas" panose="020B0609020204030204" pitchFamily="49" charset="0"/>
                <a:cs typeface="Segoe UI" panose="020B0502040204020203" pitchFamily="34" charset="0"/>
              </a:rPr>
              <a:t>NO INVENTED CONFIDENCE</a:t>
            </a:r>
          </a:p>
          <a:p>
            <a:pPr>
              <a:spcAft>
                <a:spcPts val="500"/>
              </a:spcAft>
            </a:pPr>
            <a:r>
              <a:rPr lang="en-US" sz="1300">
                <a:solidFill>
                  <a:srgbClr val="C9CFD6"/>
                </a:solidFill>
                <a:latin typeface="Calibri" panose="020F0502020204030204" pitchFamily="34" charset="0"/>
                <a:cs typeface="Segoe UI" panose="020B0502040204020203" pitchFamily="34" charset="0"/>
              </a:rPr>
              <a:t>No model, so no model response to degradation is shown.</a:t>
            </a:r>
          </a:p>
          <a:p>
            <a:pPr>
              <a:spcAft>
                <a:spcPts val="500"/>
              </a:spcAft>
            </a:pPr>
            <a:r>
              <a:rPr lang="en-US" sz="1000">
                <a:solidFill>
                  <a:srgbClr val="8FD0C8"/>
                </a:solidFill>
                <a:latin typeface="Consolas" panose="020B0609020204030204" pitchFamily="49" charset="0"/>
                <a:cs typeface="Segoe UI" panose="020B0502040204020203" pitchFamily="34" charset="0"/>
              </a:rPr>
              <a:t>NO-RESULT PATHWAY</a:t>
            </a:r>
          </a:p>
          <a:p>
            <a:pPr>
              <a:spcAft>
                <a:spcPts val="500"/>
              </a:spcAft>
            </a:pPr>
            <a:r>
              <a:rPr lang="en-US" sz="1300">
                <a:solidFill>
                  <a:srgbClr val="C9CFD6"/>
                </a:solidFill>
                <a:latin typeface="Calibri" panose="020F0502020204030204" pitchFamily="34" charset="0"/>
                <a:cs typeface="Segoe UI" panose="020B0502040204020203" pitchFamily="34" charset="0"/>
              </a:rPr>
              <a:t>Insufficient quality → no grade → recapture.</a:t>
            </a:r>
          </a:p>
          <a:p>
            <a:pPr>
              <a:spcAft>
                <a:spcPts val="500"/>
              </a:spcAft>
            </a:pPr>
            <a:r>
              <a:rPr lang="en-US" sz="1000">
                <a:solidFill>
                  <a:srgbClr val="9DB1C4"/>
                </a:solidFill>
                <a:latin typeface="Consolas" panose="020B0609020204030204" pitchFamily="49" charset="0"/>
                <a:cs typeface="Segoe UI" panose="020B0502040204020203" pitchFamily="34" charset="0"/>
              </a:rPr>
              <a:t>HEURISTICS</a:t>
            </a:r>
          </a:p>
          <a:p>
            <a:pPr>
              <a:spcAft>
                <a:spcPts val="500"/>
              </a:spcAft>
            </a:pPr>
            <a:r>
              <a:rPr lang="en-US" sz="1300">
                <a:solidFill>
                  <a:srgbClr val="9DB1C4"/>
                </a:solidFill>
                <a:latin typeface="Calibri" panose="020F0502020204030204" pitchFamily="34" charset="0"/>
                <a:cs typeface="Segoe UI" panose="020B0502040204020203" pitchFamily="34" charset="0"/>
              </a:rPr>
              <a:t>Tuned on 16 teaching images; not clinically validated.</a:t>
            </a:r>
          </a:p>
        </p:txBody>
      </p:sp>
      <p:sp>
        <p:nvSpPr>
          <p:cNvPr id="39" name="txt-181">
            <a:extLst>
              <a:ext uri="{FF2B5EF4-FFF2-40B4-BE49-F238E27FC236}">
                <a16:creationId xmlns:a16="http://schemas.microsoft.com/office/drawing/2014/main" id="{93A33DCB-2464-1D18-A121-778CA728ED9C}"/>
              </a:ext>
            </a:extLst>
          </p:cNvPr>
          <p:cNvSpPr txBox="1"/>
          <p:nvPr/>
        </p:nvSpPr>
        <p:spPr>
          <a:xfrm>
            <a:off x="711200" y="6197600"/>
            <a:ext cx="8890000" cy="3556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Values: the prototype’s own quality functions on case C06 (768 px analysis render), recorded by capture.mjs</a:t>
            </a:r>
          </a:p>
        </p:txBody>
      </p:sp>
      <p:sp>
        <p:nvSpPr>
          <p:cNvPr id="40" name="txt-182">
            <a:extLst>
              <a:ext uri="{FF2B5EF4-FFF2-40B4-BE49-F238E27FC236}">
                <a16:creationId xmlns:a16="http://schemas.microsoft.com/office/drawing/2014/main" id="{7FCE09E3-4E4A-986E-D1FA-094852D237C9}"/>
              </a:ext>
            </a:extLst>
          </p:cNvPr>
          <p:cNvSpPr txBox="1"/>
          <p:nvPr/>
        </p:nvSpPr>
        <p:spPr>
          <a:xfrm>
            <a:off x="711200" y="6527800"/>
            <a:ext cx="8890000" cy="1778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DIAGNOSTIC INTELLIGENCE LAB · AL DHAFRA HEALTH FORUM · EDUCATIONAL PROTOTYPE · NOT A MEDICAL DEVICE</a:t>
            </a:r>
          </a:p>
        </p:txBody>
      </p:sp>
      <p:sp>
        <p:nvSpPr>
          <p:cNvPr id="41" name="txt-183">
            <a:extLst>
              <a:ext uri="{FF2B5EF4-FFF2-40B4-BE49-F238E27FC236}">
                <a16:creationId xmlns:a16="http://schemas.microsoft.com/office/drawing/2014/main" id="{93B60288-AFD0-F121-B039-08D81EB35E33}"/>
              </a:ext>
            </a:extLst>
          </p:cNvPr>
          <p:cNvSpPr txBox="1"/>
          <p:nvPr/>
        </p:nvSpPr>
        <p:spPr>
          <a:xfrm>
            <a:off x="10972800" y="6527800"/>
            <a:ext cx="508000" cy="177800"/>
          </a:xfrm>
          <a:prstGeom prst="rect">
            <a:avLst/>
          </a:prstGeom>
          <a:noFill/>
        </p:spPr>
        <p:txBody>
          <a:bodyPr vert="horz" wrap="square" lIns="0" tIns="0" rIns="0" bIns="0" rtlCol="0" anchor="t">
            <a:noAutofit/>
          </a:bodyPr>
          <a:lstStyle/>
          <a:p>
            <a:pPr algn="r"/>
            <a:r>
              <a:rPr lang="en-US" sz="1000">
                <a:solidFill>
                  <a:srgbClr val="9DB1C4"/>
                </a:solidFill>
                <a:latin typeface="Consolas" panose="020B0609020204030204" pitchFamily="49" charset="0"/>
                <a:cs typeface="Segoe UI" panose="020B0502040204020203" pitchFamily="34" charset="0"/>
              </a:rPr>
              <a:t>07</a:t>
            </a:r>
          </a:p>
        </p:txBody>
      </p:sp>
    </p:spTree>
    <p:extLst>
      <p:ext uri="{BB962C8B-B14F-4D97-AF65-F5344CB8AC3E}">
        <p14:creationId xmlns:p14="http://schemas.microsoft.com/office/powerpoint/2010/main" val="1639277150"/>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184">
            <a:extLst>
              <a:ext uri="{FF2B5EF4-FFF2-40B4-BE49-F238E27FC236}">
                <a16:creationId xmlns:a16="http://schemas.microsoft.com/office/drawing/2014/main" id="{4DCBA913-BB1F-1237-FA58-22534D9CA383}"/>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07 · ACCURACY LABORATORY — THE TECHNICAL CENTREPIECE</a:t>
            </a:r>
          </a:p>
        </p:txBody>
      </p:sp>
      <p:sp>
        <p:nvSpPr>
          <p:cNvPr id="3" name="txt-185">
            <a:extLst>
              <a:ext uri="{FF2B5EF4-FFF2-40B4-BE49-F238E27FC236}">
                <a16:creationId xmlns:a16="http://schemas.microsoft.com/office/drawing/2014/main" id="{82C24949-E36C-98A9-B23B-2065E338C0D1}"/>
              </a:ext>
            </a:extLst>
          </p:cNvPr>
          <p:cNvSpPr txBox="1"/>
          <p:nvPr/>
        </p:nvSpPr>
        <p:spPr>
          <a:xfrm>
            <a:off x="711200" y="685800"/>
            <a:ext cx="6604000" cy="1143000"/>
          </a:xfrm>
          <a:prstGeom prst="rect">
            <a:avLst/>
          </a:prstGeom>
          <a:noFill/>
        </p:spPr>
        <p:txBody>
          <a:bodyPr vert="horz" wrap="square" lIns="0" tIns="0" rIns="0" bIns="0" rtlCol="0" anchor="t">
            <a:noAutofit/>
          </a:bodyPr>
          <a:lstStyle/>
          <a:p>
            <a:pPr>
              <a:lnSpc>
                <a:spcPct val="95000"/>
              </a:lnSpc>
            </a:pPr>
            <a:r>
              <a:rPr lang="en-US" sz="4200">
                <a:solidFill>
                  <a:srgbClr val="0A1A2C"/>
                </a:solidFill>
                <a:latin typeface="Georgia" panose="02040502050405020303" pitchFamily="18" charset="0"/>
                <a:cs typeface="Segoe UI" panose="020B0502040204020203" pitchFamily="34" charset="0"/>
              </a:rPr>
              <a:t>Measured, not claimed.</a:t>
            </a:r>
          </a:p>
        </p:txBody>
      </p:sp>
      <p:sp>
        <p:nvSpPr>
          <p:cNvPr id="4" name="txt-186">
            <a:extLst>
              <a:ext uri="{FF2B5EF4-FFF2-40B4-BE49-F238E27FC236}">
                <a16:creationId xmlns:a16="http://schemas.microsoft.com/office/drawing/2014/main" id="{C3F50F63-078E-8EDD-0A75-31176B136639}"/>
              </a:ext>
            </a:extLst>
          </p:cNvPr>
          <p:cNvSpPr txBox="1"/>
          <p:nvPr/>
        </p:nvSpPr>
        <p:spPr>
          <a:xfrm>
            <a:off x="1371600" y="1625600"/>
            <a:ext cx="3048000" cy="177800"/>
          </a:xfrm>
          <a:prstGeom prst="rect">
            <a:avLst/>
          </a:prstGeom>
          <a:noFill/>
        </p:spPr>
        <p:txBody>
          <a:bodyPr vert="horz" wrap="square" lIns="0" tIns="0" rIns="0" bIns="0" rtlCol="0" anchor="t">
            <a:noAutofit/>
          </a:bodyPr>
          <a:lstStyle/>
          <a:p>
            <a:pPr algn="ctr"/>
            <a:r>
              <a:rPr lang="en-US" sz="1000">
                <a:solidFill>
                  <a:srgbClr val="67707B"/>
                </a:solidFill>
                <a:latin typeface="Consolas" panose="020B0609020204030204" pitchFamily="49" charset="0"/>
                <a:cs typeface="Segoe UI" panose="020B0502040204020203" pitchFamily="34" charset="0"/>
              </a:rPr>
              <a:t>PREDICTED</a:t>
            </a:r>
          </a:p>
        </p:txBody>
      </p:sp>
      <p:sp>
        <p:nvSpPr>
          <p:cNvPr id="5" name="txt-187">
            <a:extLst>
              <a:ext uri="{FF2B5EF4-FFF2-40B4-BE49-F238E27FC236}">
                <a16:creationId xmlns:a16="http://schemas.microsoft.com/office/drawing/2014/main" id="{37CC9BCC-BAE4-F666-B2AE-CD905664FCC4}"/>
              </a:ext>
            </a:extLst>
          </p:cNvPr>
          <p:cNvSpPr txBox="1"/>
          <p:nvPr/>
        </p:nvSpPr>
        <p:spPr>
          <a:xfrm>
            <a:off x="1371600" y="1803400"/>
            <a:ext cx="1524000" cy="177800"/>
          </a:xfrm>
          <a:prstGeom prst="rect">
            <a:avLst/>
          </a:prstGeom>
          <a:noFill/>
        </p:spPr>
        <p:txBody>
          <a:bodyPr vert="horz" wrap="square" lIns="0" tIns="0" rIns="0" bIns="0" rtlCol="0" anchor="t">
            <a:noAutofit/>
          </a:bodyPr>
          <a:lstStyle/>
          <a:p>
            <a:pPr algn="ctr"/>
            <a:r>
              <a:rPr lang="en-US" sz="1000">
                <a:solidFill>
                  <a:srgbClr val="3B4A5C"/>
                </a:solidFill>
                <a:latin typeface="Consolas" panose="020B0609020204030204" pitchFamily="49" charset="0"/>
                <a:cs typeface="Segoe UI" panose="020B0502040204020203" pitchFamily="34" charset="0"/>
              </a:rPr>
              <a:t>Referable</a:t>
            </a:r>
          </a:p>
        </p:txBody>
      </p:sp>
      <p:sp>
        <p:nvSpPr>
          <p:cNvPr id="6" name="txt-188">
            <a:extLst>
              <a:ext uri="{FF2B5EF4-FFF2-40B4-BE49-F238E27FC236}">
                <a16:creationId xmlns:a16="http://schemas.microsoft.com/office/drawing/2014/main" id="{E2C8C852-4465-52AB-0AEC-49A8AD1BB4E6}"/>
              </a:ext>
            </a:extLst>
          </p:cNvPr>
          <p:cNvSpPr txBox="1"/>
          <p:nvPr/>
        </p:nvSpPr>
        <p:spPr>
          <a:xfrm>
            <a:off x="2895600" y="1803400"/>
            <a:ext cx="1524000" cy="177800"/>
          </a:xfrm>
          <a:prstGeom prst="rect">
            <a:avLst/>
          </a:prstGeom>
          <a:noFill/>
        </p:spPr>
        <p:txBody>
          <a:bodyPr vert="horz" wrap="square" lIns="0" tIns="0" rIns="0" bIns="0" rtlCol="0" anchor="t">
            <a:noAutofit/>
          </a:bodyPr>
          <a:lstStyle/>
          <a:p>
            <a:pPr algn="ctr"/>
            <a:r>
              <a:rPr lang="en-US" sz="1000">
                <a:solidFill>
                  <a:srgbClr val="3B4A5C"/>
                </a:solidFill>
                <a:latin typeface="Consolas" panose="020B0609020204030204" pitchFamily="49" charset="0"/>
                <a:cs typeface="Segoe UI" panose="020B0502040204020203" pitchFamily="34" charset="0"/>
              </a:rPr>
              <a:t>Non-referable</a:t>
            </a:r>
          </a:p>
        </p:txBody>
      </p:sp>
      <p:sp>
        <p:nvSpPr>
          <p:cNvPr id="7" name="txt-189">
            <a:extLst>
              <a:ext uri="{FF2B5EF4-FFF2-40B4-BE49-F238E27FC236}">
                <a16:creationId xmlns:a16="http://schemas.microsoft.com/office/drawing/2014/main" id="{16DB90A4-9C5A-5EC8-17F9-D24FA8794C59}"/>
              </a:ext>
            </a:extLst>
          </p:cNvPr>
          <p:cNvSpPr txBox="1"/>
          <p:nvPr/>
        </p:nvSpPr>
        <p:spPr>
          <a:xfrm>
            <a:off x="660400" y="2997200"/>
            <a:ext cx="6604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REFERENCE</a:t>
            </a:r>
          </a:p>
        </p:txBody>
      </p:sp>
      <p:sp>
        <p:nvSpPr>
          <p:cNvPr id="8" name="txt-190">
            <a:extLst>
              <a:ext uri="{FF2B5EF4-FFF2-40B4-BE49-F238E27FC236}">
                <a16:creationId xmlns:a16="http://schemas.microsoft.com/office/drawing/2014/main" id="{B580D4B2-B08C-A193-B030-E4852F858F2B}"/>
              </a:ext>
            </a:extLst>
          </p:cNvPr>
          <p:cNvSpPr txBox="1"/>
          <p:nvPr/>
        </p:nvSpPr>
        <p:spPr>
          <a:xfrm>
            <a:off x="660400" y="2209800"/>
            <a:ext cx="660400" cy="355600"/>
          </a:xfrm>
          <a:prstGeom prst="rect">
            <a:avLst/>
          </a:prstGeom>
          <a:noFill/>
        </p:spPr>
        <p:txBody>
          <a:bodyPr vert="horz" wrap="square" lIns="0" tIns="0" rIns="0" bIns="0" rtlCol="0" anchor="t">
            <a:noAutofit/>
          </a:bodyPr>
          <a:lstStyle/>
          <a:p>
            <a:r>
              <a:rPr lang="en-US" sz="1000">
                <a:solidFill>
                  <a:srgbClr val="3B4A5C"/>
                </a:solidFill>
                <a:latin typeface="Consolas" panose="020B0609020204030204" pitchFamily="49" charset="0"/>
                <a:cs typeface="Segoe UI" panose="020B0502040204020203" pitchFamily="34" charset="0"/>
              </a:rPr>
              <a:t>Referable</a:t>
            </a:r>
          </a:p>
        </p:txBody>
      </p:sp>
      <p:sp>
        <p:nvSpPr>
          <p:cNvPr id="9" name="txt-191">
            <a:extLst>
              <a:ext uri="{FF2B5EF4-FFF2-40B4-BE49-F238E27FC236}">
                <a16:creationId xmlns:a16="http://schemas.microsoft.com/office/drawing/2014/main" id="{5A5A446E-23C6-1208-27E2-65E0F180607D}"/>
              </a:ext>
            </a:extLst>
          </p:cNvPr>
          <p:cNvSpPr txBox="1"/>
          <p:nvPr/>
        </p:nvSpPr>
        <p:spPr>
          <a:xfrm>
            <a:off x="660400" y="3429000"/>
            <a:ext cx="660400" cy="355600"/>
          </a:xfrm>
          <a:prstGeom prst="rect">
            <a:avLst/>
          </a:prstGeom>
          <a:noFill/>
        </p:spPr>
        <p:txBody>
          <a:bodyPr vert="horz" wrap="square" lIns="0" tIns="0" rIns="0" bIns="0" rtlCol="0" anchor="t">
            <a:noAutofit/>
          </a:bodyPr>
          <a:lstStyle/>
          <a:p>
            <a:r>
              <a:rPr lang="en-US" sz="1000">
                <a:solidFill>
                  <a:srgbClr val="3B4A5C"/>
                </a:solidFill>
                <a:latin typeface="Consolas" panose="020B0609020204030204" pitchFamily="49" charset="0"/>
                <a:cs typeface="Segoe UI" panose="020B0502040204020203" pitchFamily="34" charset="0"/>
              </a:rPr>
              <a:t>Non-ref.</a:t>
            </a:r>
          </a:p>
        </p:txBody>
      </p:sp>
      <p:sp>
        <p:nvSpPr>
          <p:cNvPr id="10" name="shape-192">
            <a:extLst>
              <a:ext uri="{FF2B5EF4-FFF2-40B4-BE49-F238E27FC236}">
                <a16:creationId xmlns:a16="http://schemas.microsoft.com/office/drawing/2014/main" id="{9F17D718-AAA3-0906-D541-4B84E1617861}"/>
              </a:ext>
            </a:extLst>
          </p:cNvPr>
          <p:cNvSpPr/>
          <p:nvPr/>
        </p:nvSpPr>
        <p:spPr>
          <a:xfrm>
            <a:off x="1371600" y="2032000"/>
            <a:ext cx="1473200" cy="1168400"/>
          </a:xfrm>
          <a:prstGeom prst="rect">
            <a:avLst/>
          </a:prstGeom>
          <a:solidFill>
            <a:srgbClr val="DDEBE8"/>
          </a:solidFill>
          <a:ln w="9525">
            <a:solidFill>
              <a:srgbClr val="2A66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xt-193">
            <a:extLst>
              <a:ext uri="{FF2B5EF4-FFF2-40B4-BE49-F238E27FC236}">
                <a16:creationId xmlns:a16="http://schemas.microsoft.com/office/drawing/2014/main" id="{805D2BCB-25C3-B1CA-C8A7-2AD449FB7850}"/>
              </a:ext>
            </a:extLst>
          </p:cNvPr>
          <p:cNvSpPr txBox="1"/>
          <p:nvPr/>
        </p:nvSpPr>
        <p:spPr>
          <a:xfrm>
            <a:off x="1524000" y="2159000"/>
            <a:ext cx="1168400" cy="508000"/>
          </a:xfrm>
          <a:prstGeom prst="rect">
            <a:avLst/>
          </a:prstGeom>
          <a:noFill/>
        </p:spPr>
        <p:txBody>
          <a:bodyPr vert="horz" wrap="square" lIns="0" tIns="0" rIns="0" bIns="0" rtlCol="0" anchor="t">
            <a:noAutofit/>
          </a:bodyPr>
          <a:lstStyle/>
          <a:p>
            <a:r>
              <a:rPr lang="en-US" sz="3400">
                <a:solidFill>
                  <a:srgbClr val="2A665F"/>
                </a:solidFill>
                <a:latin typeface="Georgia" panose="02040502050405020303" pitchFamily="18" charset="0"/>
                <a:cs typeface="Segoe UI" panose="020B0502040204020203" pitchFamily="34" charset="0"/>
              </a:rPr>
              <a:t>TP</a:t>
            </a:r>
          </a:p>
        </p:txBody>
      </p:sp>
      <p:sp>
        <p:nvSpPr>
          <p:cNvPr id="12" name="txt-194">
            <a:extLst>
              <a:ext uri="{FF2B5EF4-FFF2-40B4-BE49-F238E27FC236}">
                <a16:creationId xmlns:a16="http://schemas.microsoft.com/office/drawing/2014/main" id="{9C342497-F509-399C-75EA-69C799E23D41}"/>
              </a:ext>
            </a:extLst>
          </p:cNvPr>
          <p:cNvSpPr txBox="1"/>
          <p:nvPr/>
        </p:nvSpPr>
        <p:spPr>
          <a:xfrm>
            <a:off x="1524000" y="2743200"/>
            <a:ext cx="1168400" cy="355600"/>
          </a:xfrm>
          <a:prstGeom prst="rect">
            <a:avLst/>
          </a:prstGeom>
          <a:noFill/>
        </p:spPr>
        <p:txBody>
          <a:bodyPr vert="horz" wrap="square" lIns="0" tIns="0" rIns="0" bIns="0" rtlCol="0" anchor="t">
            <a:noAutofit/>
          </a:bodyPr>
          <a:lstStyle/>
          <a:p>
            <a:r>
              <a:rPr lang="en-US" sz="1000">
                <a:solidFill>
                  <a:srgbClr val="2A665F"/>
                </a:solidFill>
                <a:latin typeface="Consolas" panose="020B0609020204030204" pitchFamily="49" charset="0"/>
                <a:cs typeface="Segoe UI" panose="020B0502040204020203" pitchFamily="34" charset="0"/>
              </a:rPr>
              <a:t>TRUE POSITIVE</a:t>
            </a:r>
          </a:p>
        </p:txBody>
      </p:sp>
      <p:sp>
        <p:nvSpPr>
          <p:cNvPr id="13" name="shape-195">
            <a:extLst>
              <a:ext uri="{FF2B5EF4-FFF2-40B4-BE49-F238E27FC236}">
                <a16:creationId xmlns:a16="http://schemas.microsoft.com/office/drawing/2014/main" id="{B12E5112-24AC-AECE-5C1D-FB16EF47A079}"/>
              </a:ext>
            </a:extLst>
          </p:cNvPr>
          <p:cNvSpPr/>
          <p:nvPr/>
        </p:nvSpPr>
        <p:spPr>
          <a:xfrm>
            <a:off x="2895600" y="2032000"/>
            <a:ext cx="1473200" cy="1168400"/>
          </a:xfrm>
          <a:prstGeom prst="rect">
            <a:avLst/>
          </a:prstGeom>
          <a:solidFill>
            <a:srgbClr val="F0D9D2"/>
          </a:solidFill>
          <a:ln w="9525">
            <a:solidFill>
              <a:srgbClr val="A946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xt-196">
            <a:extLst>
              <a:ext uri="{FF2B5EF4-FFF2-40B4-BE49-F238E27FC236}">
                <a16:creationId xmlns:a16="http://schemas.microsoft.com/office/drawing/2014/main" id="{E6A81E53-84CF-5844-B185-03A9D0151189}"/>
              </a:ext>
            </a:extLst>
          </p:cNvPr>
          <p:cNvSpPr txBox="1"/>
          <p:nvPr/>
        </p:nvSpPr>
        <p:spPr>
          <a:xfrm>
            <a:off x="3048000" y="2159000"/>
            <a:ext cx="1168400" cy="508000"/>
          </a:xfrm>
          <a:prstGeom prst="rect">
            <a:avLst/>
          </a:prstGeom>
          <a:noFill/>
        </p:spPr>
        <p:txBody>
          <a:bodyPr vert="horz" wrap="square" lIns="0" tIns="0" rIns="0" bIns="0" rtlCol="0" anchor="t">
            <a:noAutofit/>
          </a:bodyPr>
          <a:lstStyle/>
          <a:p>
            <a:r>
              <a:rPr lang="en-US" sz="3400">
                <a:solidFill>
                  <a:srgbClr val="A94632"/>
                </a:solidFill>
                <a:latin typeface="Georgia" panose="02040502050405020303" pitchFamily="18" charset="0"/>
                <a:cs typeface="Segoe UI" panose="020B0502040204020203" pitchFamily="34" charset="0"/>
              </a:rPr>
              <a:t>FN</a:t>
            </a:r>
          </a:p>
        </p:txBody>
      </p:sp>
      <p:sp>
        <p:nvSpPr>
          <p:cNvPr id="15" name="txt-197">
            <a:extLst>
              <a:ext uri="{FF2B5EF4-FFF2-40B4-BE49-F238E27FC236}">
                <a16:creationId xmlns:a16="http://schemas.microsoft.com/office/drawing/2014/main" id="{EEC68D43-ABC5-D9CD-C7FA-BDE7F3C07836}"/>
              </a:ext>
            </a:extLst>
          </p:cNvPr>
          <p:cNvSpPr txBox="1"/>
          <p:nvPr/>
        </p:nvSpPr>
        <p:spPr>
          <a:xfrm>
            <a:off x="3048000" y="2743200"/>
            <a:ext cx="1168400" cy="355600"/>
          </a:xfrm>
          <a:prstGeom prst="rect">
            <a:avLst/>
          </a:prstGeom>
          <a:noFill/>
        </p:spPr>
        <p:txBody>
          <a:bodyPr vert="horz" wrap="square" lIns="0" tIns="0" rIns="0" bIns="0" rtlCol="0" anchor="t">
            <a:noAutofit/>
          </a:bodyPr>
          <a:lstStyle/>
          <a:p>
            <a:r>
              <a:rPr lang="en-US" sz="1000">
                <a:solidFill>
                  <a:srgbClr val="A94632"/>
                </a:solidFill>
                <a:latin typeface="Consolas" panose="020B0609020204030204" pitchFamily="49" charset="0"/>
                <a:cs typeface="Segoe UI" panose="020B0502040204020203" pitchFamily="34" charset="0"/>
              </a:rPr>
              <a:t>FALSE NEGATIVE · MISSED</a:t>
            </a:r>
          </a:p>
        </p:txBody>
      </p:sp>
      <p:sp>
        <p:nvSpPr>
          <p:cNvPr id="16" name="shape-198">
            <a:extLst>
              <a:ext uri="{FF2B5EF4-FFF2-40B4-BE49-F238E27FC236}">
                <a16:creationId xmlns:a16="http://schemas.microsoft.com/office/drawing/2014/main" id="{ED0539A1-746D-C623-5E42-5F74755A00C7}"/>
              </a:ext>
            </a:extLst>
          </p:cNvPr>
          <p:cNvSpPr/>
          <p:nvPr/>
        </p:nvSpPr>
        <p:spPr>
          <a:xfrm>
            <a:off x="1371600" y="3251200"/>
            <a:ext cx="1473200" cy="1168400"/>
          </a:xfrm>
          <a:prstGeom prst="rect">
            <a:avLst/>
          </a:prstGeom>
          <a:solidFill>
            <a:srgbClr val="F1E4C4"/>
          </a:solidFill>
          <a:ln w="9525">
            <a:solidFill>
              <a:srgbClr val="8F66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xt-199">
            <a:extLst>
              <a:ext uri="{FF2B5EF4-FFF2-40B4-BE49-F238E27FC236}">
                <a16:creationId xmlns:a16="http://schemas.microsoft.com/office/drawing/2014/main" id="{A130914C-7E09-E30A-B825-4ED1E684D23C}"/>
              </a:ext>
            </a:extLst>
          </p:cNvPr>
          <p:cNvSpPr txBox="1"/>
          <p:nvPr/>
        </p:nvSpPr>
        <p:spPr>
          <a:xfrm>
            <a:off x="1524000" y="3378200"/>
            <a:ext cx="1168400" cy="508000"/>
          </a:xfrm>
          <a:prstGeom prst="rect">
            <a:avLst/>
          </a:prstGeom>
          <a:noFill/>
        </p:spPr>
        <p:txBody>
          <a:bodyPr vert="horz" wrap="square" lIns="0" tIns="0" rIns="0" bIns="0" rtlCol="0" anchor="t">
            <a:noAutofit/>
          </a:bodyPr>
          <a:lstStyle/>
          <a:p>
            <a:r>
              <a:rPr lang="en-US" sz="3400">
                <a:solidFill>
                  <a:srgbClr val="8F6614"/>
                </a:solidFill>
                <a:latin typeface="Georgia" panose="02040502050405020303" pitchFamily="18" charset="0"/>
                <a:cs typeface="Segoe UI" panose="020B0502040204020203" pitchFamily="34" charset="0"/>
              </a:rPr>
              <a:t>FP</a:t>
            </a:r>
          </a:p>
        </p:txBody>
      </p:sp>
      <p:sp>
        <p:nvSpPr>
          <p:cNvPr id="18" name="txt-200">
            <a:extLst>
              <a:ext uri="{FF2B5EF4-FFF2-40B4-BE49-F238E27FC236}">
                <a16:creationId xmlns:a16="http://schemas.microsoft.com/office/drawing/2014/main" id="{939883E1-4653-1F35-88E1-666386DE815F}"/>
              </a:ext>
            </a:extLst>
          </p:cNvPr>
          <p:cNvSpPr txBox="1"/>
          <p:nvPr/>
        </p:nvSpPr>
        <p:spPr>
          <a:xfrm>
            <a:off x="1524000" y="3962400"/>
            <a:ext cx="1168400" cy="355600"/>
          </a:xfrm>
          <a:prstGeom prst="rect">
            <a:avLst/>
          </a:prstGeom>
          <a:noFill/>
        </p:spPr>
        <p:txBody>
          <a:bodyPr vert="horz" wrap="square" lIns="0" tIns="0" rIns="0" bIns="0" rtlCol="0" anchor="t">
            <a:noAutofit/>
          </a:bodyPr>
          <a:lstStyle/>
          <a:p>
            <a:r>
              <a:rPr lang="en-US" sz="1000">
                <a:solidFill>
                  <a:srgbClr val="8F6614"/>
                </a:solidFill>
                <a:latin typeface="Consolas" panose="020B0609020204030204" pitchFamily="49" charset="0"/>
                <a:cs typeface="Segoe UI" panose="020B0502040204020203" pitchFamily="34" charset="0"/>
              </a:rPr>
              <a:t>FALSE POSITIVE · OVER-REFERRAL</a:t>
            </a:r>
          </a:p>
        </p:txBody>
      </p:sp>
      <p:sp>
        <p:nvSpPr>
          <p:cNvPr id="19" name="shape-201">
            <a:extLst>
              <a:ext uri="{FF2B5EF4-FFF2-40B4-BE49-F238E27FC236}">
                <a16:creationId xmlns:a16="http://schemas.microsoft.com/office/drawing/2014/main" id="{4AF7BC7B-B309-2969-DB74-AFA6C90ECC2D}"/>
              </a:ext>
            </a:extLst>
          </p:cNvPr>
          <p:cNvSpPr/>
          <p:nvPr/>
        </p:nvSpPr>
        <p:spPr>
          <a:xfrm>
            <a:off x="2895600" y="3251200"/>
            <a:ext cx="1473200" cy="1168400"/>
          </a:xfrm>
          <a:prstGeom prst="rect">
            <a:avLst/>
          </a:prstGeom>
          <a:solidFill>
            <a:srgbClr val="DDE6F0"/>
          </a:solidFill>
          <a:ln w="9525">
            <a:solidFill>
              <a:srgbClr val="2F6F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xt-202">
            <a:extLst>
              <a:ext uri="{FF2B5EF4-FFF2-40B4-BE49-F238E27FC236}">
                <a16:creationId xmlns:a16="http://schemas.microsoft.com/office/drawing/2014/main" id="{745E2336-B3E2-5905-0C18-AA2F906E18D3}"/>
              </a:ext>
            </a:extLst>
          </p:cNvPr>
          <p:cNvSpPr txBox="1"/>
          <p:nvPr/>
        </p:nvSpPr>
        <p:spPr>
          <a:xfrm>
            <a:off x="3048000" y="3378200"/>
            <a:ext cx="1168400" cy="508000"/>
          </a:xfrm>
          <a:prstGeom prst="rect">
            <a:avLst/>
          </a:prstGeom>
          <a:noFill/>
        </p:spPr>
        <p:txBody>
          <a:bodyPr vert="horz" wrap="square" lIns="0" tIns="0" rIns="0" bIns="0" rtlCol="0" anchor="t">
            <a:noAutofit/>
          </a:bodyPr>
          <a:lstStyle/>
          <a:p>
            <a:r>
              <a:rPr lang="en-US" sz="3400">
                <a:solidFill>
                  <a:srgbClr val="2F6FB7"/>
                </a:solidFill>
                <a:latin typeface="Georgia" panose="02040502050405020303" pitchFamily="18" charset="0"/>
                <a:cs typeface="Segoe UI" panose="020B0502040204020203" pitchFamily="34" charset="0"/>
              </a:rPr>
              <a:t>TN</a:t>
            </a:r>
          </a:p>
        </p:txBody>
      </p:sp>
      <p:sp>
        <p:nvSpPr>
          <p:cNvPr id="21" name="txt-203">
            <a:extLst>
              <a:ext uri="{FF2B5EF4-FFF2-40B4-BE49-F238E27FC236}">
                <a16:creationId xmlns:a16="http://schemas.microsoft.com/office/drawing/2014/main" id="{76F10C5F-4B5D-A5D4-CA20-EB5B084A586D}"/>
              </a:ext>
            </a:extLst>
          </p:cNvPr>
          <p:cNvSpPr txBox="1"/>
          <p:nvPr/>
        </p:nvSpPr>
        <p:spPr>
          <a:xfrm>
            <a:off x="3048000" y="3962400"/>
            <a:ext cx="1168400" cy="355600"/>
          </a:xfrm>
          <a:prstGeom prst="rect">
            <a:avLst/>
          </a:prstGeom>
          <a:noFill/>
        </p:spPr>
        <p:txBody>
          <a:bodyPr vert="horz" wrap="square" lIns="0" tIns="0" rIns="0" bIns="0" rtlCol="0" anchor="t">
            <a:noAutofit/>
          </a:bodyPr>
          <a:lstStyle/>
          <a:p>
            <a:r>
              <a:rPr lang="en-US" sz="1000">
                <a:solidFill>
                  <a:srgbClr val="2F6FB7"/>
                </a:solidFill>
                <a:latin typeface="Consolas" panose="020B0609020204030204" pitchFamily="49" charset="0"/>
                <a:cs typeface="Segoe UI" panose="020B0502040204020203" pitchFamily="34" charset="0"/>
              </a:rPr>
              <a:t>TRUE NEGATIVE</a:t>
            </a:r>
          </a:p>
        </p:txBody>
      </p:sp>
      <p:sp>
        <p:nvSpPr>
          <p:cNvPr id="22" name="txt-204">
            <a:extLst>
              <a:ext uri="{FF2B5EF4-FFF2-40B4-BE49-F238E27FC236}">
                <a16:creationId xmlns:a16="http://schemas.microsoft.com/office/drawing/2014/main" id="{F43D11BC-0131-9043-5636-F11E6CEE7033}"/>
              </a:ext>
            </a:extLst>
          </p:cNvPr>
          <p:cNvSpPr txBox="1"/>
          <p:nvPr/>
        </p:nvSpPr>
        <p:spPr>
          <a:xfrm>
            <a:off x="711200" y="4572000"/>
            <a:ext cx="3810000" cy="355600"/>
          </a:xfrm>
          <a:prstGeom prst="rect">
            <a:avLst/>
          </a:prstGeom>
          <a:noFill/>
        </p:spPr>
        <p:txBody>
          <a:bodyPr vert="horz" wrap="square" lIns="0" tIns="0" rIns="0" bIns="0" rtlCol="0" anchor="t">
            <a:noAutofit/>
          </a:bodyPr>
          <a:lstStyle/>
          <a:p>
            <a:r>
              <a:rPr lang="en-US" sz="1000">
                <a:solidFill>
                  <a:srgbClr val="A94632"/>
                </a:solidFill>
                <a:latin typeface="Consolas" panose="020B0609020204030204" pitchFamily="49" charset="0"/>
                <a:cs typeface="Segoe UI" panose="020B0502040204020203" pitchFamily="34" charset="0"/>
              </a:rPr>
              <a:t>DIAGRAM — NOT A RESULT. NO MODEL HAS BEEN EVALUATED.</a:t>
            </a:r>
          </a:p>
        </p:txBody>
      </p:sp>
      <p:sp>
        <p:nvSpPr>
          <p:cNvPr id="23" name="txt-205">
            <a:extLst>
              <a:ext uri="{FF2B5EF4-FFF2-40B4-BE49-F238E27FC236}">
                <a16:creationId xmlns:a16="http://schemas.microsoft.com/office/drawing/2014/main" id="{47306D03-4DEE-D6C2-CF51-AA3DC1973DBA}"/>
              </a:ext>
            </a:extLst>
          </p:cNvPr>
          <p:cNvSpPr txBox="1"/>
          <p:nvPr/>
        </p:nvSpPr>
        <p:spPr>
          <a:xfrm>
            <a:off x="4648200" y="1625600"/>
            <a:ext cx="3429000" cy="177800"/>
          </a:xfrm>
          <a:prstGeom prst="rect">
            <a:avLst/>
          </a:prstGeom>
          <a:noFill/>
        </p:spPr>
        <p:txBody>
          <a:bodyPr vert="horz" wrap="square" lIns="0" tIns="0" rIns="0" bIns="0" rtlCol="0" anchor="t">
            <a:noAutofit/>
          </a:bodyPr>
          <a:lstStyle/>
          <a:p>
            <a:r>
              <a:rPr lang="en-US" sz="1000">
                <a:solidFill>
                  <a:srgbClr val="2A665F"/>
                </a:solidFill>
                <a:latin typeface="Consolas" panose="020B0609020204030204" pitchFamily="49" charset="0"/>
                <a:cs typeface="Segoe UI" panose="020B0502040204020203" pitchFamily="34" charset="0"/>
              </a:rPr>
              <a:t>THE LABORATORY COMPUTES</a:t>
            </a:r>
          </a:p>
        </p:txBody>
      </p:sp>
      <p:sp>
        <p:nvSpPr>
          <p:cNvPr id="24" name="shape-206">
            <a:extLst>
              <a:ext uri="{FF2B5EF4-FFF2-40B4-BE49-F238E27FC236}">
                <a16:creationId xmlns:a16="http://schemas.microsoft.com/office/drawing/2014/main" id="{799AF696-95F9-01A7-DBF6-89DBB2504343}"/>
              </a:ext>
            </a:extLst>
          </p:cNvPr>
          <p:cNvSpPr/>
          <p:nvPr/>
        </p:nvSpPr>
        <p:spPr>
          <a:xfrm>
            <a:off x="4648200" y="1905000"/>
            <a:ext cx="1574800" cy="3556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xt-207">
            <a:extLst>
              <a:ext uri="{FF2B5EF4-FFF2-40B4-BE49-F238E27FC236}">
                <a16:creationId xmlns:a16="http://schemas.microsoft.com/office/drawing/2014/main" id="{EB0FB73D-30F0-3319-E908-310915E084DA}"/>
              </a:ext>
            </a:extLst>
          </p:cNvPr>
          <p:cNvSpPr txBox="1"/>
          <p:nvPr/>
        </p:nvSpPr>
        <p:spPr>
          <a:xfrm>
            <a:off x="4749800" y="1981200"/>
            <a:ext cx="1422400" cy="228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cs typeface="Segoe UI" panose="020B0502040204020203" pitchFamily="34" charset="0"/>
              </a:rPr>
              <a:t>Sensitivity</a:t>
            </a:r>
          </a:p>
        </p:txBody>
      </p:sp>
      <p:sp>
        <p:nvSpPr>
          <p:cNvPr id="26" name="shape-208">
            <a:extLst>
              <a:ext uri="{FF2B5EF4-FFF2-40B4-BE49-F238E27FC236}">
                <a16:creationId xmlns:a16="http://schemas.microsoft.com/office/drawing/2014/main" id="{2B0CC024-6D22-8908-7DD4-FBA2A6DFE463}"/>
              </a:ext>
            </a:extLst>
          </p:cNvPr>
          <p:cNvSpPr/>
          <p:nvPr/>
        </p:nvSpPr>
        <p:spPr>
          <a:xfrm>
            <a:off x="6299200" y="1905000"/>
            <a:ext cx="1574800" cy="3556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xt-209">
            <a:extLst>
              <a:ext uri="{FF2B5EF4-FFF2-40B4-BE49-F238E27FC236}">
                <a16:creationId xmlns:a16="http://schemas.microsoft.com/office/drawing/2014/main" id="{0ECB4DFF-8A5C-5735-F303-E3DA77CF4684}"/>
              </a:ext>
            </a:extLst>
          </p:cNvPr>
          <p:cNvSpPr txBox="1"/>
          <p:nvPr/>
        </p:nvSpPr>
        <p:spPr>
          <a:xfrm>
            <a:off x="6400800" y="1981200"/>
            <a:ext cx="1422400" cy="228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cs typeface="Segoe UI" panose="020B0502040204020203" pitchFamily="34" charset="0"/>
              </a:rPr>
              <a:t>Specificity</a:t>
            </a:r>
          </a:p>
        </p:txBody>
      </p:sp>
      <p:sp>
        <p:nvSpPr>
          <p:cNvPr id="28" name="shape-210">
            <a:extLst>
              <a:ext uri="{FF2B5EF4-FFF2-40B4-BE49-F238E27FC236}">
                <a16:creationId xmlns:a16="http://schemas.microsoft.com/office/drawing/2014/main" id="{D30C00E3-AC2B-8231-F6CD-12A2BFD08CB0}"/>
              </a:ext>
            </a:extLst>
          </p:cNvPr>
          <p:cNvSpPr/>
          <p:nvPr/>
        </p:nvSpPr>
        <p:spPr>
          <a:xfrm>
            <a:off x="4648200" y="2362200"/>
            <a:ext cx="1574800" cy="3556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xt-211">
            <a:extLst>
              <a:ext uri="{FF2B5EF4-FFF2-40B4-BE49-F238E27FC236}">
                <a16:creationId xmlns:a16="http://schemas.microsoft.com/office/drawing/2014/main" id="{E4A96BE8-11F3-E5E6-4AB1-AEBE8905B24C}"/>
              </a:ext>
            </a:extLst>
          </p:cNvPr>
          <p:cNvSpPr txBox="1"/>
          <p:nvPr/>
        </p:nvSpPr>
        <p:spPr>
          <a:xfrm>
            <a:off x="4749800" y="2438400"/>
            <a:ext cx="1422400" cy="228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cs typeface="Segoe UI" panose="020B0502040204020203" pitchFamily="34" charset="0"/>
              </a:rPr>
              <a:t>PPV · NPV</a:t>
            </a:r>
          </a:p>
        </p:txBody>
      </p:sp>
      <p:sp>
        <p:nvSpPr>
          <p:cNvPr id="30" name="shape-212">
            <a:extLst>
              <a:ext uri="{FF2B5EF4-FFF2-40B4-BE49-F238E27FC236}">
                <a16:creationId xmlns:a16="http://schemas.microsoft.com/office/drawing/2014/main" id="{8AC8EE22-8736-6FF1-32CB-B14098F0E53E}"/>
              </a:ext>
            </a:extLst>
          </p:cNvPr>
          <p:cNvSpPr/>
          <p:nvPr/>
        </p:nvSpPr>
        <p:spPr>
          <a:xfrm>
            <a:off x="6299200" y="2362200"/>
            <a:ext cx="1574800" cy="3556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xt-213">
            <a:extLst>
              <a:ext uri="{FF2B5EF4-FFF2-40B4-BE49-F238E27FC236}">
                <a16:creationId xmlns:a16="http://schemas.microsoft.com/office/drawing/2014/main" id="{9FC479D9-3666-8EFC-B6BD-00EE2327988C}"/>
              </a:ext>
            </a:extLst>
          </p:cNvPr>
          <p:cNvSpPr txBox="1"/>
          <p:nvPr/>
        </p:nvSpPr>
        <p:spPr>
          <a:xfrm>
            <a:off x="6400800" y="2438400"/>
            <a:ext cx="1422400" cy="228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cs typeface="Segoe UI" panose="020B0502040204020203" pitchFamily="34" charset="0"/>
              </a:rPr>
              <a:t>Accuracy</a:t>
            </a:r>
          </a:p>
        </p:txBody>
      </p:sp>
      <p:sp>
        <p:nvSpPr>
          <p:cNvPr id="32" name="shape-214">
            <a:extLst>
              <a:ext uri="{FF2B5EF4-FFF2-40B4-BE49-F238E27FC236}">
                <a16:creationId xmlns:a16="http://schemas.microsoft.com/office/drawing/2014/main" id="{ADD1D8B8-95EC-0F7D-6E95-EEAD1A270EC8}"/>
              </a:ext>
            </a:extLst>
          </p:cNvPr>
          <p:cNvSpPr/>
          <p:nvPr/>
        </p:nvSpPr>
        <p:spPr>
          <a:xfrm>
            <a:off x="4648200" y="2819400"/>
            <a:ext cx="1574800" cy="3556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xt-215">
            <a:extLst>
              <a:ext uri="{FF2B5EF4-FFF2-40B4-BE49-F238E27FC236}">
                <a16:creationId xmlns:a16="http://schemas.microsoft.com/office/drawing/2014/main" id="{D3E07410-F3BD-D65F-CA48-7A4D4389F2BD}"/>
              </a:ext>
            </a:extLst>
          </p:cNvPr>
          <p:cNvSpPr txBox="1"/>
          <p:nvPr/>
        </p:nvSpPr>
        <p:spPr>
          <a:xfrm>
            <a:off x="4749800" y="2895600"/>
            <a:ext cx="1422400" cy="228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cs typeface="Segoe UI" panose="020B0502040204020203" pitchFamily="34" charset="0"/>
              </a:rPr>
              <a:t>ROC · AUC</a:t>
            </a:r>
          </a:p>
        </p:txBody>
      </p:sp>
      <p:sp>
        <p:nvSpPr>
          <p:cNvPr id="34" name="shape-216">
            <a:extLst>
              <a:ext uri="{FF2B5EF4-FFF2-40B4-BE49-F238E27FC236}">
                <a16:creationId xmlns:a16="http://schemas.microsoft.com/office/drawing/2014/main" id="{50C8F293-C550-F508-79EB-533D822543F9}"/>
              </a:ext>
            </a:extLst>
          </p:cNvPr>
          <p:cNvSpPr/>
          <p:nvPr/>
        </p:nvSpPr>
        <p:spPr>
          <a:xfrm>
            <a:off x="6299200" y="2819400"/>
            <a:ext cx="1574800" cy="3556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xt-217">
            <a:extLst>
              <a:ext uri="{FF2B5EF4-FFF2-40B4-BE49-F238E27FC236}">
                <a16:creationId xmlns:a16="http://schemas.microsoft.com/office/drawing/2014/main" id="{95739EA7-F060-0E45-FDC9-46A8E856D564}"/>
              </a:ext>
            </a:extLst>
          </p:cNvPr>
          <p:cNvSpPr txBox="1"/>
          <p:nvPr/>
        </p:nvSpPr>
        <p:spPr>
          <a:xfrm>
            <a:off x="6400800" y="2895600"/>
            <a:ext cx="1422400" cy="228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cs typeface="Segoe UI" panose="020B0502040204020203" pitchFamily="34" charset="0"/>
              </a:rPr>
              <a:t>Wilson 95% CI</a:t>
            </a:r>
          </a:p>
        </p:txBody>
      </p:sp>
      <p:sp>
        <p:nvSpPr>
          <p:cNvPr id="36" name="shape-218">
            <a:extLst>
              <a:ext uri="{FF2B5EF4-FFF2-40B4-BE49-F238E27FC236}">
                <a16:creationId xmlns:a16="http://schemas.microsoft.com/office/drawing/2014/main" id="{E08A6432-1AE4-6FBA-6A2E-337FF385DB6D}"/>
              </a:ext>
            </a:extLst>
          </p:cNvPr>
          <p:cNvSpPr/>
          <p:nvPr/>
        </p:nvSpPr>
        <p:spPr>
          <a:xfrm>
            <a:off x="4648200" y="3276600"/>
            <a:ext cx="1574800" cy="3556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xt-219">
            <a:extLst>
              <a:ext uri="{FF2B5EF4-FFF2-40B4-BE49-F238E27FC236}">
                <a16:creationId xmlns:a16="http://schemas.microsoft.com/office/drawing/2014/main" id="{5DF4AE35-F12F-BA6C-E04A-86F2411BC8A2}"/>
              </a:ext>
            </a:extLst>
          </p:cNvPr>
          <p:cNvSpPr txBox="1"/>
          <p:nvPr/>
        </p:nvSpPr>
        <p:spPr>
          <a:xfrm>
            <a:off x="4749800" y="3352800"/>
            <a:ext cx="1422400" cy="228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cs typeface="Segoe UI" panose="020B0502040204020203" pitchFamily="34" charset="0"/>
              </a:rPr>
              <a:t>Threshold analysis</a:t>
            </a:r>
          </a:p>
        </p:txBody>
      </p:sp>
      <p:sp>
        <p:nvSpPr>
          <p:cNvPr id="38" name="shape-220">
            <a:extLst>
              <a:ext uri="{FF2B5EF4-FFF2-40B4-BE49-F238E27FC236}">
                <a16:creationId xmlns:a16="http://schemas.microsoft.com/office/drawing/2014/main" id="{A266E68E-B8C4-DA30-0CED-34A75EBB3A90}"/>
              </a:ext>
            </a:extLst>
          </p:cNvPr>
          <p:cNvSpPr/>
          <p:nvPr/>
        </p:nvSpPr>
        <p:spPr>
          <a:xfrm>
            <a:off x="6299200" y="3276600"/>
            <a:ext cx="1574800" cy="3556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xt-221">
            <a:extLst>
              <a:ext uri="{FF2B5EF4-FFF2-40B4-BE49-F238E27FC236}">
                <a16:creationId xmlns:a16="http://schemas.microsoft.com/office/drawing/2014/main" id="{055B9BE5-E5A8-9D9D-1A57-C422792FFD1B}"/>
              </a:ext>
            </a:extLst>
          </p:cNvPr>
          <p:cNvSpPr txBox="1"/>
          <p:nvPr/>
        </p:nvSpPr>
        <p:spPr>
          <a:xfrm>
            <a:off x="6400800" y="3352800"/>
            <a:ext cx="1422400" cy="228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cs typeface="Segoe UI" panose="020B0502040204020203" pitchFamily="34" charset="0"/>
              </a:rPr>
              <a:t>Error cases</a:t>
            </a:r>
          </a:p>
        </p:txBody>
      </p:sp>
      <p:sp>
        <p:nvSpPr>
          <p:cNvPr id="40" name="txt-222">
            <a:extLst>
              <a:ext uri="{FF2B5EF4-FFF2-40B4-BE49-F238E27FC236}">
                <a16:creationId xmlns:a16="http://schemas.microsoft.com/office/drawing/2014/main" id="{76777496-CA82-69B9-E1B6-BC40C1B865DB}"/>
              </a:ext>
            </a:extLst>
          </p:cNvPr>
          <p:cNvSpPr txBox="1"/>
          <p:nvPr/>
        </p:nvSpPr>
        <p:spPr>
          <a:xfrm>
            <a:off x="4648200" y="3886200"/>
            <a:ext cx="3251200" cy="177800"/>
          </a:xfrm>
          <a:prstGeom prst="rect">
            <a:avLst/>
          </a:prstGeom>
          <a:noFill/>
        </p:spPr>
        <p:txBody>
          <a:bodyPr vert="horz" wrap="square" lIns="0" tIns="0" rIns="0" bIns="0" rtlCol="0" anchor="t">
            <a:noAutofit/>
          </a:bodyPr>
          <a:lstStyle/>
          <a:p>
            <a:r>
              <a:rPr lang="en-US" sz="1000">
                <a:solidFill>
                  <a:srgbClr val="2A665F"/>
                </a:solidFill>
                <a:latin typeface="Consolas" panose="020B0609020204030204" pitchFamily="49" charset="0"/>
                <a:cs typeface="Segoe UI" panose="020B0502040204020203" pitchFamily="34" charset="0"/>
              </a:rPr>
              <a:t>AND IT PROTECTS THE EVALUATION</a:t>
            </a:r>
          </a:p>
        </p:txBody>
      </p:sp>
      <p:sp>
        <p:nvSpPr>
          <p:cNvPr id="41" name="txt-223">
            <a:extLst>
              <a:ext uri="{FF2B5EF4-FFF2-40B4-BE49-F238E27FC236}">
                <a16:creationId xmlns:a16="http://schemas.microsoft.com/office/drawing/2014/main" id="{96A90088-AF22-6C4F-2287-99BCB3362E38}"/>
              </a:ext>
            </a:extLst>
          </p:cNvPr>
          <p:cNvSpPr txBox="1"/>
          <p:nvPr/>
        </p:nvSpPr>
        <p:spPr>
          <a:xfrm>
            <a:off x="4648200" y="4114800"/>
            <a:ext cx="3327400" cy="1524000"/>
          </a:xfrm>
          <a:prstGeom prst="rect">
            <a:avLst/>
          </a:prstGeom>
          <a:noFill/>
        </p:spPr>
        <p:txBody>
          <a:bodyPr vert="horz" wrap="square" lIns="0" tIns="0" rIns="0" bIns="0" rtlCol="0" anchor="t">
            <a:noAutofit/>
          </a:bodyPr>
          <a:lstStyle/>
          <a:p>
            <a:pPr marL="177800" indent="-177800">
              <a:spcAft>
                <a:spcPts val="3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Patient-level leakage refused</a:t>
            </a:r>
          </a:p>
          <a:p>
            <a:pPr marL="177800" indent="-177800">
              <a:spcAft>
                <a:spcPts val="3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Threshold chosen on validation only</a:t>
            </a:r>
          </a:p>
          <a:p>
            <a:pPr marL="177800" indent="-177800">
              <a:spcAft>
                <a:spcPts val="3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Test evaluated once · counted</a:t>
            </a:r>
          </a:p>
          <a:p>
            <a:pPr marL="177800" indent="-177800">
              <a:spcAft>
                <a:spcPts val="3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Provenance: file SHA-256 + declared metadata</a:t>
            </a:r>
          </a:p>
        </p:txBody>
      </p:sp>
      <p:pic>
        <p:nvPicPr>
          <p:cNvPr id="43" name="pic-224" descr="Screenshot of the Accuracy Laboratory status page: No research model has been evaluated.">
            <a:extLst>
              <a:ext uri="{FF2B5EF4-FFF2-40B4-BE49-F238E27FC236}">
                <a16:creationId xmlns:a16="http://schemas.microsoft.com/office/drawing/2014/main" id="{8476FA18-CC46-77DA-40B8-623443B57EB7}"/>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a:xfrm>
            <a:off x="8382000" y="1625600"/>
            <a:ext cx="3098800" cy="3157426"/>
          </a:xfrm>
          <a:prstGeom prst="rect">
            <a:avLst/>
          </a:prstGeom>
          <a:ln w="9525">
            <a:solidFill>
              <a:srgbClr val="CFC6B3"/>
            </a:solidFill>
          </a:ln>
        </p:spPr>
      </p:pic>
      <p:sp>
        <p:nvSpPr>
          <p:cNvPr id="44" name="txt-225">
            <a:extLst>
              <a:ext uri="{FF2B5EF4-FFF2-40B4-BE49-F238E27FC236}">
                <a16:creationId xmlns:a16="http://schemas.microsoft.com/office/drawing/2014/main" id="{0EC6CE31-B68C-308C-D0B7-2D3A33433334}"/>
              </a:ext>
            </a:extLst>
          </p:cNvPr>
          <p:cNvSpPr txBox="1"/>
          <p:nvPr/>
        </p:nvSpPr>
        <p:spPr>
          <a:xfrm>
            <a:off x="8382000" y="4859226"/>
            <a:ext cx="30988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LIVE APPLICATION · actual state: no research model evaluated</a:t>
            </a:r>
          </a:p>
        </p:txBody>
      </p:sp>
      <p:sp>
        <p:nvSpPr>
          <p:cNvPr id="45" name="shape-226">
            <a:extLst>
              <a:ext uri="{FF2B5EF4-FFF2-40B4-BE49-F238E27FC236}">
                <a16:creationId xmlns:a16="http://schemas.microsoft.com/office/drawing/2014/main" id="{31F0891E-F7A5-F34E-D8C4-2EA0503CD660}"/>
              </a:ext>
            </a:extLst>
          </p:cNvPr>
          <p:cNvSpPr/>
          <p:nvPr/>
        </p:nvSpPr>
        <p:spPr>
          <a:xfrm>
            <a:off x="711200" y="5715000"/>
            <a:ext cx="10769600" cy="635000"/>
          </a:xfrm>
          <a:prstGeom prst="rect">
            <a:avLst/>
          </a:prstGeom>
          <a:solidFill>
            <a:srgbClr val="0A1A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xt-227">
            <a:extLst>
              <a:ext uri="{FF2B5EF4-FFF2-40B4-BE49-F238E27FC236}">
                <a16:creationId xmlns:a16="http://schemas.microsoft.com/office/drawing/2014/main" id="{8B824562-C807-B9B7-7384-A3C67F17F729}"/>
              </a:ext>
            </a:extLst>
          </p:cNvPr>
          <p:cNvSpPr txBox="1"/>
          <p:nvPr/>
        </p:nvSpPr>
        <p:spPr>
          <a:xfrm>
            <a:off x="914400" y="5740400"/>
            <a:ext cx="10363200" cy="584200"/>
          </a:xfrm>
          <a:prstGeom prst="rect">
            <a:avLst/>
          </a:prstGeom>
          <a:noFill/>
        </p:spPr>
        <p:txBody>
          <a:bodyPr vert="horz" wrap="square" lIns="0" tIns="0" rIns="0" bIns="0" rtlCol="0" anchor="ctr">
            <a:noAutofit/>
          </a:bodyPr>
          <a:lstStyle/>
          <a:p>
            <a:r>
              <a:rPr lang="en-US" sz="1600" i="1">
                <a:solidFill>
                  <a:srgbClr val="F7F2E8"/>
                </a:solidFill>
                <a:latin typeface="Georgia" panose="02040502050405020303" pitchFamily="18" charset="0"/>
                <a:cs typeface="Segoe UI" panose="020B0502040204020203" pitchFamily="34" charset="0"/>
              </a:rPr>
              <a:t>“The platform does not ask users to believe an accuracy claim. It establishes how that claim should be tested.”</a:t>
            </a:r>
          </a:p>
        </p:txBody>
      </p:sp>
      <p:sp>
        <p:nvSpPr>
          <p:cNvPr id="47" name="txt-228">
            <a:extLst>
              <a:ext uri="{FF2B5EF4-FFF2-40B4-BE49-F238E27FC236}">
                <a16:creationId xmlns:a16="http://schemas.microsoft.com/office/drawing/2014/main" id="{4A44D0DE-5414-A9FF-E8B6-87E2C32FB60E}"/>
              </a:ext>
            </a:extLst>
          </p:cNvPr>
          <p:cNvSpPr txBox="1"/>
          <p:nvPr/>
        </p:nvSpPr>
        <p:spPr>
          <a:xfrm>
            <a:off x="711200" y="6527800"/>
            <a:ext cx="8890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DIAGNOSTIC INTELLIGENCE LAB · AL DHAFRA HEALTH FORUM · EDUCATIONAL PROTOTYPE · NOT A MEDICAL DEVICE</a:t>
            </a:r>
          </a:p>
        </p:txBody>
      </p:sp>
      <p:sp>
        <p:nvSpPr>
          <p:cNvPr id="48" name="txt-229">
            <a:extLst>
              <a:ext uri="{FF2B5EF4-FFF2-40B4-BE49-F238E27FC236}">
                <a16:creationId xmlns:a16="http://schemas.microsoft.com/office/drawing/2014/main" id="{978AED7B-3267-F983-A449-086F31875930}"/>
              </a:ext>
            </a:extLst>
          </p:cNvPr>
          <p:cNvSpPr txBox="1"/>
          <p:nvPr/>
        </p:nvSpPr>
        <p:spPr>
          <a:xfrm>
            <a:off x="10972800" y="6527800"/>
            <a:ext cx="5080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cs typeface="Segoe UI" panose="020B0502040204020203" pitchFamily="34" charset="0"/>
              </a:rPr>
              <a:t>08</a:t>
            </a:r>
          </a:p>
        </p:txBody>
      </p:sp>
    </p:spTree>
    <p:extLst>
      <p:ext uri="{BB962C8B-B14F-4D97-AF65-F5344CB8AC3E}">
        <p14:creationId xmlns:p14="http://schemas.microsoft.com/office/powerpoint/2010/main" val="3185782485"/>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230">
            <a:extLst>
              <a:ext uri="{FF2B5EF4-FFF2-40B4-BE49-F238E27FC236}">
                <a16:creationId xmlns:a16="http://schemas.microsoft.com/office/drawing/2014/main" id="{CD548D32-C8AA-5C85-8483-3AA5F7B85C07}"/>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08 · HUMAN OVERSIGHT AND CAREBRIDGE</a:t>
            </a:r>
          </a:p>
        </p:txBody>
      </p:sp>
      <p:sp>
        <p:nvSpPr>
          <p:cNvPr id="3" name="txt-231">
            <a:extLst>
              <a:ext uri="{FF2B5EF4-FFF2-40B4-BE49-F238E27FC236}">
                <a16:creationId xmlns:a16="http://schemas.microsoft.com/office/drawing/2014/main" id="{25BC2CA7-CA03-CE5D-2BCE-723AED64B533}"/>
              </a:ext>
            </a:extLst>
          </p:cNvPr>
          <p:cNvSpPr txBox="1"/>
          <p:nvPr/>
        </p:nvSpPr>
        <p:spPr>
          <a:xfrm>
            <a:off x="711200" y="685800"/>
            <a:ext cx="7112000" cy="1143000"/>
          </a:xfrm>
          <a:prstGeom prst="rect">
            <a:avLst/>
          </a:prstGeom>
          <a:noFill/>
        </p:spPr>
        <p:txBody>
          <a:bodyPr vert="horz" wrap="square" lIns="0" tIns="0" rIns="0" bIns="0" rtlCol="0" anchor="t">
            <a:noAutofit/>
          </a:bodyPr>
          <a:lstStyle/>
          <a:p>
            <a:pPr>
              <a:lnSpc>
                <a:spcPct val="95000"/>
              </a:lnSpc>
            </a:pPr>
            <a:r>
              <a:rPr lang="en-US" sz="3800">
                <a:solidFill>
                  <a:srgbClr val="0A1A2C"/>
                </a:solidFill>
                <a:latin typeface="Georgia" panose="02040502050405020303" pitchFamily="18" charset="0"/>
                <a:cs typeface="Segoe UI" panose="020B0502040204020203" pitchFamily="34" charset="0"/>
              </a:rPr>
              <a:t>The decision stays human.</a:t>
            </a:r>
          </a:p>
        </p:txBody>
      </p:sp>
      <p:sp>
        <p:nvSpPr>
          <p:cNvPr id="4" name="shape-232">
            <a:extLst>
              <a:ext uri="{FF2B5EF4-FFF2-40B4-BE49-F238E27FC236}">
                <a16:creationId xmlns:a16="http://schemas.microsoft.com/office/drawing/2014/main" id="{A69369A1-1BE6-6D5B-790B-5BFE2867F06F}"/>
              </a:ext>
            </a:extLst>
          </p:cNvPr>
          <p:cNvSpPr/>
          <p:nvPr/>
        </p:nvSpPr>
        <p:spPr>
          <a:xfrm>
            <a:off x="711200" y="1625600"/>
            <a:ext cx="2514600" cy="5588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xt-233">
            <a:extLst>
              <a:ext uri="{FF2B5EF4-FFF2-40B4-BE49-F238E27FC236}">
                <a16:creationId xmlns:a16="http://schemas.microsoft.com/office/drawing/2014/main" id="{A97709EA-D892-7C33-0729-44BF02D358A8}"/>
              </a:ext>
            </a:extLst>
          </p:cNvPr>
          <p:cNvSpPr txBox="1"/>
          <p:nvPr/>
        </p:nvSpPr>
        <p:spPr>
          <a:xfrm>
            <a:off x="863600" y="1625600"/>
            <a:ext cx="381000" cy="558800"/>
          </a:xfrm>
          <a:prstGeom prst="rect">
            <a:avLst/>
          </a:prstGeom>
          <a:noFill/>
        </p:spPr>
        <p:txBody>
          <a:bodyPr vert="horz" wrap="square" lIns="0" tIns="0" rIns="0" bIns="0" rtlCol="0" anchor="ctr">
            <a:noAutofit/>
          </a:bodyPr>
          <a:lstStyle/>
          <a:p>
            <a:r>
              <a:rPr lang="en-US" sz="1000">
                <a:solidFill>
                  <a:srgbClr val="2A665F"/>
                </a:solidFill>
                <a:latin typeface="Consolas" panose="020B0609020204030204" pitchFamily="49" charset="0"/>
                <a:cs typeface="Segoe UI" panose="020B0502040204020203" pitchFamily="34" charset="0"/>
              </a:rPr>
              <a:t>01</a:t>
            </a:r>
          </a:p>
        </p:txBody>
      </p:sp>
      <p:sp>
        <p:nvSpPr>
          <p:cNvPr id="6" name="txt-234">
            <a:extLst>
              <a:ext uri="{FF2B5EF4-FFF2-40B4-BE49-F238E27FC236}">
                <a16:creationId xmlns:a16="http://schemas.microsoft.com/office/drawing/2014/main" id="{39D63517-65D9-ADF1-B7E3-FD7FA6349FDA}"/>
              </a:ext>
            </a:extLst>
          </p:cNvPr>
          <p:cNvSpPr txBox="1"/>
          <p:nvPr/>
        </p:nvSpPr>
        <p:spPr>
          <a:xfrm>
            <a:off x="1219200" y="1625600"/>
            <a:ext cx="1930400" cy="558800"/>
          </a:xfrm>
          <a:prstGeom prst="rect">
            <a:avLst/>
          </a:prstGeom>
          <a:noFill/>
        </p:spPr>
        <p:txBody>
          <a:bodyPr vert="horz" wrap="square" lIns="0" tIns="0" rIns="0" bIns="0" rtlCol="0" anchor="ctr">
            <a:noAutofit/>
          </a:bodyPr>
          <a:lstStyle/>
          <a:p>
            <a:r>
              <a:rPr lang="en-US" sz="1600">
                <a:solidFill>
                  <a:srgbClr val="0A1A2C"/>
                </a:solidFill>
                <a:latin typeface="Georgia" panose="02040502050405020303" pitchFamily="18" charset="0"/>
                <a:cs typeface="Segoe UI" panose="020B0502040204020203" pitchFamily="34" charset="0"/>
              </a:rPr>
              <a:t>Interpretation</a:t>
            </a:r>
          </a:p>
        </p:txBody>
      </p:sp>
      <p:cxnSp>
        <p:nvCxnSpPr>
          <p:cNvPr id="7" name="rule-235">
            <a:extLst>
              <a:ext uri="{FF2B5EF4-FFF2-40B4-BE49-F238E27FC236}">
                <a16:creationId xmlns:a16="http://schemas.microsoft.com/office/drawing/2014/main" id="{11D8D4FD-8E0B-FC17-8F23-074D1BABA933}"/>
              </a:ext>
            </a:extLst>
          </p:cNvPr>
          <p:cNvCxnSpPr/>
          <p:nvPr/>
        </p:nvCxnSpPr>
        <p:spPr>
          <a:xfrm>
            <a:off x="3238500" y="1905000"/>
            <a:ext cx="152400" cy="0"/>
          </a:xfrm>
          <a:prstGeom prst="line">
            <a:avLst/>
          </a:prstGeom>
          <a:ln w="15875">
            <a:solidFill>
              <a:srgbClr val="2A66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shape-236">
            <a:extLst>
              <a:ext uri="{FF2B5EF4-FFF2-40B4-BE49-F238E27FC236}">
                <a16:creationId xmlns:a16="http://schemas.microsoft.com/office/drawing/2014/main" id="{8724CFFF-DB34-2342-0FA3-63A08311FE7B}"/>
              </a:ext>
            </a:extLst>
          </p:cNvPr>
          <p:cNvSpPr/>
          <p:nvPr/>
        </p:nvSpPr>
        <p:spPr>
          <a:xfrm>
            <a:off x="3403600" y="1625600"/>
            <a:ext cx="2514600" cy="5588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xt-237">
            <a:extLst>
              <a:ext uri="{FF2B5EF4-FFF2-40B4-BE49-F238E27FC236}">
                <a16:creationId xmlns:a16="http://schemas.microsoft.com/office/drawing/2014/main" id="{3EA43479-AB09-9889-0E1E-E1E16320D3CA}"/>
              </a:ext>
            </a:extLst>
          </p:cNvPr>
          <p:cNvSpPr txBox="1"/>
          <p:nvPr/>
        </p:nvSpPr>
        <p:spPr>
          <a:xfrm>
            <a:off x="3556000" y="1625600"/>
            <a:ext cx="381000" cy="558800"/>
          </a:xfrm>
          <a:prstGeom prst="rect">
            <a:avLst/>
          </a:prstGeom>
          <a:noFill/>
        </p:spPr>
        <p:txBody>
          <a:bodyPr vert="horz" wrap="square" lIns="0" tIns="0" rIns="0" bIns="0" rtlCol="0" anchor="ctr">
            <a:noAutofit/>
          </a:bodyPr>
          <a:lstStyle/>
          <a:p>
            <a:r>
              <a:rPr lang="en-US" sz="1000">
                <a:solidFill>
                  <a:srgbClr val="2A665F"/>
                </a:solidFill>
                <a:latin typeface="Consolas" panose="020B0609020204030204" pitchFamily="49" charset="0"/>
                <a:cs typeface="Segoe UI" panose="020B0502040204020203" pitchFamily="34" charset="0"/>
              </a:rPr>
              <a:t>02</a:t>
            </a:r>
          </a:p>
        </p:txBody>
      </p:sp>
      <p:sp>
        <p:nvSpPr>
          <p:cNvPr id="10" name="txt-238">
            <a:extLst>
              <a:ext uri="{FF2B5EF4-FFF2-40B4-BE49-F238E27FC236}">
                <a16:creationId xmlns:a16="http://schemas.microsoft.com/office/drawing/2014/main" id="{F795C37D-92D4-8323-44A1-F58D276FB265}"/>
              </a:ext>
            </a:extLst>
          </p:cNvPr>
          <p:cNvSpPr txBox="1"/>
          <p:nvPr/>
        </p:nvSpPr>
        <p:spPr>
          <a:xfrm>
            <a:off x="3911600" y="1625600"/>
            <a:ext cx="1930400" cy="558800"/>
          </a:xfrm>
          <a:prstGeom prst="rect">
            <a:avLst/>
          </a:prstGeom>
          <a:noFill/>
        </p:spPr>
        <p:txBody>
          <a:bodyPr vert="horz" wrap="square" lIns="0" tIns="0" rIns="0" bIns="0" rtlCol="0" anchor="ctr">
            <a:noAutofit/>
          </a:bodyPr>
          <a:lstStyle/>
          <a:p>
            <a:r>
              <a:rPr lang="en-US" sz="1600">
                <a:solidFill>
                  <a:srgbClr val="0A1A2C"/>
                </a:solidFill>
                <a:latin typeface="Georgia" panose="02040502050405020303" pitchFamily="18" charset="0"/>
                <a:cs typeface="Segoe UI" panose="020B0502040204020203" pitchFamily="34" charset="0"/>
              </a:rPr>
              <a:t>Review</a:t>
            </a:r>
          </a:p>
        </p:txBody>
      </p:sp>
      <p:cxnSp>
        <p:nvCxnSpPr>
          <p:cNvPr id="11" name="rule-239">
            <a:extLst>
              <a:ext uri="{FF2B5EF4-FFF2-40B4-BE49-F238E27FC236}">
                <a16:creationId xmlns:a16="http://schemas.microsoft.com/office/drawing/2014/main" id="{D587DB9E-BF03-42A3-54D5-EDBD8E5CBCC2}"/>
              </a:ext>
            </a:extLst>
          </p:cNvPr>
          <p:cNvCxnSpPr/>
          <p:nvPr/>
        </p:nvCxnSpPr>
        <p:spPr>
          <a:xfrm>
            <a:off x="5930900" y="1905000"/>
            <a:ext cx="152400" cy="0"/>
          </a:xfrm>
          <a:prstGeom prst="line">
            <a:avLst/>
          </a:prstGeom>
          <a:ln w="15875">
            <a:solidFill>
              <a:srgbClr val="2A66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shape-240">
            <a:extLst>
              <a:ext uri="{FF2B5EF4-FFF2-40B4-BE49-F238E27FC236}">
                <a16:creationId xmlns:a16="http://schemas.microsoft.com/office/drawing/2014/main" id="{3A6B9712-B758-3495-DA28-37D76C5A2E8C}"/>
              </a:ext>
            </a:extLst>
          </p:cNvPr>
          <p:cNvSpPr/>
          <p:nvPr/>
        </p:nvSpPr>
        <p:spPr>
          <a:xfrm>
            <a:off x="6096000" y="1625600"/>
            <a:ext cx="2514600" cy="5588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xt-241">
            <a:extLst>
              <a:ext uri="{FF2B5EF4-FFF2-40B4-BE49-F238E27FC236}">
                <a16:creationId xmlns:a16="http://schemas.microsoft.com/office/drawing/2014/main" id="{86E0E5D6-6779-2CC9-28D7-F7E993B0691D}"/>
              </a:ext>
            </a:extLst>
          </p:cNvPr>
          <p:cNvSpPr txBox="1"/>
          <p:nvPr/>
        </p:nvSpPr>
        <p:spPr>
          <a:xfrm>
            <a:off x="6248400" y="1625600"/>
            <a:ext cx="381000" cy="558800"/>
          </a:xfrm>
          <a:prstGeom prst="rect">
            <a:avLst/>
          </a:prstGeom>
          <a:noFill/>
        </p:spPr>
        <p:txBody>
          <a:bodyPr vert="horz" wrap="square" lIns="0" tIns="0" rIns="0" bIns="0" rtlCol="0" anchor="ctr">
            <a:noAutofit/>
          </a:bodyPr>
          <a:lstStyle/>
          <a:p>
            <a:r>
              <a:rPr lang="en-US" sz="1000">
                <a:solidFill>
                  <a:srgbClr val="2A665F"/>
                </a:solidFill>
                <a:latin typeface="Consolas" panose="020B0609020204030204" pitchFamily="49" charset="0"/>
                <a:cs typeface="Segoe UI" panose="020B0502040204020203" pitchFamily="34" charset="0"/>
              </a:rPr>
              <a:t>03</a:t>
            </a:r>
          </a:p>
        </p:txBody>
      </p:sp>
      <p:sp>
        <p:nvSpPr>
          <p:cNvPr id="14" name="txt-242">
            <a:extLst>
              <a:ext uri="{FF2B5EF4-FFF2-40B4-BE49-F238E27FC236}">
                <a16:creationId xmlns:a16="http://schemas.microsoft.com/office/drawing/2014/main" id="{43553CCF-B6B7-1174-35E8-2D8CC5825E47}"/>
              </a:ext>
            </a:extLst>
          </p:cNvPr>
          <p:cNvSpPr txBox="1"/>
          <p:nvPr/>
        </p:nvSpPr>
        <p:spPr>
          <a:xfrm>
            <a:off x="6604000" y="1625600"/>
            <a:ext cx="1930400" cy="558800"/>
          </a:xfrm>
          <a:prstGeom prst="rect">
            <a:avLst/>
          </a:prstGeom>
          <a:noFill/>
        </p:spPr>
        <p:txBody>
          <a:bodyPr vert="horz" wrap="square" lIns="0" tIns="0" rIns="0" bIns="0" rtlCol="0" anchor="ctr">
            <a:noAutofit/>
          </a:bodyPr>
          <a:lstStyle/>
          <a:p>
            <a:r>
              <a:rPr lang="en-US" sz="1600">
                <a:solidFill>
                  <a:srgbClr val="0A1A2C"/>
                </a:solidFill>
                <a:latin typeface="Georgia" panose="02040502050405020303" pitchFamily="18" charset="0"/>
                <a:cs typeface="Segoe UI" panose="020B0502040204020203" pitchFamily="34" charset="0"/>
              </a:rPr>
              <a:t>Approval</a:t>
            </a:r>
          </a:p>
        </p:txBody>
      </p:sp>
      <p:cxnSp>
        <p:nvCxnSpPr>
          <p:cNvPr id="15" name="rule-243">
            <a:extLst>
              <a:ext uri="{FF2B5EF4-FFF2-40B4-BE49-F238E27FC236}">
                <a16:creationId xmlns:a16="http://schemas.microsoft.com/office/drawing/2014/main" id="{F84C9803-DCA8-F913-942E-591EC2E6D9C4}"/>
              </a:ext>
            </a:extLst>
          </p:cNvPr>
          <p:cNvCxnSpPr/>
          <p:nvPr/>
        </p:nvCxnSpPr>
        <p:spPr>
          <a:xfrm>
            <a:off x="8623300" y="1905000"/>
            <a:ext cx="152400" cy="0"/>
          </a:xfrm>
          <a:prstGeom prst="line">
            <a:avLst/>
          </a:prstGeom>
          <a:ln w="15875">
            <a:solidFill>
              <a:srgbClr val="2A66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hape-244">
            <a:extLst>
              <a:ext uri="{FF2B5EF4-FFF2-40B4-BE49-F238E27FC236}">
                <a16:creationId xmlns:a16="http://schemas.microsoft.com/office/drawing/2014/main" id="{51CEE867-54FD-5470-151A-D991EDAECF3D}"/>
              </a:ext>
            </a:extLst>
          </p:cNvPr>
          <p:cNvSpPr/>
          <p:nvPr/>
        </p:nvSpPr>
        <p:spPr>
          <a:xfrm>
            <a:off x="8788400" y="1625600"/>
            <a:ext cx="2514600" cy="558800"/>
          </a:xfrm>
          <a:prstGeom prst="rect">
            <a:avLst/>
          </a:prstGeom>
          <a:solidFill>
            <a:srgbClr val="2A665F"/>
          </a:solidFill>
          <a:ln w="9525">
            <a:solidFill>
              <a:srgbClr val="2A66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xt-245">
            <a:extLst>
              <a:ext uri="{FF2B5EF4-FFF2-40B4-BE49-F238E27FC236}">
                <a16:creationId xmlns:a16="http://schemas.microsoft.com/office/drawing/2014/main" id="{3B9DA1CF-78AA-3587-D78F-E5B57393DC9E}"/>
              </a:ext>
            </a:extLst>
          </p:cNvPr>
          <p:cNvSpPr txBox="1"/>
          <p:nvPr/>
        </p:nvSpPr>
        <p:spPr>
          <a:xfrm>
            <a:off x="8940800" y="1625600"/>
            <a:ext cx="381000" cy="558800"/>
          </a:xfrm>
          <a:prstGeom prst="rect">
            <a:avLst/>
          </a:prstGeom>
          <a:noFill/>
        </p:spPr>
        <p:txBody>
          <a:bodyPr vert="horz" wrap="square" lIns="0" tIns="0" rIns="0" bIns="0" rtlCol="0" anchor="ctr">
            <a:noAutofit/>
          </a:bodyPr>
          <a:lstStyle/>
          <a:p>
            <a:r>
              <a:rPr lang="en-US" sz="1000">
                <a:solidFill>
                  <a:srgbClr val="8FD0C8"/>
                </a:solidFill>
                <a:latin typeface="Consolas" panose="020B0609020204030204" pitchFamily="49" charset="0"/>
                <a:cs typeface="Segoe UI" panose="020B0502040204020203" pitchFamily="34" charset="0"/>
              </a:rPr>
              <a:t>04</a:t>
            </a:r>
          </a:p>
        </p:txBody>
      </p:sp>
      <p:sp>
        <p:nvSpPr>
          <p:cNvPr id="18" name="txt-246">
            <a:extLst>
              <a:ext uri="{FF2B5EF4-FFF2-40B4-BE49-F238E27FC236}">
                <a16:creationId xmlns:a16="http://schemas.microsoft.com/office/drawing/2014/main" id="{3ED07CB5-7D54-7ECA-D87C-A259CFF0750F}"/>
              </a:ext>
            </a:extLst>
          </p:cNvPr>
          <p:cNvSpPr txBox="1"/>
          <p:nvPr/>
        </p:nvSpPr>
        <p:spPr>
          <a:xfrm>
            <a:off x="9296400" y="1625600"/>
            <a:ext cx="1930400" cy="558800"/>
          </a:xfrm>
          <a:prstGeom prst="rect">
            <a:avLst/>
          </a:prstGeom>
          <a:noFill/>
        </p:spPr>
        <p:txBody>
          <a:bodyPr vert="horz" wrap="square" lIns="0" tIns="0" rIns="0" bIns="0" rtlCol="0" anchor="ctr">
            <a:noAutofit/>
          </a:bodyPr>
          <a:lstStyle/>
          <a:p>
            <a:r>
              <a:rPr lang="en-US" sz="1600">
                <a:solidFill>
                  <a:srgbClr val="FFFFFF"/>
                </a:solidFill>
                <a:latin typeface="Georgia" panose="02040502050405020303" pitchFamily="18" charset="0"/>
                <a:cs typeface="Segoe UI" panose="020B0502040204020203" pitchFamily="34" charset="0"/>
              </a:rPr>
              <a:t>Conditional referral draft</a:t>
            </a:r>
          </a:p>
        </p:txBody>
      </p:sp>
      <p:pic>
        <p:nvPicPr>
          <p:cNvPr id="20" name="pic-247" descr="Screenshot of the Review Queue showing cases, interpretations, discrepancy flags and the provenance ledger.">
            <a:extLst>
              <a:ext uri="{FF2B5EF4-FFF2-40B4-BE49-F238E27FC236}">
                <a16:creationId xmlns:a16="http://schemas.microsoft.com/office/drawing/2014/main" id="{8598728B-5549-F5E5-B7BE-840D282A6E7E}"/>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a:xfrm>
            <a:off x="711200" y="2413000"/>
            <a:ext cx="5207000" cy="2708844"/>
          </a:xfrm>
          <a:prstGeom prst="rect">
            <a:avLst/>
          </a:prstGeom>
          <a:ln w="9525">
            <a:solidFill>
              <a:srgbClr val="CFC6B3"/>
            </a:solidFill>
          </a:ln>
        </p:spPr>
      </p:pic>
      <p:pic>
        <p:nvPicPr>
          <p:cNvPr id="22" name="pic-248" descr="Screenshot of CareBridge showing a synthetic referral letter drafted from an approved disposition.">
            <a:extLst>
              <a:ext uri="{FF2B5EF4-FFF2-40B4-BE49-F238E27FC236}">
                <a16:creationId xmlns:a16="http://schemas.microsoft.com/office/drawing/2014/main" id="{674ED044-0AAB-C2D5-755A-5FA6B15F066E}"/>
              </a:ext>
            </a:extLst>
          </p:cNvPr>
          <p:cNvPicPr>
            <a:picLocks/>
          </p:cNvPicPr>
          <p:nvPr/>
        </p:nvPicPr>
        <p:blipFill>
          <a:blip r:embed="rId4">
            <a:extLst>
              <a:ext uri="{28A0092B-C50C-407E-A947-70E740481C1C}">
                <a14:useLocalDpi xmlns:a14="http://schemas.microsoft.com/office/drawing/2010/main" val="0"/>
              </a:ext>
            </a:extLst>
          </a:blip>
          <a:srcRect t="-1" b="-1"/>
          <a:stretch>
            <a:fillRect/>
          </a:stretch>
        </p:blipFill>
        <p:spPr>
          <a:xfrm>
            <a:off x="6273800" y="2413000"/>
            <a:ext cx="5207000" cy="3165334"/>
          </a:xfrm>
          <a:prstGeom prst="rect">
            <a:avLst/>
          </a:prstGeom>
          <a:ln w="9525">
            <a:solidFill>
              <a:srgbClr val="CFC6B3"/>
            </a:solidFill>
          </a:ln>
        </p:spPr>
      </p:pic>
      <p:sp>
        <p:nvSpPr>
          <p:cNvPr id="23" name="txt-249">
            <a:extLst>
              <a:ext uri="{FF2B5EF4-FFF2-40B4-BE49-F238E27FC236}">
                <a16:creationId xmlns:a16="http://schemas.microsoft.com/office/drawing/2014/main" id="{A476B866-5F1D-5A0D-37C5-08C71ECAF18B}"/>
              </a:ext>
            </a:extLst>
          </p:cNvPr>
          <p:cNvSpPr txBox="1"/>
          <p:nvPr/>
        </p:nvSpPr>
        <p:spPr>
          <a:xfrm>
            <a:off x="711200" y="5198044"/>
            <a:ext cx="52070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LIVE APPLICATION · Review Queue · discrepancy flags (sample records)</a:t>
            </a:r>
          </a:p>
        </p:txBody>
      </p:sp>
      <p:sp>
        <p:nvSpPr>
          <p:cNvPr id="24" name="txt-250">
            <a:extLst>
              <a:ext uri="{FF2B5EF4-FFF2-40B4-BE49-F238E27FC236}">
                <a16:creationId xmlns:a16="http://schemas.microsoft.com/office/drawing/2014/main" id="{57467EEB-8D14-B49D-E6E6-D7B70FC96621}"/>
              </a:ext>
            </a:extLst>
          </p:cNvPr>
          <p:cNvSpPr txBox="1"/>
          <p:nvPr/>
        </p:nvSpPr>
        <p:spPr>
          <a:xfrm>
            <a:off x="6273800" y="5654534"/>
            <a:ext cx="52070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LIVE APPLICATION · CareBridge · drafted only after approval</a:t>
            </a:r>
          </a:p>
        </p:txBody>
      </p:sp>
      <p:sp>
        <p:nvSpPr>
          <p:cNvPr id="25" name="txt-251">
            <a:extLst>
              <a:ext uri="{FF2B5EF4-FFF2-40B4-BE49-F238E27FC236}">
                <a16:creationId xmlns:a16="http://schemas.microsoft.com/office/drawing/2014/main" id="{AD376376-665A-54F4-923B-1EEA55AD7244}"/>
              </a:ext>
            </a:extLst>
          </p:cNvPr>
          <p:cNvSpPr txBox="1"/>
          <p:nvPr/>
        </p:nvSpPr>
        <p:spPr>
          <a:xfrm>
            <a:off x="711200" y="6045200"/>
            <a:ext cx="10922000" cy="355600"/>
          </a:xfrm>
          <a:prstGeom prst="rect">
            <a:avLst/>
          </a:prstGeom>
          <a:noFill/>
        </p:spPr>
        <p:txBody>
          <a:bodyPr vert="horz" wrap="square" lIns="0" tIns="0" rIns="0" bIns="0" rtlCol="0" anchor="t">
            <a:noAutofit/>
          </a:bodyPr>
          <a:lstStyle/>
          <a:p>
            <a:r>
              <a:rPr lang="en-US" sz="1500">
                <a:solidFill>
                  <a:srgbClr val="0A1A2C"/>
                </a:solidFill>
                <a:latin typeface="Georgia" panose="02040502050405020303" pitchFamily="18" charset="0"/>
                <a:cs typeface="Segoe UI" panose="020B0502040204020203" pitchFamily="34" charset="0"/>
              </a:rPr>
              <a:t>It drafts a referral only after an eligible disposition is approved. </a:t>
            </a:r>
            <a:r>
              <a:rPr lang="en-US" sz="1500" b="1">
                <a:solidFill>
                  <a:srgbClr val="A94632"/>
                </a:solidFill>
                <a:latin typeface="Georgia" panose="02040502050405020303" pitchFamily="18" charset="0"/>
                <a:cs typeface="Segoe UI" panose="020B0502040204020203" pitchFamily="34" charset="0"/>
              </a:rPr>
              <a:t>It does not decide urgency or treatment.</a:t>
            </a:r>
          </a:p>
        </p:txBody>
      </p:sp>
      <p:sp>
        <p:nvSpPr>
          <p:cNvPr id="26" name="txt-252">
            <a:extLst>
              <a:ext uri="{FF2B5EF4-FFF2-40B4-BE49-F238E27FC236}">
                <a16:creationId xmlns:a16="http://schemas.microsoft.com/office/drawing/2014/main" id="{667475EC-B55B-C91E-B429-3BFF71CDCF1A}"/>
              </a:ext>
            </a:extLst>
          </p:cNvPr>
          <p:cNvSpPr txBox="1"/>
          <p:nvPr/>
        </p:nvSpPr>
        <p:spPr>
          <a:xfrm>
            <a:off x="711200" y="6527800"/>
            <a:ext cx="8890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DIAGNOSTIC INTELLIGENCE LAB · AL DHAFRA HEALTH FORUM · EDUCATIONAL PROTOTYPE · NOT A MEDICAL DEVICE</a:t>
            </a:r>
          </a:p>
        </p:txBody>
      </p:sp>
      <p:sp>
        <p:nvSpPr>
          <p:cNvPr id="27" name="txt-253">
            <a:extLst>
              <a:ext uri="{FF2B5EF4-FFF2-40B4-BE49-F238E27FC236}">
                <a16:creationId xmlns:a16="http://schemas.microsoft.com/office/drawing/2014/main" id="{2A59548B-700B-1FAB-D9D0-866DF7E74420}"/>
              </a:ext>
            </a:extLst>
          </p:cNvPr>
          <p:cNvSpPr txBox="1"/>
          <p:nvPr/>
        </p:nvSpPr>
        <p:spPr>
          <a:xfrm>
            <a:off x="10972800" y="6527800"/>
            <a:ext cx="5080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cs typeface="Segoe UI" panose="020B0502040204020203" pitchFamily="34" charset="0"/>
              </a:rPr>
              <a:t>09</a:t>
            </a:r>
          </a:p>
        </p:txBody>
      </p:sp>
    </p:spTree>
    <p:extLst>
      <p:ext uri="{BB962C8B-B14F-4D97-AF65-F5344CB8AC3E}">
        <p14:creationId xmlns:p14="http://schemas.microsoft.com/office/powerpoint/2010/main" val="532974255"/>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254">
            <a:extLst>
              <a:ext uri="{FF2B5EF4-FFF2-40B4-BE49-F238E27FC236}">
                <a16:creationId xmlns:a16="http://schemas.microsoft.com/office/drawing/2014/main" id="{FE619531-F93F-2185-96D7-20A62302CC37}"/>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09 · RESPONSIBLE AI BY DESIGN</a:t>
            </a:r>
          </a:p>
        </p:txBody>
      </p:sp>
      <p:sp>
        <p:nvSpPr>
          <p:cNvPr id="3" name="txt-255">
            <a:extLst>
              <a:ext uri="{FF2B5EF4-FFF2-40B4-BE49-F238E27FC236}">
                <a16:creationId xmlns:a16="http://schemas.microsoft.com/office/drawing/2014/main" id="{71698886-4648-A758-AAE9-8986A6FD1925}"/>
              </a:ext>
            </a:extLst>
          </p:cNvPr>
          <p:cNvSpPr txBox="1"/>
          <p:nvPr/>
        </p:nvSpPr>
        <p:spPr>
          <a:xfrm>
            <a:off x="711200" y="685800"/>
            <a:ext cx="8890000" cy="1143000"/>
          </a:xfrm>
          <a:prstGeom prst="rect">
            <a:avLst/>
          </a:prstGeom>
          <a:noFill/>
        </p:spPr>
        <p:txBody>
          <a:bodyPr vert="horz" wrap="square" lIns="0" tIns="0" rIns="0" bIns="0" rtlCol="0" anchor="t">
            <a:noAutofit/>
          </a:bodyPr>
          <a:lstStyle/>
          <a:p>
            <a:pPr>
              <a:lnSpc>
                <a:spcPct val="95000"/>
              </a:lnSpc>
            </a:pPr>
            <a:r>
              <a:rPr lang="en-US" sz="3400">
                <a:solidFill>
                  <a:srgbClr val="0A1A2C"/>
                </a:solidFill>
                <a:latin typeface="Georgia" panose="02040502050405020303" pitchFamily="18" charset="0"/>
                <a:cs typeface="Segoe UI" panose="020B0502040204020203" pitchFamily="34" charset="0"/>
              </a:rPr>
              <a:t>Safeguards that are already built.</a:t>
            </a:r>
          </a:p>
        </p:txBody>
      </p:sp>
      <p:sp>
        <p:nvSpPr>
          <p:cNvPr id="4" name="shape-256">
            <a:extLst>
              <a:ext uri="{FF2B5EF4-FFF2-40B4-BE49-F238E27FC236}">
                <a16:creationId xmlns:a16="http://schemas.microsoft.com/office/drawing/2014/main" id="{D150BF2B-2D9E-E170-C720-4E199DE8052E}"/>
              </a:ext>
            </a:extLst>
          </p:cNvPr>
          <p:cNvSpPr/>
          <p:nvPr/>
        </p:nvSpPr>
        <p:spPr>
          <a:xfrm>
            <a:off x="711200" y="1752600"/>
            <a:ext cx="3352800" cy="38100"/>
          </a:xfrm>
          <a:prstGeom prst="rect">
            <a:avLst/>
          </a:prstGeom>
          <a:solidFill>
            <a:srgbClr val="A946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xt-257">
            <a:extLst>
              <a:ext uri="{FF2B5EF4-FFF2-40B4-BE49-F238E27FC236}">
                <a16:creationId xmlns:a16="http://schemas.microsoft.com/office/drawing/2014/main" id="{D489D2FE-7AC6-AFCA-B6F3-F137DE216A10}"/>
              </a:ext>
            </a:extLst>
          </p:cNvPr>
          <p:cNvSpPr txBox="1"/>
          <p:nvPr/>
        </p:nvSpPr>
        <p:spPr>
          <a:xfrm>
            <a:off x="711200" y="1930400"/>
            <a:ext cx="3352800" cy="330200"/>
          </a:xfrm>
          <a:prstGeom prst="rect">
            <a:avLst/>
          </a:prstGeom>
          <a:noFill/>
        </p:spPr>
        <p:txBody>
          <a:bodyPr vert="horz" wrap="square" lIns="0" tIns="0" rIns="0" bIns="0" rtlCol="0" anchor="t">
            <a:noAutofit/>
          </a:bodyPr>
          <a:lstStyle/>
          <a:p>
            <a:r>
              <a:rPr lang="en-US" sz="1300">
                <a:solidFill>
                  <a:srgbClr val="A94632"/>
                </a:solidFill>
                <a:latin typeface="Consolas" panose="020B0609020204030204" pitchFamily="49" charset="0"/>
                <a:cs typeface="Segoe UI" panose="020B0502040204020203" pitchFamily="34" charset="0"/>
              </a:rPr>
              <a:t>SAFETY</a:t>
            </a:r>
          </a:p>
        </p:txBody>
      </p:sp>
      <p:sp>
        <p:nvSpPr>
          <p:cNvPr id="6" name="txt-258">
            <a:extLst>
              <a:ext uri="{FF2B5EF4-FFF2-40B4-BE49-F238E27FC236}">
                <a16:creationId xmlns:a16="http://schemas.microsoft.com/office/drawing/2014/main" id="{C6610DE9-4B02-B562-59D3-39350BE72533}"/>
              </a:ext>
            </a:extLst>
          </p:cNvPr>
          <p:cNvSpPr txBox="1"/>
          <p:nvPr/>
        </p:nvSpPr>
        <p:spPr>
          <a:xfrm>
            <a:off x="711200" y="2362200"/>
            <a:ext cx="3352800" cy="508000"/>
          </a:xfrm>
          <a:prstGeom prst="rect">
            <a:avLst/>
          </a:prstGeom>
          <a:noFill/>
        </p:spPr>
        <p:txBody>
          <a:bodyPr vert="horz" wrap="square" lIns="0" tIns="0" rIns="0" bIns="0" rtlCol="0" anchor="t">
            <a:noAutofit/>
          </a:bodyPr>
          <a:lstStyle/>
          <a:p>
            <a:r>
              <a:rPr lang="en-US" sz="3000" i="1">
                <a:solidFill>
                  <a:srgbClr val="CFC6B3"/>
                </a:solidFill>
                <a:latin typeface="Georgia" panose="02040502050405020303" pitchFamily="18" charset="0"/>
                <a:cs typeface="Segoe UI" panose="020B0502040204020203" pitchFamily="34" charset="0"/>
              </a:rPr>
              <a:t>01</a:t>
            </a:r>
          </a:p>
        </p:txBody>
      </p:sp>
      <p:sp>
        <p:nvSpPr>
          <p:cNvPr id="7" name="txt-259">
            <a:extLst>
              <a:ext uri="{FF2B5EF4-FFF2-40B4-BE49-F238E27FC236}">
                <a16:creationId xmlns:a16="http://schemas.microsoft.com/office/drawing/2014/main" id="{F1A444E5-E096-DAAE-4401-1B03983B023A}"/>
              </a:ext>
            </a:extLst>
          </p:cNvPr>
          <p:cNvSpPr txBox="1"/>
          <p:nvPr/>
        </p:nvSpPr>
        <p:spPr>
          <a:xfrm>
            <a:off x="711200" y="2946400"/>
            <a:ext cx="3352800" cy="2794000"/>
          </a:xfrm>
          <a:prstGeom prst="rect">
            <a:avLst/>
          </a:prstGeom>
          <a:noFill/>
        </p:spPr>
        <p:txBody>
          <a:bodyPr vert="horz" wrap="square" lIns="0" tIns="0" rIns="0" bIns="0" rtlCol="0" anchor="t">
            <a:noAutofit/>
          </a:bodyPr>
          <a:lstStyle/>
          <a:p>
            <a:pPr marL="177800" indent="-177800">
              <a:spcAft>
                <a:spcPts val="800"/>
              </a:spcAft>
              <a:buClr>
                <a:srgbClr val="3B4A5C"/>
              </a:buClr>
              <a:buFont typeface="+mj-lt"/>
              <a:buChar char="•"/>
            </a:pPr>
            <a:r>
              <a:rPr lang="en-US" sz="1500">
                <a:solidFill>
                  <a:srgbClr val="3B4A5C"/>
                </a:solidFill>
                <a:latin typeface="Calibri" panose="020F0502020204030204" pitchFamily="34" charset="0"/>
                <a:cs typeface="Segoe UI" panose="020B0502040204020203" pitchFamily="34" charset="0"/>
              </a:rPr>
              <a:t>Synthetic cases only</a:t>
            </a:r>
          </a:p>
          <a:p>
            <a:pPr marL="177800" indent="-177800">
              <a:spcAft>
                <a:spcPts val="800"/>
              </a:spcAft>
              <a:buClr>
                <a:srgbClr val="3B4A5C"/>
              </a:buClr>
              <a:buFont typeface="+mj-lt"/>
              <a:buChar char="•"/>
            </a:pPr>
            <a:r>
              <a:rPr lang="en-US" sz="1500">
                <a:solidFill>
                  <a:srgbClr val="3B4A5C"/>
                </a:solidFill>
                <a:latin typeface="Calibri" panose="020F0502020204030204" pitchFamily="34" charset="0"/>
                <a:cs typeface="Segoe UI" panose="020B0502040204020203" pitchFamily="34" charset="0"/>
              </a:rPr>
              <a:t>No real patient uploads</a:t>
            </a:r>
          </a:p>
          <a:p>
            <a:pPr marL="177800" indent="-177800">
              <a:spcAft>
                <a:spcPts val="800"/>
              </a:spcAft>
              <a:buClr>
                <a:srgbClr val="3B4A5C"/>
              </a:buClr>
              <a:buFont typeface="+mj-lt"/>
              <a:buChar char="•"/>
            </a:pPr>
            <a:r>
              <a:rPr lang="en-US" sz="1500">
                <a:solidFill>
                  <a:srgbClr val="3B4A5C"/>
                </a:solidFill>
                <a:latin typeface="Calibri" panose="020F0502020204030204" pitchFamily="34" charset="0"/>
                <a:cs typeface="Segoe UI" panose="020B0502040204020203" pitchFamily="34" charset="0"/>
              </a:rPr>
              <a:t>No fabricated AI predictions</a:t>
            </a:r>
          </a:p>
          <a:p>
            <a:pPr marL="177800" indent="-177800">
              <a:spcAft>
                <a:spcPts val="800"/>
              </a:spcAft>
              <a:buClr>
                <a:srgbClr val="3B4A5C"/>
              </a:buClr>
              <a:buFont typeface="+mj-lt"/>
              <a:buChar char="•"/>
            </a:pPr>
            <a:r>
              <a:rPr lang="en-US" sz="1500">
                <a:solidFill>
                  <a:srgbClr val="3B4A5C"/>
                </a:solidFill>
                <a:latin typeface="Calibri" panose="020F0502020204030204" pitchFamily="34" charset="0"/>
                <a:cs typeface="Segoe UI" panose="020B0502040204020203" pitchFamily="34" charset="0"/>
              </a:rPr>
              <a:t>Image-quality awareness</a:t>
            </a:r>
          </a:p>
        </p:txBody>
      </p:sp>
      <p:sp>
        <p:nvSpPr>
          <p:cNvPr id="8" name="shape-260">
            <a:extLst>
              <a:ext uri="{FF2B5EF4-FFF2-40B4-BE49-F238E27FC236}">
                <a16:creationId xmlns:a16="http://schemas.microsoft.com/office/drawing/2014/main" id="{7E032C1F-FB96-B812-100E-EA3BD30ED5A8}"/>
              </a:ext>
            </a:extLst>
          </p:cNvPr>
          <p:cNvSpPr/>
          <p:nvPr/>
        </p:nvSpPr>
        <p:spPr>
          <a:xfrm>
            <a:off x="4368800" y="1752600"/>
            <a:ext cx="3352800" cy="38100"/>
          </a:xfrm>
          <a:prstGeom prst="rect">
            <a:avLst/>
          </a:prstGeom>
          <a:solidFill>
            <a:srgbClr val="2A665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xt-261">
            <a:extLst>
              <a:ext uri="{FF2B5EF4-FFF2-40B4-BE49-F238E27FC236}">
                <a16:creationId xmlns:a16="http://schemas.microsoft.com/office/drawing/2014/main" id="{C715354D-C40D-942A-6810-6BD6C109BD9C}"/>
              </a:ext>
            </a:extLst>
          </p:cNvPr>
          <p:cNvSpPr txBox="1"/>
          <p:nvPr/>
        </p:nvSpPr>
        <p:spPr>
          <a:xfrm>
            <a:off x="4368800" y="1930400"/>
            <a:ext cx="3352800" cy="330200"/>
          </a:xfrm>
          <a:prstGeom prst="rect">
            <a:avLst/>
          </a:prstGeom>
          <a:noFill/>
        </p:spPr>
        <p:txBody>
          <a:bodyPr vert="horz" wrap="square" lIns="0" tIns="0" rIns="0" bIns="0" rtlCol="0" anchor="t">
            <a:noAutofit/>
          </a:bodyPr>
          <a:lstStyle/>
          <a:p>
            <a:r>
              <a:rPr lang="en-US" sz="1300">
                <a:solidFill>
                  <a:srgbClr val="2A665F"/>
                </a:solidFill>
                <a:latin typeface="Consolas" panose="020B0609020204030204" pitchFamily="49" charset="0"/>
                <a:cs typeface="Segoe UI" panose="020B0502040204020203" pitchFamily="34" charset="0"/>
              </a:rPr>
              <a:t>TRANSPARENCY</a:t>
            </a:r>
          </a:p>
        </p:txBody>
      </p:sp>
      <p:sp>
        <p:nvSpPr>
          <p:cNvPr id="10" name="txt-262">
            <a:extLst>
              <a:ext uri="{FF2B5EF4-FFF2-40B4-BE49-F238E27FC236}">
                <a16:creationId xmlns:a16="http://schemas.microsoft.com/office/drawing/2014/main" id="{73FD2A63-8996-9B26-510F-F3A9DF91933C}"/>
              </a:ext>
            </a:extLst>
          </p:cNvPr>
          <p:cNvSpPr txBox="1"/>
          <p:nvPr/>
        </p:nvSpPr>
        <p:spPr>
          <a:xfrm>
            <a:off x="4368800" y="2362200"/>
            <a:ext cx="3352800" cy="508000"/>
          </a:xfrm>
          <a:prstGeom prst="rect">
            <a:avLst/>
          </a:prstGeom>
          <a:noFill/>
        </p:spPr>
        <p:txBody>
          <a:bodyPr vert="horz" wrap="square" lIns="0" tIns="0" rIns="0" bIns="0" rtlCol="0" anchor="t">
            <a:noAutofit/>
          </a:bodyPr>
          <a:lstStyle/>
          <a:p>
            <a:r>
              <a:rPr lang="en-US" sz="3000" i="1">
                <a:solidFill>
                  <a:srgbClr val="CFC6B3"/>
                </a:solidFill>
                <a:latin typeface="Georgia" panose="02040502050405020303" pitchFamily="18" charset="0"/>
                <a:cs typeface="Segoe UI" panose="020B0502040204020203" pitchFamily="34" charset="0"/>
              </a:rPr>
              <a:t>02</a:t>
            </a:r>
          </a:p>
        </p:txBody>
      </p:sp>
      <p:sp>
        <p:nvSpPr>
          <p:cNvPr id="11" name="txt-263">
            <a:extLst>
              <a:ext uri="{FF2B5EF4-FFF2-40B4-BE49-F238E27FC236}">
                <a16:creationId xmlns:a16="http://schemas.microsoft.com/office/drawing/2014/main" id="{76874395-B1A0-2539-475F-CB1F9D892A6B}"/>
              </a:ext>
            </a:extLst>
          </p:cNvPr>
          <p:cNvSpPr txBox="1"/>
          <p:nvPr/>
        </p:nvSpPr>
        <p:spPr>
          <a:xfrm>
            <a:off x="4368800" y="2946400"/>
            <a:ext cx="3352800" cy="2794000"/>
          </a:xfrm>
          <a:prstGeom prst="rect">
            <a:avLst/>
          </a:prstGeom>
          <a:noFill/>
        </p:spPr>
        <p:txBody>
          <a:bodyPr vert="horz" wrap="square" lIns="0" tIns="0" rIns="0" bIns="0" rtlCol="0" anchor="t">
            <a:noAutofit/>
          </a:bodyPr>
          <a:lstStyle/>
          <a:p>
            <a:pPr marL="177800" indent="-177800">
              <a:spcAft>
                <a:spcPts val="800"/>
              </a:spcAft>
              <a:buClr>
                <a:srgbClr val="3B4A5C"/>
              </a:buClr>
              <a:buFont typeface="+mj-lt"/>
              <a:buChar char="•"/>
            </a:pPr>
            <a:r>
              <a:rPr lang="en-US" sz="1500">
                <a:solidFill>
                  <a:srgbClr val="3B4A5C"/>
                </a:solidFill>
                <a:latin typeface="Calibri" panose="020F0502020204030204" pitchFamily="34" charset="0"/>
                <a:cs typeface="Segoe UI" panose="020B0502040204020203" pitchFamily="34" charset="0"/>
              </a:rPr>
              <a:t>Blind-first interpretation</a:t>
            </a:r>
          </a:p>
          <a:p>
            <a:pPr marL="177800" indent="-177800">
              <a:spcAft>
                <a:spcPts val="800"/>
              </a:spcAft>
              <a:buClr>
                <a:srgbClr val="3B4A5C"/>
              </a:buClr>
              <a:buFont typeface="+mj-lt"/>
              <a:buChar char="•"/>
            </a:pPr>
            <a:r>
              <a:rPr lang="en-US" sz="1500">
                <a:solidFill>
                  <a:srgbClr val="3B4A5C"/>
                </a:solidFill>
                <a:latin typeface="Calibri" panose="020F0502020204030204" pitchFamily="34" charset="0"/>
                <a:cs typeface="Segoe UI" panose="020B0502040204020203" pitchFamily="34" charset="0"/>
              </a:rPr>
              <a:t>Defined, attributed reference labels</a:t>
            </a:r>
          </a:p>
          <a:p>
            <a:pPr marL="177800" indent="-177800">
              <a:spcAft>
                <a:spcPts val="800"/>
              </a:spcAft>
              <a:buClr>
                <a:srgbClr val="3B4A5C"/>
              </a:buClr>
              <a:buFont typeface="+mj-lt"/>
              <a:buChar char="•"/>
            </a:pPr>
            <a:r>
              <a:rPr lang="en-US" sz="1500">
                <a:solidFill>
                  <a:srgbClr val="3B4A5C"/>
                </a:solidFill>
                <a:latin typeface="Calibri" panose="020F0502020204030204" pitchFamily="34" charset="0"/>
                <a:cs typeface="Segoe UI" panose="020B0502040204020203" pitchFamily="34" charset="0"/>
              </a:rPr>
              <a:t>Evaluation provenance recorded</a:t>
            </a:r>
          </a:p>
          <a:p>
            <a:pPr marL="177800" indent="-177800">
              <a:spcAft>
                <a:spcPts val="800"/>
              </a:spcAft>
              <a:buClr>
                <a:srgbClr val="3B4A5C"/>
              </a:buClr>
              <a:buFont typeface="+mj-lt"/>
              <a:buChar char="•"/>
            </a:pPr>
            <a:r>
              <a:rPr lang="en-US" sz="1500">
                <a:solidFill>
                  <a:srgbClr val="3B4A5C"/>
                </a:solidFill>
                <a:latin typeface="Calibri" panose="020F0502020204030204" pitchFamily="34" charset="0"/>
                <a:cs typeface="Segoe UI" panose="020B0502040204020203" pitchFamily="34" charset="0"/>
              </a:rPr>
              <a:t>Limitations stated on the page</a:t>
            </a:r>
          </a:p>
          <a:p>
            <a:pPr marL="177800" indent="-177800">
              <a:spcAft>
                <a:spcPts val="800"/>
              </a:spcAft>
              <a:buClr>
                <a:srgbClr val="3B4A5C"/>
              </a:buClr>
              <a:buFont typeface="+mj-lt"/>
              <a:buChar char="•"/>
            </a:pPr>
            <a:r>
              <a:rPr lang="en-US" sz="1500">
                <a:solidFill>
                  <a:srgbClr val="3B4A5C"/>
                </a:solidFill>
                <a:latin typeface="Calibri" panose="020F0502020204030204" pitchFamily="34" charset="0"/>
                <a:cs typeface="Segoe UI" panose="020B0502040204020203" pitchFamily="34" charset="0"/>
              </a:rPr>
              <a:t>English and Arabic interface</a:t>
            </a:r>
          </a:p>
        </p:txBody>
      </p:sp>
      <p:sp>
        <p:nvSpPr>
          <p:cNvPr id="12" name="shape-264">
            <a:extLst>
              <a:ext uri="{FF2B5EF4-FFF2-40B4-BE49-F238E27FC236}">
                <a16:creationId xmlns:a16="http://schemas.microsoft.com/office/drawing/2014/main" id="{CE1ABAB2-76C8-2DC2-DD24-AC38CE935A24}"/>
              </a:ext>
            </a:extLst>
          </p:cNvPr>
          <p:cNvSpPr/>
          <p:nvPr/>
        </p:nvSpPr>
        <p:spPr>
          <a:xfrm>
            <a:off x="8026400" y="1752600"/>
            <a:ext cx="3352800" cy="38100"/>
          </a:xfrm>
          <a:prstGeom prst="rect">
            <a:avLst/>
          </a:prstGeom>
          <a:solidFill>
            <a:srgbClr val="2F6FB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xt-265">
            <a:extLst>
              <a:ext uri="{FF2B5EF4-FFF2-40B4-BE49-F238E27FC236}">
                <a16:creationId xmlns:a16="http://schemas.microsoft.com/office/drawing/2014/main" id="{29D2D642-9216-C81C-20D7-57B77E1466E0}"/>
              </a:ext>
            </a:extLst>
          </p:cNvPr>
          <p:cNvSpPr txBox="1"/>
          <p:nvPr/>
        </p:nvSpPr>
        <p:spPr>
          <a:xfrm>
            <a:off x="8026400" y="1930400"/>
            <a:ext cx="3352800" cy="330200"/>
          </a:xfrm>
          <a:prstGeom prst="rect">
            <a:avLst/>
          </a:prstGeom>
          <a:noFill/>
        </p:spPr>
        <p:txBody>
          <a:bodyPr vert="horz" wrap="square" lIns="0" tIns="0" rIns="0" bIns="0" rtlCol="0" anchor="t">
            <a:noAutofit/>
          </a:bodyPr>
          <a:lstStyle/>
          <a:p>
            <a:r>
              <a:rPr lang="en-US" sz="1300">
                <a:solidFill>
                  <a:srgbClr val="2F6FB7"/>
                </a:solidFill>
                <a:latin typeface="Consolas" panose="020B0609020204030204" pitchFamily="49" charset="0"/>
                <a:cs typeface="Segoe UI" panose="020B0502040204020203" pitchFamily="34" charset="0"/>
              </a:rPr>
              <a:t>ACCOUNTABILITY</a:t>
            </a:r>
          </a:p>
        </p:txBody>
      </p:sp>
      <p:sp>
        <p:nvSpPr>
          <p:cNvPr id="14" name="txt-266">
            <a:extLst>
              <a:ext uri="{FF2B5EF4-FFF2-40B4-BE49-F238E27FC236}">
                <a16:creationId xmlns:a16="http://schemas.microsoft.com/office/drawing/2014/main" id="{11B1E118-8ACF-CD43-3540-9C7295ACC23D}"/>
              </a:ext>
            </a:extLst>
          </p:cNvPr>
          <p:cNvSpPr txBox="1"/>
          <p:nvPr/>
        </p:nvSpPr>
        <p:spPr>
          <a:xfrm>
            <a:off x="8026400" y="2362200"/>
            <a:ext cx="3352800" cy="508000"/>
          </a:xfrm>
          <a:prstGeom prst="rect">
            <a:avLst/>
          </a:prstGeom>
          <a:noFill/>
        </p:spPr>
        <p:txBody>
          <a:bodyPr vert="horz" wrap="square" lIns="0" tIns="0" rIns="0" bIns="0" rtlCol="0" anchor="t">
            <a:noAutofit/>
          </a:bodyPr>
          <a:lstStyle/>
          <a:p>
            <a:r>
              <a:rPr lang="en-US" sz="3000" i="1">
                <a:solidFill>
                  <a:srgbClr val="CFC6B3"/>
                </a:solidFill>
                <a:latin typeface="Georgia" panose="02040502050405020303" pitchFamily="18" charset="0"/>
                <a:cs typeface="Segoe UI" panose="020B0502040204020203" pitchFamily="34" charset="0"/>
              </a:rPr>
              <a:t>03</a:t>
            </a:r>
          </a:p>
        </p:txBody>
      </p:sp>
      <p:sp>
        <p:nvSpPr>
          <p:cNvPr id="15" name="txt-267">
            <a:extLst>
              <a:ext uri="{FF2B5EF4-FFF2-40B4-BE49-F238E27FC236}">
                <a16:creationId xmlns:a16="http://schemas.microsoft.com/office/drawing/2014/main" id="{2740B1C6-BC36-41A9-C96E-7E7692B6EABC}"/>
              </a:ext>
            </a:extLst>
          </p:cNvPr>
          <p:cNvSpPr txBox="1"/>
          <p:nvPr/>
        </p:nvSpPr>
        <p:spPr>
          <a:xfrm>
            <a:off x="8026400" y="2946400"/>
            <a:ext cx="3352800" cy="2794000"/>
          </a:xfrm>
          <a:prstGeom prst="rect">
            <a:avLst/>
          </a:prstGeom>
          <a:noFill/>
        </p:spPr>
        <p:txBody>
          <a:bodyPr vert="horz" wrap="square" lIns="0" tIns="0" rIns="0" bIns="0" rtlCol="0" anchor="t">
            <a:noAutofit/>
          </a:bodyPr>
          <a:lstStyle/>
          <a:p>
            <a:pPr marL="177800" indent="-177800">
              <a:spcAft>
                <a:spcPts val="800"/>
              </a:spcAft>
              <a:buClr>
                <a:srgbClr val="3B4A5C"/>
              </a:buClr>
              <a:buFont typeface="+mj-lt"/>
              <a:buChar char="•"/>
            </a:pPr>
            <a:r>
              <a:rPr lang="en-US" sz="1500">
                <a:solidFill>
                  <a:srgbClr val="3B4A5C"/>
                </a:solidFill>
                <a:latin typeface="Calibri" panose="020F0502020204030204" pitchFamily="34" charset="0"/>
                <a:cs typeface="Segoe UI" panose="020B0502040204020203" pitchFamily="34" charset="0"/>
              </a:rPr>
              <a:t>Human approval of every disposition</a:t>
            </a:r>
          </a:p>
          <a:p>
            <a:pPr marL="177800" indent="-177800">
              <a:spcAft>
                <a:spcPts val="800"/>
              </a:spcAft>
              <a:buClr>
                <a:srgbClr val="3B4A5C"/>
              </a:buClr>
              <a:buFont typeface="+mj-lt"/>
              <a:buChar char="•"/>
            </a:pPr>
            <a:r>
              <a:rPr lang="en-US" sz="1500">
                <a:solidFill>
                  <a:srgbClr val="3B4A5C"/>
                </a:solidFill>
                <a:latin typeface="Calibri" panose="020F0502020204030204" pitchFamily="34" charset="0"/>
                <a:cs typeface="Segoe UI" panose="020B0502040204020203" pitchFamily="34" charset="0"/>
              </a:rPr>
              <a:t>Records stay in local browser storage</a:t>
            </a:r>
          </a:p>
          <a:p>
            <a:pPr marL="177800" indent="-177800">
              <a:spcAft>
                <a:spcPts val="800"/>
              </a:spcAft>
              <a:buClr>
                <a:srgbClr val="3B4A5C"/>
              </a:buClr>
              <a:buFont typeface="+mj-lt"/>
              <a:buChar char="•"/>
            </a:pPr>
            <a:r>
              <a:rPr lang="en-US" sz="1500">
                <a:solidFill>
                  <a:srgbClr val="3B4A5C"/>
                </a:solidFill>
                <a:latin typeface="Calibri" panose="020F0502020204030204" pitchFamily="34" charset="0"/>
                <a:cs typeface="Segoe UI" panose="020B0502040204020203" pitchFamily="34" charset="0"/>
              </a:rPr>
              <a:t>Leakage checks protect evaluation</a:t>
            </a:r>
          </a:p>
          <a:p>
            <a:pPr marL="177800" indent="-177800">
              <a:spcAft>
                <a:spcPts val="800"/>
              </a:spcAft>
              <a:buClr>
                <a:srgbClr val="3B4A5C"/>
              </a:buClr>
              <a:buFont typeface="+mj-lt"/>
              <a:buChar char="•"/>
            </a:pPr>
            <a:r>
              <a:rPr lang="en-US" sz="1500">
                <a:solidFill>
                  <a:srgbClr val="3B4A5C"/>
                </a:solidFill>
                <a:latin typeface="Calibri" panose="020F0502020204030204" pitchFamily="34" charset="0"/>
                <a:cs typeface="Segoe UI" panose="020B0502040204020203" pitchFamily="34" charset="0"/>
              </a:rPr>
              <a:t>Review workflows</a:t>
            </a:r>
          </a:p>
          <a:p>
            <a:pPr marL="177800" indent="-177800">
              <a:spcAft>
                <a:spcPts val="800"/>
              </a:spcAft>
              <a:buClr>
                <a:srgbClr val="3B4A5C"/>
              </a:buClr>
              <a:buFont typeface="+mj-lt"/>
              <a:buChar char="•"/>
            </a:pPr>
            <a:r>
              <a:rPr lang="en-US" sz="1500">
                <a:solidFill>
                  <a:srgbClr val="3B4A5C"/>
                </a:solidFill>
                <a:latin typeface="Calibri" panose="020F0502020204030204" pitchFamily="34" charset="0"/>
                <a:cs typeface="Segoe UI" panose="020B0502040204020203" pitchFamily="34" charset="0"/>
              </a:rPr>
              <a:t>References, interpretations and decisions kept separate</a:t>
            </a:r>
          </a:p>
        </p:txBody>
      </p:sp>
      <p:sp>
        <p:nvSpPr>
          <p:cNvPr id="16" name="shape-268">
            <a:extLst>
              <a:ext uri="{FF2B5EF4-FFF2-40B4-BE49-F238E27FC236}">
                <a16:creationId xmlns:a16="http://schemas.microsoft.com/office/drawing/2014/main" id="{EF106FFA-7E5E-5D75-F2BE-372C202EC27E}"/>
              </a:ext>
            </a:extLst>
          </p:cNvPr>
          <p:cNvSpPr/>
          <p:nvPr/>
        </p:nvSpPr>
        <p:spPr>
          <a:xfrm>
            <a:off x="711200" y="5816600"/>
            <a:ext cx="10769600" cy="482600"/>
          </a:xfrm>
          <a:prstGeom prst="rect">
            <a:avLst/>
          </a:prstGeom>
          <a:solidFill>
            <a:srgbClr val="FCFAF4"/>
          </a:solidFill>
          <a:ln w="9525">
            <a:solidFill>
              <a:srgbClr val="A946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xt-269">
            <a:extLst>
              <a:ext uri="{FF2B5EF4-FFF2-40B4-BE49-F238E27FC236}">
                <a16:creationId xmlns:a16="http://schemas.microsoft.com/office/drawing/2014/main" id="{9B975203-8C99-0017-BD5C-18AF94C55131}"/>
              </a:ext>
            </a:extLst>
          </p:cNvPr>
          <p:cNvSpPr txBox="1"/>
          <p:nvPr/>
        </p:nvSpPr>
        <p:spPr>
          <a:xfrm>
            <a:off x="889000" y="5816600"/>
            <a:ext cx="10414000" cy="482600"/>
          </a:xfrm>
          <a:prstGeom prst="rect">
            <a:avLst/>
          </a:prstGeom>
          <a:noFill/>
        </p:spPr>
        <p:txBody>
          <a:bodyPr vert="horz" wrap="square" lIns="0" tIns="0" rIns="0" bIns="0" rtlCol="0" anchor="ctr">
            <a:noAutofit/>
          </a:bodyPr>
          <a:lstStyle/>
          <a:p>
            <a:r>
              <a:rPr lang="en-US" sz="1100" b="1">
                <a:solidFill>
                  <a:srgbClr val="A94632"/>
                </a:solidFill>
                <a:latin typeface="Consolas" panose="020B0609020204030204" pitchFamily="49" charset="0"/>
                <a:cs typeface="Segoe UI" panose="020B0502040204020203" pitchFamily="34" charset="0"/>
              </a:rPr>
              <a:t>NOT CLINICALLY APPROVED · NOT A MEDICAL DEVICE · NOT FOR REAL PATIENT CARE</a:t>
            </a:r>
          </a:p>
        </p:txBody>
      </p:sp>
      <p:sp>
        <p:nvSpPr>
          <p:cNvPr id="18" name="txt-270">
            <a:extLst>
              <a:ext uri="{FF2B5EF4-FFF2-40B4-BE49-F238E27FC236}">
                <a16:creationId xmlns:a16="http://schemas.microsoft.com/office/drawing/2014/main" id="{015CA978-E9B1-DCAA-825B-C7247B2B5F7C}"/>
              </a:ext>
            </a:extLst>
          </p:cNvPr>
          <p:cNvSpPr txBox="1"/>
          <p:nvPr/>
        </p:nvSpPr>
        <p:spPr>
          <a:xfrm>
            <a:off x="711200" y="6527800"/>
            <a:ext cx="8890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DIAGNOSTIC INTELLIGENCE LAB · AL DHAFRA HEALTH FORUM · EDUCATIONAL PROTOTYPE · NOT A MEDICAL DEVICE</a:t>
            </a:r>
          </a:p>
        </p:txBody>
      </p:sp>
      <p:sp>
        <p:nvSpPr>
          <p:cNvPr id="19" name="txt-271">
            <a:extLst>
              <a:ext uri="{FF2B5EF4-FFF2-40B4-BE49-F238E27FC236}">
                <a16:creationId xmlns:a16="http://schemas.microsoft.com/office/drawing/2014/main" id="{AF78FE3D-E115-7FE9-3FA4-6C76D0C56187}"/>
              </a:ext>
            </a:extLst>
          </p:cNvPr>
          <p:cNvSpPr txBox="1"/>
          <p:nvPr/>
        </p:nvSpPr>
        <p:spPr>
          <a:xfrm>
            <a:off x="10972800" y="6527800"/>
            <a:ext cx="5080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cs typeface="Segoe UI" panose="020B0502040204020203" pitchFamily="34" charset="0"/>
              </a:rPr>
              <a:t>10</a:t>
            </a:r>
          </a:p>
        </p:txBody>
      </p:sp>
    </p:spTree>
    <p:extLst>
      <p:ext uri="{BB962C8B-B14F-4D97-AF65-F5344CB8AC3E}">
        <p14:creationId xmlns:p14="http://schemas.microsoft.com/office/powerpoint/2010/main" val="2479073506"/>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272">
            <a:extLst>
              <a:ext uri="{FF2B5EF4-FFF2-40B4-BE49-F238E27FC236}">
                <a16:creationId xmlns:a16="http://schemas.microsoft.com/office/drawing/2014/main" id="{BBA6FF3C-8430-08BA-4D75-6231DD9E823F}"/>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10 · FROM PROTOTYPE TO CLINICAL RESEARCH</a:t>
            </a:r>
          </a:p>
        </p:txBody>
      </p:sp>
      <p:sp>
        <p:nvSpPr>
          <p:cNvPr id="3" name="txt-273">
            <a:extLst>
              <a:ext uri="{FF2B5EF4-FFF2-40B4-BE49-F238E27FC236}">
                <a16:creationId xmlns:a16="http://schemas.microsoft.com/office/drawing/2014/main" id="{035077CA-4841-78A1-9C8F-CBEE04E12695}"/>
              </a:ext>
            </a:extLst>
          </p:cNvPr>
          <p:cNvSpPr txBox="1"/>
          <p:nvPr/>
        </p:nvSpPr>
        <p:spPr>
          <a:xfrm>
            <a:off x="711200" y="685800"/>
            <a:ext cx="9906000" cy="1143000"/>
          </a:xfrm>
          <a:prstGeom prst="rect">
            <a:avLst/>
          </a:prstGeom>
          <a:noFill/>
        </p:spPr>
        <p:txBody>
          <a:bodyPr vert="horz" wrap="square" lIns="0" tIns="0" rIns="0" bIns="0" rtlCol="0" anchor="t">
            <a:noAutofit/>
          </a:bodyPr>
          <a:lstStyle/>
          <a:p>
            <a:pPr>
              <a:lnSpc>
                <a:spcPct val="95000"/>
              </a:lnSpc>
            </a:pPr>
            <a:r>
              <a:rPr lang="en-US" sz="3400">
                <a:solidFill>
                  <a:srgbClr val="0A1A2C"/>
                </a:solidFill>
                <a:latin typeface="Georgia" panose="02040502050405020303" pitchFamily="18" charset="0"/>
                <a:cs typeface="Segoe UI" panose="020B0502040204020203" pitchFamily="34" charset="0"/>
              </a:rPr>
              <a:t>The next step is not deployment.</a:t>
            </a:r>
          </a:p>
        </p:txBody>
      </p:sp>
      <p:sp>
        <p:nvSpPr>
          <p:cNvPr id="4" name="txt-274">
            <a:extLst>
              <a:ext uri="{FF2B5EF4-FFF2-40B4-BE49-F238E27FC236}">
                <a16:creationId xmlns:a16="http://schemas.microsoft.com/office/drawing/2014/main" id="{E1EDD828-341A-6379-647B-6D82B3244C4F}"/>
              </a:ext>
            </a:extLst>
          </p:cNvPr>
          <p:cNvSpPr txBox="1"/>
          <p:nvPr/>
        </p:nvSpPr>
        <p:spPr>
          <a:xfrm>
            <a:off x="711200" y="1193800"/>
            <a:ext cx="8890000" cy="406400"/>
          </a:xfrm>
          <a:prstGeom prst="rect">
            <a:avLst/>
          </a:prstGeom>
          <a:noFill/>
        </p:spPr>
        <p:txBody>
          <a:bodyPr vert="horz" wrap="square" lIns="0" tIns="0" rIns="0" bIns="0" rtlCol="0" anchor="t">
            <a:noAutofit/>
          </a:bodyPr>
          <a:lstStyle/>
          <a:p>
            <a:r>
              <a:rPr lang="en-US" sz="2400" i="1">
                <a:solidFill>
                  <a:srgbClr val="2A665F"/>
                </a:solidFill>
                <a:latin typeface="Georgia" panose="02040502050405020303" pitchFamily="18" charset="0"/>
                <a:cs typeface="Segoe UI" panose="020B0502040204020203" pitchFamily="34" charset="0"/>
              </a:rPr>
              <a:t>It is rigorous validation.</a:t>
            </a:r>
          </a:p>
        </p:txBody>
      </p:sp>
      <p:cxnSp>
        <p:nvCxnSpPr>
          <p:cNvPr id="5" name="rule-275">
            <a:extLst>
              <a:ext uri="{FF2B5EF4-FFF2-40B4-BE49-F238E27FC236}">
                <a16:creationId xmlns:a16="http://schemas.microsoft.com/office/drawing/2014/main" id="{8BEA8111-6D46-3F00-89ED-127D104671AB}"/>
              </a:ext>
            </a:extLst>
          </p:cNvPr>
          <p:cNvCxnSpPr/>
          <p:nvPr/>
        </p:nvCxnSpPr>
        <p:spPr>
          <a:xfrm>
            <a:off x="711200" y="2184400"/>
            <a:ext cx="10769600" cy="0"/>
          </a:xfrm>
          <a:prstGeom prst="line">
            <a:avLst/>
          </a:prstGeom>
          <a:ln w="19050">
            <a:solidFill>
              <a:srgbClr val="CFC6B3"/>
            </a:solidFill>
          </a:ln>
        </p:spPr>
        <p:style>
          <a:lnRef idx="2">
            <a:schemeClr val="accent1"/>
          </a:lnRef>
          <a:fillRef idx="0">
            <a:schemeClr val="accent1"/>
          </a:fillRef>
          <a:effectRef idx="1">
            <a:schemeClr val="accent1"/>
          </a:effectRef>
          <a:fontRef idx="minor">
            <a:schemeClr val="tx1"/>
          </a:fontRef>
        </p:style>
      </p:cxnSp>
      <p:sp>
        <p:nvSpPr>
          <p:cNvPr id="6" name="oval-276">
            <a:extLst>
              <a:ext uri="{FF2B5EF4-FFF2-40B4-BE49-F238E27FC236}">
                <a16:creationId xmlns:a16="http://schemas.microsoft.com/office/drawing/2014/main" id="{294AFBE2-7865-50B6-9D76-9DE40944C66E}"/>
              </a:ext>
            </a:extLst>
          </p:cNvPr>
          <p:cNvSpPr/>
          <p:nvPr/>
        </p:nvSpPr>
        <p:spPr>
          <a:xfrm>
            <a:off x="711200" y="2082800"/>
            <a:ext cx="203200" cy="203200"/>
          </a:xfrm>
          <a:prstGeom prst="ellipse">
            <a:avLst/>
          </a:prstGeom>
          <a:solidFill>
            <a:srgbClr val="2A665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xt-277">
            <a:extLst>
              <a:ext uri="{FF2B5EF4-FFF2-40B4-BE49-F238E27FC236}">
                <a16:creationId xmlns:a16="http://schemas.microsoft.com/office/drawing/2014/main" id="{3EFD8680-6ED6-6F91-CFFB-FD7347666B16}"/>
              </a:ext>
            </a:extLst>
          </p:cNvPr>
          <p:cNvSpPr txBox="1"/>
          <p:nvPr/>
        </p:nvSpPr>
        <p:spPr>
          <a:xfrm>
            <a:off x="711200" y="1828800"/>
            <a:ext cx="1714500" cy="177800"/>
          </a:xfrm>
          <a:prstGeom prst="rect">
            <a:avLst/>
          </a:prstGeom>
          <a:noFill/>
        </p:spPr>
        <p:txBody>
          <a:bodyPr vert="horz" wrap="square" lIns="0" tIns="0" rIns="0" bIns="0" rtlCol="0" anchor="t">
            <a:noAutofit/>
          </a:bodyPr>
          <a:lstStyle/>
          <a:p>
            <a:r>
              <a:rPr lang="en-US" sz="1000">
                <a:solidFill>
                  <a:srgbClr val="2A665F"/>
                </a:solidFill>
                <a:latin typeface="Consolas" panose="020B0609020204030204" pitchFamily="49" charset="0"/>
                <a:cs typeface="Segoe UI" panose="020B0502040204020203" pitchFamily="34" charset="0"/>
              </a:rPr>
              <a:t>TODAY</a:t>
            </a:r>
          </a:p>
        </p:txBody>
      </p:sp>
      <p:sp>
        <p:nvSpPr>
          <p:cNvPr id="8" name="shape-278">
            <a:extLst>
              <a:ext uri="{FF2B5EF4-FFF2-40B4-BE49-F238E27FC236}">
                <a16:creationId xmlns:a16="http://schemas.microsoft.com/office/drawing/2014/main" id="{8A1C8E9E-01A4-87C6-ED66-40659C339A72}"/>
              </a:ext>
            </a:extLst>
          </p:cNvPr>
          <p:cNvSpPr/>
          <p:nvPr/>
        </p:nvSpPr>
        <p:spPr>
          <a:xfrm>
            <a:off x="711200" y="2463800"/>
            <a:ext cx="1714500" cy="3505200"/>
          </a:xfrm>
          <a:prstGeom prst="rect">
            <a:avLst/>
          </a:prstGeom>
          <a:solidFill>
            <a:srgbClr val="0A1A2C"/>
          </a:solidFill>
          <a:ln w="9525">
            <a:solidFill>
              <a:srgbClr val="0A1A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xt-279">
            <a:extLst>
              <a:ext uri="{FF2B5EF4-FFF2-40B4-BE49-F238E27FC236}">
                <a16:creationId xmlns:a16="http://schemas.microsoft.com/office/drawing/2014/main" id="{EC0D75E4-36EE-6938-9E81-7C0C1FF3D24E}"/>
              </a:ext>
            </a:extLst>
          </p:cNvPr>
          <p:cNvSpPr txBox="1"/>
          <p:nvPr/>
        </p:nvSpPr>
        <p:spPr>
          <a:xfrm>
            <a:off x="838200" y="2590800"/>
            <a:ext cx="1485900" cy="762000"/>
          </a:xfrm>
          <a:prstGeom prst="rect">
            <a:avLst/>
          </a:prstGeom>
          <a:noFill/>
        </p:spPr>
        <p:txBody>
          <a:bodyPr vert="horz" wrap="square" lIns="0" tIns="0" rIns="0" bIns="0" rtlCol="0" anchor="t">
            <a:noAutofit/>
          </a:bodyPr>
          <a:lstStyle/>
          <a:p>
            <a:pPr>
              <a:lnSpc>
                <a:spcPct val="95000"/>
              </a:lnSpc>
            </a:pPr>
            <a:r>
              <a:rPr lang="en-US" sz="1600">
                <a:solidFill>
                  <a:srgbClr val="F7F2E8"/>
                </a:solidFill>
                <a:latin typeface="Georgia" panose="02040502050405020303" pitchFamily="18" charset="0"/>
                <a:cs typeface="Segoe UI" panose="020B0502040204020203" pitchFamily="34" charset="0"/>
              </a:rPr>
              <a:t>Prototype</a:t>
            </a:r>
          </a:p>
        </p:txBody>
      </p:sp>
      <p:sp>
        <p:nvSpPr>
          <p:cNvPr id="10" name="txt-280">
            <a:extLst>
              <a:ext uri="{FF2B5EF4-FFF2-40B4-BE49-F238E27FC236}">
                <a16:creationId xmlns:a16="http://schemas.microsoft.com/office/drawing/2014/main" id="{D87AA5CB-5AC4-58C3-0747-4C1842AC9655}"/>
              </a:ext>
            </a:extLst>
          </p:cNvPr>
          <p:cNvSpPr txBox="1"/>
          <p:nvPr/>
        </p:nvSpPr>
        <p:spPr>
          <a:xfrm>
            <a:off x="838200" y="3403600"/>
            <a:ext cx="1485900" cy="2489200"/>
          </a:xfrm>
          <a:prstGeom prst="rect">
            <a:avLst/>
          </a:prstGeom>
          <a:noFill/>
        </p:spPr>
        <p:txBody>
          <a:bodyPr vert="horz" wrap="square" lIns="0" tIns="0" rIns="0" bIns="0" rtlCol="0" anchor="t">
            <a:noAutofit/>
          </a:bodyPr>
          <a:lstStyle/>
          <a:p>
            <a:pPr marL="177800" indent="-177800">
              <a:spcAft>
                <a:spcPts val="600"/>
              </a:spcAft>
              <a:buClr>
                <a:srgbClr val="C9CFD6"/>
              </a:buClr>
              <a:buFont typeface="+mj-lt"/>
              <a:buChar char="•"/>
            </a:pPr>
            <a:r>
              <a:rPr lang="en-US" sz="1250">
                <a:solidFill>
                  <a:srgbClr val="C9CFD6"/>
                </a:solidFill>
                <a:latin typeface="Calibri" panose="020F0502020204030204" pitchFamily="34" charset="0"/>
                <a:cs typeface="Segoe UI" panose="020B0502040204020203" pitchFamily="34" charset="0"/>
              </a:rPr>
              <a:t>16 synthetic cases</a:t>
            </a:r>
          </a:p>
          <a:p>
            <a:pPr marL="177800" indent="-177800">
              <a:spcAft>
                <a:spcPts val="600"/>
              </a:spcAft>
              <a:buClr>
                <a:srgbClr val="C9CFD6"/>
              </a:buClr>
              <a:buFont typeface="+mj-lt"/>
              <a:buChar char="•"/>
            </a:pPr>
            <a:r>
              <a:rPr lang="en-US" sz="1250">
                <a:solidFill>
                  <a:srgbClr val="C9CFD6"/>
                </a:solidFill>
                <a:latin typeface="Calibri" panose="020F0502020204030204" pitchFamily="34" charset="0"/>
                <a:cs typeface="Segoe UI" panose="020B0502040204020203" pitchFamily="34" charset="0"/>
              </a:rPr>
              <a:t>Evidence inspection</a:t>
            </a:r>
          </a:p>
          <a:p>
            <a:pPr marL="177800" indent="-177800">
              <a:spcAft>
                <a:spcPts val="600"/>
              </a:spcAft>
              <a:buClr>
                <a:srgbClr val="C9CFD6"/>
              </a:buClr>
              <a:buFont typeface="+mj-lt"/>
              <a:buChar char="•"/>
            </a:pPr>
            <a:r>
              <a:rPr lang="en-US" sz="1250">
                <a:solidFill>
                  <a:srgbClr val="C9CFD6"/>
                </a:solidFill>
                <a:latin typeface="Calibri" panose="020F0502020204030204" pitchFamily="34" charset="0"/>
                <a:cs typeface="Segoe UI" panose="020B0502040204020203" pitchFamily="34" charset="0"/>
              </a:rPr>
              <a:t>Interpretation workflow</a:t>
            </a:r>
          </a:p>
          <a:p>
            <a:pPr marL="177800" indent="-177800">
              <a:spcAft>
                <a:spcPts val="600"/>
              </a:spcAft>
              <a:buClr>
                <a:srgbClr val="C9CFD6"/>
              </a:buClr>
              <a:buFont typeface="+mj-lt"/>
              <a:buChar char="•"/>
            </a:pPr>
            <a:r>
              <a:rPr lang="en-US" sz="1250">
                <a:solidFill>
                  <a:srgbClr val="C9CFD6"/>
                </a:solidFill>
                <a:latin typeface="Calibri" panose="020F0502020204030204" pitchFamily="34" charset="0"/>
                <a:cs typeface="Segoe UI" panose="020B0502040204020203" pitchFamily="34" charset="0"/>
              </a:rPr>
              <a:t>Evaluation engine</a:t>
            </a:r>
          </a:p>
          <a:p>
            <a:pPr marL="177800" indent="-177800">
              <a:spcAft>
                <a:spcPts val="600"/>
              </a:spcAft>
              <a:buClr>
                <a:srgbClr val="C9CFD6"/>
              </a:buClr>
              <a:buFont typeface="+mj-lt"/>
              <a:buChar char="•"/>
            </a:pPr>
            <a:r>
              <a:rPr lang="en-US" sz="1250">
                <a:solidFill>
                  <a:srgbClr val="C9CFD6"/>
                </a:solidFill>
                <a:latin typeface="Calibri" panose="020F0502020204030204" pitchFamily="34" charset="0"/>
                <a:cs typeface="Segoe UI" panose="020B0502040204020203" pitchFamily="34" charset="0"/>
              </a:rPr>
              <a:t>Human review</a:t>
            </a:r>
          </a:p>
        </p:txBody>
      </p:sp>
      <p:sp>
        <p:nvSpPr>
          <p:cNvPr id="11" name="oval-281">
            <a:extLst>
              <a:ext uri="{FF2B5EF4-FFF2-40B4-BE49-F238E27FC236}">
                <a16:creationId xmlns:a16="http://schemas.microsoft.com/office/drawing/2014/main" id="{8388DB12-5742-781A-4E73-AD66EF502FF2}"/>
              </a:ext>
            </a:extLst>
          </p:cNvPr>
          <p:cNvSpPr/>
          <p:nvPr/>
        </p:nvSpPr>
        <p:spPr>
          <a:xfrm>
            <a:off x="2501900" y="2082800"/>
            <a:ext cx="203200" cy="203200"/>
          </a:xfrm>
          <a:prstGeom prst="ellipse">
            <a:avLst/>
          </a:prstGeom>
          <a:solidFill>
            <a:srgbClr val="F7F2E8"/>
          </a:solidFill>
          <a:ln w="12700">
            <a:solidFill>
              <a:srgbClr val="6770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xt-282">
            <a:extLst>
              <a:ext uri="{FF2B5EF4-FFF2-40B4-BE49-F238E27FC236}">
                <a16:creationId xmlns:a16="http://schemas.microsoft.com/office/drawing/2014/main" id="{B6B906DD-8E96-C07F-DA48-782CCE4A535A}"/>
              </a:ext>
            </a:extLst>
          </p:cNvPr>
          <p:cNvSpPr txBox="1"/>
          <p:nvPr/>
        </p:nvSpPr>
        <p:spPr>
          <a:xfrm>
            <a:off x="2501900" y="1828800"/>
            <a:ext cx="17145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PHASE 1</a:t>
            </a:r>
          </a:p>
        </p:txBody>
      </p:sp>
      <p:sp>
        <p:nvSpPr>
          <p:cNvPr id="13" name="shape-283">
            <a:extLst>
              <a:ext uri="{FF2B5EF4-FFF2-40B4-BE49-F238E27FC236}">
                <a16:creationId xmlns:a16="http://schemas.microsoft.com/office/drawing/2014/main" id="{F71DA692-E000-A9F8-6AB8-AD2C43ED4784}"/>
              </a:ext>
            </a:extLst>
          </p:cNvPr>
          <p:cNvSpPr/>
          <p:nvPr/>
        </p:nvSpPr>
        <p:spPr>
          <a:xfrm>
            <a:off x="2501900" y="2463800"/>
            <a:ext cx="1714500" cy="3505200"/>
          </a:xfrm>
          <a:prstGeom prst="rect">
            <a:avLst/>
          </a:prstGeom>
          <a:solidFill>
            <a:srgbClr val="FCFAF4"/>
          </a:solidFill>
          <a:ln w="9525">
            <a:solidFill>
              <a:srgbClr val="CFC6B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xt-284">
            <a:extLst>
              <a:ext uri="{FF2B5EF4-FFF2-40B4-BE49-F238E27FC236}">
                <a16:creationId xmlns:a16="http://schemas.microsoft.com/office/drawing/2014/main" id="{DF7675EA-E8D8-2C03-6E65-B3345B8B76B9}"/>
              </a:ext>
            </a:extLst>
          </p:cNvPr>
          <p:cNvSpPr txBox="1"/>
          <p:nvPr/>
        </p:nvSpPr>
        <p:spPr>
          <a:xfrm>
            <a:off x="2628900" y="2590800"/>
            <a:ext cx="1485900" cy="762000"/>
          </a:xfrm>
          <a:prstGeom prst="rect">
            <a:avLst/>
          </a:prstGeom>
          <a:noFill/>
        </p:spPr>
        <p:txBody>
          <a:bodyPr vert="horz" wrap="square" lIns="0" tIns="0" rIns="0" bIns="0" rtlCol="0" anchor="t">
            <a:noAutofit/>
          </a:bodyPr>
          <a:lstStyle/>
          <a:p>
            <a:pPr>
              <a:lnSpc>
                <a:spcPct val="95000"/>
              </a:lnSpc>
            </a:pPr>
            <a:r>
              <a:rPr lang="en-US" sz="1600">
                <a:solidFill>
                  <a:srgbClr val="0A1A2C"/>
                </a:solidFill>
                <a:latin typeface="Georgia" panose="02040502050405020303" pitchFamily="18" charset="0"/>
                <a:cs typeface="Segoe UI" panose="020B0502040204020203" pitchFamily="34" charset="0"/>
              </a:rPr>
              <a:t>Representative data</a:t>
            </a:r>
          </a:p>
        </p:txBody>
      </p:sp>
      <p:sp>
        <p:nvSpPr>
          <p:cNvPr id="15" name="txt-285">
            <a:extLst>
              <a:ext uri="{FF2B5EF4-FFF2-40B4-BE49-F238E27FC236}">
                <a16:creationId xmlns:a16="http://schemas.microsoft.com/office/drawing/2014/main" id="{5F7E5C41-E6B1-F8C0-C01B-826839C3B33D}"/>
              </a:ext>
            </a:extLst>
          </p:cNvPr>
          <p:cNvSpPr txBox="1"/>
          <p:nvPr/>
        </p:nvSpPr>
        <p:spPr>
          <a:xfrm>
            <a:off x="2628900" y="3403600"/>
            <a:ext cx="1485900" cy="2489200"/>
          </a:xfrm>
          <a:prstGeom prst="rect">
            <a:avLst/>
          </a:prstGeom>
          <a:noFill/>
        </p:spPr>
        <p:txBody>
          <a:bodyPr vert="horz" wrap="square" lIns="0" tIns="0" rIns="0" bIns="0" rtlCol="0" anchor="t">
            <a:noAutofit/>
          </a:bodyPr>
          <a:lstStyle/>
          <a:p>
            <a:pPr marL="177800" indent="-177800">
              <a:spcAft>
                <a:spcPts val="600"/>
              </a:spcAft>
              <a:buClr>
                <a:srgbClr val="3B4A5C"/>
              </a:buClr>
              <a:buFont typeface="+mj-lt"/>
              <a:buChar char="•"/>
            </a:pPr>
            <a:r>
              <a:rPr lang="en-US" sz="1250">
                <a:solidFill>
                  <a:srgbClr val="3B4A5C"/>
                </a:solidFill>
                <a:latin typeface="Calibri" panose="020F0502020204030204" pitchFamily="34" charset="0"/>
                <a:cs typeface="Segoe UI" panose="020B0502040204020203" pitchFamily="34" charset="0"/>
              </a:rPr>
              <a:t>Licensed retinal dataset</a:t>
            </a:r>
          </a:p>
          <a:p>
            <a:pPr marL="177800" indent="-177800">
              <a:spcAft>
                <a:spcPts val="600"/>
              </a:spcAft>
              <a:buClr>
                <a:srgbClr val="3B4A5C"/>
              </a:buClr>
              <a:buFont typeface="+mj-lt"/>
              <a:buChar char="•"/>
            </a:pPr>
            <a:r>
              <a:rPr lang="en-US" sz="1250">
                <a:solidFill>
                  <a:srgbClr val="3B4A5C"/>
                </a:solidFill>
                <a:latin typeface="Calibri" panose="020F0502020204030204" pitchFamily="34" charset="0"/>
                <a:cs typeface="Segoe UI" panose="020B0502040204020203" pitchFamily="34" charset="0"/>
              </a:rPr>
              <a:t>Patient-separated train / validation / test</a:t>
            </a:r>
          </a:p>
        </p:txBody>
      </p:sp>
      <p:sp>
        <p:nvSpPr>
          <p:cNvPr id="16" name="oval-286">
            <a:extLst>
              <a:ext uri="{FF2B5EF4-FFF2-40B4-BE49-F238E27FC236}">
                <a16:creationId xmlns:a16="http://schemas.microsoft.com/office/drawing/2014/main" id="{60444356-7A3C-3E1E-DF77-B6D109A14AD4}"/>
              </a:ext>
            </a:extLst>
          </p:cNvPr>
          <p:cNvSpPr/>
          <p:nvPr/>
        </p:nvSpPr>
        <p:spPr>
          <a:xfrm>
            <a:off x="4292600" y="2082800"/>
            <a:ext cx="203200" cy="203200"/>
          </a:xfrm>
          <a:prstGeom prst="ellipse">
            <a:avLst/>
          </a:prstGeom>
          <a:solidFill>
            <a:srgbClr val="F7F2E8"/>
          </a:solidFill>
          <a:ln w="12700">
            <a:solidFill>
              <a:srgbClr val="6770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xt-287">
            <a:extLst>
              <a:ext uri="{FF2B5EF4-FFF2-40B4-BE49-F238E27FC236}">
                <a16:creationId xmlns:a16="http://schemas.microsoft.com/office/drawing/2014/main" id="{7FA0BF2B-13C2-76E3-6826-1D72BE33657F}"/>
              </a:ext>
            </a:extLst>
          </p:cNvPr>
          <p:cNvSpPr txBox="1"/>
          <p:nvPr/>
        </p:nvSpPr>
        <p:spPr>
          <a:xfrm>
            <a:off x="4292600" y="1828800"/>
            <a:ext cx="17145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PHASE 2</a:t>
            </a:r>
          </a:p>
        </p:txBody>
      </p:sp>
      <p:sp>
        <p:nvSpPr>
          <p:cNvPr id="18" name="shape-288">
            <a:extLst>
              <a:ext uri="{FF2B5EF4-FFF2-40B4-BE49-F238E27FC236}">
                <a16:creationId xmlns:a16="http://schemas.microsoft.com/office/drawing/2014/main" id="{A3CAF882-3D32-3A6F-6B30-C0AD436B49EC}"/>
              </a:ext>
            </a:extLst>
          </p:cNvPr>
          <p:cNvSpPr/>
          <p:nvPr/>
        </p:nvSpPr>
        <p:spPr>
          <a:xfrm>
            <a:off x="4292600" y="2463800"/>
            <a:ext cx="1714500" cy="3505200"/>
          </a:xfrm>
          <a:prstGeom prst="rect">
            <a:avLst/>
          </a:prstGeom>
          <a:solidFill>
            <a:srgbClr val="FCFAF4"/>
          </a:solidFill>
          <a:ln w="9525">
            <a:solidFill>
              <a:srgbClr val="CFC6B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xt-289">
            <a:extLst>
              <a:ext uri="{FF2B5EF4-FFF2-40B4-BE49-F238E27FC236}">
                <a16:creationId xmlns:a16="http://schemas.microsoft.com/office/drawing/2014/main" id="{55A1146E-B142-BBDB-AE00-D045823CCCF7}"/>
              </a:ext>
            </a:extLst>
          </p:cNvPr>
          <p:cNvSpPr txBox="1"/>
          <p:nvPr/>
        </p:nvSpPr>
        <p:spPr>
          <a:xfrm>
            <a:off x="4419600" y="2590800"/>
            <a:ext cx="1485900" cy="762000"/>
          </a:xfrm>
          <a:prstGeom prst="rect">
            <a:avLst/>
          </a:prstGeom>
          <a:noFill/>
        </p:spPr>
        <p:txBody>
          <a:bodyPr vert="horz" wrap="square" lIns="0" tIns="0" rIns="0" bIns="0" rtlCol="0" anchor="t">
            <a:noAutofit/>
          </a:bodyPr>
          <a:lstStyle/>
          <a:p>
            <a:pPr>
              <a:lnSpc>
                <a:spcPct val="95000"/>
              </a:lnSpc>
            </a:pPr>
            <a:r>
              <a:rPr lang="en-US" sz="1600">
                <a:solidFill>
                  <a:srgbClr val="0A1A2C"/>
                </a:solidFill>
                <a:latin typeface="Georgia" panose="02040502050405020303" pitchFamily="18" charset="0"/>
                <a:cs typeface="Segoe UI" panose="020B0502040204020203" pitchFamily="34" charset="0"/>
              </a:rPr>
              <a:t>Research model</a:t>
            </a:r>
          </a:p>
        </p:txBody>
      </p:sp>
      <p:sp>
        <p:nvSpPr>
          <p:cNvPr id="20" name="txt-290">
            <a:extLst>
              <a:ext uri="{FF2B5EF4-FFF2-40B4-BE49-F238E27FC236}">
                <a16:creationId xmlns:a16="http://schemas.microsoft.com/office/drawing/2014/main" id="{424B51F4-9C03-862F-70DF-E0A1272A07F7}"/>
              </a:ext>
            </a:extLst>
          </p:cNvPr>
          <p:cNvSpPr txBox="1"/>
          <p:nvPr/>
        </p:nvSpPr>
        <p:spPr>
          <a:xfrm>
            <a:off x="4419600" y="3403600"/>
            <a:ext cx="1485900" cy="2489200"/>
          </a:xfrm>
          <a:prstGeom prst="rect">
            <a:avLst/>
          </a:prstGeom>
          <a:noFill/>
        </p:spPr>
        <p:txBody>
          <a:bodyPr vert="horz" wrap="square" lIns="0" tIns="0" rIns="0" bIns="0" rtlCol="0" anchor="t">
            <a:noAutofit/>
          </a:bodyPr>
          <a:lstStyle/>
          <a:p>
            <a:pPr marL="177800" indent="-177800">
              <a:spcAft>
                <a:spcPts val="600"/>
              </a:spcAft>
              <a:buClr>
                <a:srgbClr val="3B4A5C"/>
              </a:buClr>
              <a:buFont typeface="+mj-lt"/>
              <a:buChar char="•"/>
            </a:pPr>
            <a:r>
              <a:rPr lang="en-US" sz="1250">
                <a:solidFill>
                  <a:srgbClr val="3B4A5C"/>
                </a:solidFill>
                <a:latin typeface="Calibri" panose="020F0502020204030204" pitchFamily="34" charset="0"/>
                <a:cs typeface="Segoe UI" panose="020B0502040204020203" pitchFamily="34" charset="0"/>
              </a:rPr>
              <a:t>Train and evaluate</a:t>
            </a:r>
          </a:p>
          <a:p>
            <a:pPr marL="177800" indent="-177800">
              <a:spcAft>
                <a:spcPts val="600"/>
              </a:spcAft>
              <a:buClr>
                <a:srgbClr val="3B4A5C"/>
              </a:buClr>
              <a:buFont typeface="+mj-lt"/>
              <a:buChar char="•"/>
            </a:pPr>
            <a:r>
              <a:rPr lang="en-US" sz="1250">
                <a:solidFill>
                  <a:srgbClr val="3B4A5C"/>
                </a:solidFill>
                <a:latin typeface="Calibri" panose="020F0502020204030204" pitchFamily="34" charset="0"/>
                <a:cs typeface="Segoe UI" panose="020B0502040204020203" pitchFamily="34" charset="0"/>
              </a:rPr>
              <a:t>Document architecture, training, limits</a:t>
            </a:r>
          </a:p>
        </p:txBody>
      </p:sp>
      <p:sp>
        <p:nvSpPr>
          <p:cNvPr id="21" name="oval-291">
            <a:extLst>
              <a:ext uri="{FF2B5EF4-FFF2-40B4-BE49-F238E27FC236}">
                <a16:creationId xmlns:a16="http://schemas.microsoft.com/office/drawing/2014/main" id="{8AD68346-2636-A01A-02C3-6EA75D8482A2}"/>
              </a:ext>
            </a:extLst>
          </p:cNvPr>
          <p:cNvSpPr/>
          <p:nvPr/>
        </p:nvSpPr>
        <p:spPr>
          <a:xfrm>
            <a:off x="6083300" y="2082800"/>
            <a:ext cx="203200" cy="203200"/>
          </a:xfrm>
          <a:prstGeom prst="ellipse">
            <a:avLst/>
          </a:prstGeom>
          <a:solidFill>
            <a:srgbClr val="F7F2E8"/>
          </a:solidFill>
          <a:ln w="12700">
            <a:solidFill>
              <a:srgbClr val="6770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xt-292">
            <a:extLst>
              <a:ext uri="{FF2B5EF4-FFF2-40B4-BE49-F238E27FC236}">
                <a16:creationId xmlns:a16="http://schemas.microsoft.com/office/drawing/2014/main" id="{06C93946-A20E-F072-B080-1DDE82D9CA30}"/>
              </a:ext>
            </a:extLst>
          </p:cNvPr>
          <p:cNvSpPr txBox="1"/>
          <p:nvPr/>
        </p:nvSpPr>
        <p:spPr>
          <a:xfrm>
            <a:off x="6083300" y="1828800"/>
            <a:ext cx="17145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PHASE 3</a:t>
            </a:r>
          </a:p>
        </p:txBody>
      </p:sp>
      <p:sp>
        <p:nvSpPr>
          <p:cNvPr id="23" name="shape-293">
            <a:extLst>
              <a:ext uri="{FF2B5EF4-FFF2-40B4-BE49-F238E27FC236}">
                <a16:creationId xmlns:a16="http://schemas.microsoft.com/office/drawing/2014/main" id="{930C1FEE-9FFF-62C4-6BFC-072686853988}"/>
              </a:ext>
            </a:extLst>
          </p:cNvPr>
          <p:cNvSpPr/>
          <p:nvPr/>
        </p:nvSpPr>
        <p:spPr>
          <a:xfrm>
            <a:off x="6083300" y="2463800"/>
            <a:ext cx="1714500" cy="3505200"/>
          </a:xfrm>
          <a:prstGeom prst="rect">
            <a:avLst/>
          </a:prstGeom>
          <a:solidFill>
            <a:srgbClr val="FCFAF4"/>
          </a:solidFill>
          <a:ln w="9525">
            <a:solidFill>
              <a:srgbClr val="CFC6B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xt-294">
            <a:extLst>
              <a:ext uri="{FF2B5EF4-FFF2-40B4-BE49-F238E27FC236}">
                <a16:creationId xmlns:a16="http://schemas.microsoft.com/office/drawing/2014/main" id="{BA87C198-5960-E887-13B4-3FD8F449E601}"/>
              </a:ext>
            </a:extLst>
          </p:cNvPr>
          <p:cNvSpPr txBox="1"/>
          <p:nvPr/>
        </p:nvSpPr>
        <p:spPr>
          <a:xfrm>
            <a:off x="6210300" y="2590800"/>
            <a:ext cx="1485900" cy="762000"/>
          </a:xfrm>
          <a:prstGeom prst="rect">
            <a:avLst/>
          </a:prstGeom>
          <a:noFill/>
        </p:spPr>
        <p:txBody>
          <a:bodyPr vert="horz" wrap="square" lIns="0" tIns="0" rIns="0" bIns="0" rtlCol="0" anchor="t">
            <a:noAutofit/>
          </a:bodyPr>
          <a:lstStyle/>
          <a:p>
            <a:pPr>
              <a:lnSpc>
                <a:spcPct val="95000"/>
              </a:lnSpc>
            </a:pPr>
            <a:r>
              <a:rPr lang="en-US" sz="1600">
                <a:solidFill>
                  <a:srgbClr val="0A1A2C"/>
                </a:solidFill>
                <a:latin typeface="Georgia" panose="02040502050405020303" pitchFamily="18" charset="0"/>
                <a:cs typeface="Segoe UI" panose="020B0502040204020203" pitchFamily="34" charset="0"/>
              </a:rPr>
              <a:t>External validation</a:t>
            </a:r>
          </a:p>
        </p:txBody>
      </p:sp>
      <p:sp>
        <p:nvSpPr>
          <p:cNvPr id="25" name="txt-295">
            <a:extLst>
              <a:ext uri="{FF2B5EF4-FFF2-40B4-BE49-F238E27FC236}">
                <a16:creationId xmlns:a16="http://schemas.microsoft.com/office/drawing/2014/main" id="{EFF90153-355B-E119-9BDF-EC1826F1AB8B}"/>
              </a:ext>
            </a:extLst>
          </p:cNvPr>
          <p:cNvSpPr txBox="1"/>
          <p:nvPr/>
        </p:nvSpPr>
        <p:spPr>
          <a:xfrm>
            <a:off x="6210300" y="3403600"/>
            <a:ext cx="1485900" cy="2489200"/>
          </a:xfrm>
          <a:prstGeom prst="rect">
            <a:avLst/>
          </a:prstGeom>
          <a:noFill/>
        </p:spPr>
        <p:txBody>
          <a:bodyPr vert="horz" wrap="square" lIns="0" tIns="0" rIns="0" bIns="0" rtlCol="0" anchor="t">
            <a:noAutofit/>
          </a:bodyPr>
          <a:lstStyle/>
          <a:p>
            <a:pPr marL="177800" indent="-177800">
              <a:spcAft>
                <a:spcPts val="600"/>
              </a:spcAft>
              <a:buClr>
                <a:srgbClr val="3B4A5C"/>
              </a:buClr>
              <a:buFont typeface="+mj-lt"/>
              <a:buChar char="•"/>
            </a:pPr>
            <a:r>
              <a:rPr lang="en-US" sz="1250">
                <a:solidFill>
                  <a:srgbClr val="3B4A5C"/>
                </a:solidFill>
                <a:latin typeface="Calibri" panose="020F0502020204030204" pitchFamily="34" charset="0"/>
                <a:cs typeface="Segoe UI" panose="020B0502040204020203" pitchFamily="34" charset="0"/>
              </a:rPr>
              <a:t>External dataset</a:t>
            </a:r>
          </a:p>
          <a:p>
            <a:pPr marL="177800" indent="-177800">
              <a:spcAft>
                <a:spcPts val="600"/>
              </a:spcAft>
              <a:buClr>
                <a:srgbClr val="3B4A5C"/>
              </a:buClr>
              <a:buFont typeface="+mj-lt"/>
              <a:buChar char="•"/>
            </a:pPr>
            <a:r>
              <a:rPr lang="en-US" sz="1250">
                <a:solidFill>
                  <a:srgbClr val="3B4A5C"/>
                </a:solidFill>
                <a:latin typeface="Calibri" panose="020F0502020204030204" pitchFamily="34" charset="0"/>
                <a:cs typeface="Segoe UI" panose="020B0502040204020203" pitchFamily="34" charset="0"/>
              </a:rPr>
              <a:t>Subgroups · calibration</a:t>
            </a:r>
          </a:p>
          <a:p>
            <a:pPr marL="177800" indent="-177800">
              <a:spcAft>
                <a:spcPts val="600"/>
              </a:spcAft>
              <a:buClr>
                <a:srgbClr val="3B4A5C"/>
              </a:buClr>
              <a:buFont typeface="+mj-lt"/>
              <a:buChar char="•"/>
            </a:pPr>
            <a:r>
              <a:rPr lang="en-US" sz="1250">
                <a:solidFill>
                  <a:srgbClr val="3B4A5C"/>
                </a:solidFill>
                <a:latin typeface="Calibri" panose="020F0502020204030204" pitchFamily="34" charset="0"/>
                <a:cs typeface="Segoe UI" panose="020B0502040204020203" pitchFamily="34" charset="0"/>
              </a:rPr>
              <a:t>Quality robustness · errors</a:t>
            </a:r>
          </a:p>
        </p:txBody>
      </p:sp>
      <p:sp>
        <p:nvSpPr>
          <p:cNvPr id="26" name="oval-296">
            <a:extLst>
              <a:ext uri="{FF2B5EF4-FFF2-40B4-BE49-F238E27FC236}">
                <a16:creationId xmlns:a16="http://schemas.microsoft.com/office/drawing/2014/main" id="{95106CBD-946F-ABD1-AC1B-36936F2AF03A}"/>
              </a:ext>
            </a:extLst>
          </p:cNvPr>
          <p:cNvSpPr/>
          <p:nvPr/>
        </p:nvSpPr>
        <p:spPr>
          <a:xfrm>
            <a:off x="7874000" y="2082800"/>
            <a:ext cx="203200" cy="203200"/>
          </a:xfrm>
          <a:prstGeom prst="ellipse">
            <a:avLst/>
          </a:prstGeom>
          <a:solidFill>
            <a:srgbClr val="F7F2E8"/>
          </a:solidFill>
          <a:ln w="12700">
            <a:solidFill>
              <a:srgbClr val="6770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xt-297">
            <a:extLst>
              <a:ext uri="{FF2B5EF4-FFF2-40B4-BE49-F238E27FC236}">
                <a16:creationId xmlns:a16="http://schemas.microsoft.com/office/drawing/2014/main" id="{6F53104E-4F82-1986-E699-B1BA236B2C73}"/>
              </a:ext>
            </a:extLst>
          </p:cNvPr>
          <p:cNvSpPr txBox="1"/>
          <p:nvPr/>
        </p:nvSpPr>
        <p:spPr>
          <a:xfrm>
            <a:off x="7874000" y="1828800"/>
            <a:ext cx="17145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PHASE 4</a:t>
            </a:r>
          </a:p>
        </p:txBody>
      </p:sp>
      <p:sp>
        <p:nvSpPr>
          <p:cNvPr id="28" name="shape-298">
            <a:extLst>
              <a:ext uri="{FF2B5EF4-FFF2-40B4-BE49-F238E27FC236}">
                <a16:creationId xmlns:a16="http://schemas.microsoft.com/office/drawing/2014/main" id="{5CCCA1BB-DD4F-878C-FC63-587B06369B5D}"/>
              </a:ext>
            </a:extLst>
          </p:cNvPr>
          <p:cNvSpPr/>
          <p:nvPr/>
        </p:nvSpPr>
        <p:spPr>
          <a:xfrm>
            <a:off x="7874000" y="2463800"/>
            <a:ext cx="1714500" cy="3505200"/>
          </a:xfrm>
          <a:prstGeom prst="rect">
            <a:avLst/>
          </a:prstGeom>
          <a:solidFill>
            <a:srgbClr val="FCFAF4"/>
          </a:solidFill>
          <a:ln w="9525">
            <a:solidFill>
              <a:srgbClr val="CFC6B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xt-299">
            <a:extLst>
              <a:ext uri="{FF2B5EF4-FFF2-40B4-BE49-F238E27FC236}">
                <a16:creationId xmlns:a16="http://schemas.microsoft.com/office/drawing/2014/main" id="{1AC86692-4068-6F98-B179-6505EB8B03DE}"/>
              </a:ext>
            </a:extLst>
          </p:cNvPr>
          <p:cNvSpPr txBox="1"/>
          <p:nvPr/>
        </p:nvSpPr>
        <p:spPr>
          <a:xfrm>
            <a:off x="8001000" y="2590800"/>
            <a:ext cx="1485900" cy="762000"/>
          </a:xfrm>
          <a:prstGeom prst="rect">
            <a:avLst/>
          </a:prstGeom>
          <a:noFill/>
        </p:spPr>
        <p:txBody>
          <a:bodyPr vert="horz" wrap="square" lIns="0" tIns="0" rIns="0" bIns="0" rtlCol="0" anchor="t">
            <a:noAutofit/>
          </a:bodyPr>
          <a:lstStyle/>
          <a:p>
            <a:pPr>
              <a:lnSpc>
                <a:spcPct val="95000"/>
              </a:lnSpc>
            </a:pPr>
            <a:r>
              <a:rPr lang="en-US" sz="1600">
                <a:solidFill>
                  <a:srgbClr val="0A1A2C"/>
                </a:solidFill>
                <a:latin typeface="Georgia" panose="02040502050405020303" pitchFamily="18" charset="0"/>
                <a:cs typeface="Segoe UI" panose="020B0502040204020203" pitchFamily="34" charset="0"/>
              </a:rPr>
              <a:t>Clinician-supervised research</a:t>
            </a:r>
          </a:p>
        </p:txBody>
      </p:sp>
      <p:sp>
        <p:nvSpPr>
          <p:cNvPr id="30" name="txt-300">
            <a:extLst>
              <a:ext uri="{FF2B5EF4-FFF2-40B4-BE49-F238E27FC236}">
                <a16:creationId xmlns:a16="http://schemas.microsoft.com/office/drawing/2014/main" id="{D12C08D0-FAB9-FD21-4FBA-9BC8EE557EE4}"/>
              </a:ext>
            </a:extLst>
          </p:cNvPr>
          <p:cNvSpPr txBox="1"/>
          <p:nvPr/>
        </p:nvSpPr>
        <p:spPr>
          <a:xfrm>
            <a:off x="8001000" y="3403600"/>
            <a:ext cx="1485900" cy="2489200"/>
          </a:xfrm>
          <a:prstGeom prst="rect">
            <a:avLst/>
          </a:prstGeom>
          <a:noFill/>
        </p:spPr>
        <p:txBody>
          <a:bodyPr vert="horz" wrap="square" lIns="0" tIns="0" rIns="0" bIns="0" rtlCol="0" anchor="t">
            <a:noAutofit/>
          </a:bodyPr>
          <a:lstStyle/>
          <a:p>
            <a:pPr marL="177800" indent="-177800">
              <a:spcAft>
                <a:spcPts val="600"/>
              </a:spcAft>
              <a:buClr>
                <a:srgbClr val="3B4A5C"/>
              </a:buClr>
              <a:buFont typeface="+mj-lt"/>
              <a:buChar char="•"/>
            </a:pPr>
            <a:r>
              <a:rPr lang="en-US" sz="1250">
                <a:solidFill>
                  <a:srgbClr val="3B4A5C"/>
                </a:solidFill>
                <a:latin typeface="Calibri" panose="020F0502020204030204" pitchFamily="34" charset="0"/>
                <a:cs typeface="Segoe UI" panose="020B0502040204020203" pitchFamily="34" charset="0"/>
              </a:rPr>
              <a:t>Performance · workflow</a:t>
            </a:r>
          </a:p>
          <a:p>
            <a:pPr marL="177800" indent="-177800">
              <a:spcAft>
                <a:spcPts val="600"/>
              </a:spcAft>
              <a:buClr>
                <a:srgbClr val="3B4A5C"/>
              </a:buClr>
              <a:buFont typeface="+mj-lt"/>
              <a:buChar char="•"/>
            </a:pPr>
            <a:r>
              <a:rPr lang="en-US" sz="1250">
                <a:solidFill>
                  <a:srgbClr val="3B4A5C"/>
                </a:solidFill>
                <a:latin typeface="Calibri" panose="020F0502020204030204" pitchFamily="34" charset="0"/>
                <a:cs typeface="Segoe UI" panose="020B0502040204020203" pitchFamily="34" charset="0"/>
              </a:rPr>
              <a:t>Automation bias</a:t>
            </a:r>
          </a:p>
          <a:p>
            <a:pPr marL="177800" indent="-177800">
              <a:spcAft>
                <a:spcPts val="600"/>
              </a:spcAft>
              <a:buClr>
                <a:srgbClr val="3B4A5C"/>
              </a:buClr>
              <a:buFont typeface="+mj-lt"/>
              <a:buChar char="•"/>
            </a:pPr>
            <a:r>
              <a:rPr lang="en-US" sz="1250">
                <a:solidFill>
                  <a:srgbClr val="3B4A5C"/>
                </a:solidFill>
                <a:latin typeface="Calibri" panose="020F0502020204030204" pitchFamily="34" charset="0"/>
                <a:cs typeface="Segoe UI" panose="020B0502040204020203" pitchFamily="34" charset="0"/>
              </a:rPr>
              <a:t>Human–AI collaboration</a:t>
            </a:r>
          </a:p>
        </p:txBody>
      </p:sp>
      <p:sp>
        <p:nvSpPr>
          <p:cNvPr id="31" name="oval-301">
            <a:extLst>
              <a:ext uri="{FF2B5EF4-FFF2-40B4-BE49-F238E27FC236}">
                <a16:creationId xmlns:a16="http://schemas.microsoft.com/office/drawing/2014/main" id="{C4E7B1AE-FC4F-66DC-0A85-EC19FF86FF85}"/>
              </a:ext>
            </a:extLst>
          </p:cNvPr>
          <p:cNvSpPr/>
          <p:nvPr/>
        </p:nvSpPr>
        <p:spPr>
          <a:xfrm>
            <a:off x="9664700" y="2082800"/>
            <a:ext cx="203200" cy="203200"/>
          </a:xfrm>
          <a:prstGeom prst="ellipse">
            <a:avLst/>
          </a:prstGeom>
          <a:solidFill>
            <a:srgbClr val="F7F2E8"/>
          </a:solidFill>
          <a:ln w="12700">
            <a:solidFill>
              <a:srgbClr val="6770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xt-302">
            <a:extLst>
              <a:ext uri="{FF2B5EF4-FFF2-40B4-BE49-F238E27FC236}">
                <a16:creationId xmlns:a16="http://schemas.microsoft.com/office/drawing/2014/main" id="{2058E2CF-BB00-65B6-D8B7-3793D537E46C}"/>
              </a:ext>
            </a:extLst>
          </p:cNvPr>
          <p:cNvSpPr txBox="1"/>
          <p:nvPr/>
        </p:nvSpPr>
        <p:spPr>
          <a:xfrm>
            <a:off x="9664700" y="1828800"/>
            <a:ext cx="17145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PHASE 5</a:t>
            </a:r>
          </a:p>
        </p:txBody>
      </p:sp>
      <p:sp>
        <p:nvSpPr>
          <p:cNvPr id="33" name="shape-303">
            <a:extLst>
              <a:ext uri="{FF2B5EF4-FFF2-40B4-BE49-F238E27FC236}">
                <a16:creationId xmlns:a16="http://schemas.microsoft.com/office/drawing/2014/main" id="{38D3C0BB-783D-0980-2722-66038BFCF37C}"/>
              </a:ext>
            </a:extLst>
          </p:cNvPr>
          <p:cNvSpPr/>
          <p:nvPr/>
        </p:nvSpPr>
        <p:spPr>
          <a:xfrm>
            <a:off x="9664700" y="2463800"/>
            <a:ext cx="1714500" cy="3505200"/>
          </a:xfrm>
          <a:prstGeom prst="rect">
            <a:avLst/>
          </a:prstGeom>
          <a:solidFill>
            <a:srgbClr val="FCFAF4"/>
          </a:solidFill>
          <a:ln w="9525">
            <a:solidFill>
              <a:srgbClr val="CFC6B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xt-304">
            <a:extLst>
              <a:ext uri="{FF2B5EF4-FFF2-40B4-BE49-F238E27FC236}">
                <a16:creationId xmlns:a16="http://schemas.microsoft.com/office/drawing/2014/main" id="{F1231E2F-2CC4-EDA6-19EC-38133576954B}"/>
              </a:ext>
            </a:extLst>
          </p:cNvPr>
          <p:cNvSpPr txBox="1"/>
          <p:nvPr/>
        </p:nvSpPr>
        <p:spPr>
          <a:xfrm>
            <a:off x="9791700" y="2590800"/>
            <a:ext cx="1485900" cy="762000"/>
          </a:xfrm>
          <a:prstGeom prst="rect">
            <a:avLst/>
          </a:prstGeom>
          <a:noFill/>
        </p:spPr>
        <p:txBody>
          <a:bodyPr vert="horz" wrap="square" lIns="0" tIns="0" rIns="0" bIns="0" rtlCol="0" anchor="t">
            <a:noAutofit/>
          </a:bodyPr>
          <a:lstStyle/>
          <a:p>
            <a:pPr>
              <a:lnSpc>
                <a:spcPct val="95000"/>
              </a:lnSpc>
            </a:pPr>
            <a:r>
              <a:rPr lang="en-US" sz="1600">
                <a:solidFill>
                  <a:srgbClr val="0A1A2C"/>
                </a:solidFill>
                <a:latin typeface="Georgia" panose="02040502050405020303" pitchFamily="18" charset="0"/>
                <a:cs typeface="Segoe UI" panose="020B0502040204020203" pitchFamily="34" charset="0"/>
              </a:rPr>
              <a:t>Prospective evaluation</a:t>
            </a:r>
          </a:p>
        </p:txBody>
      </p:sp>
      <p:sp>
        <p:nvSpPr>
          <p:cNvPr id="35" name="txt-305">
            <a:extLst>
              <a:ext uri="{FF2B5EF4-FFF2-40B4-BE49-F238E27FC236}">
                <a16:creationId xmlns:a16="http://schemas.microsoft.com/office/drawing/2014/main" id="{6F0C1026-6E12-F3D8-2014-699EE210CD4B}"/>
              </a:ext>
            </a:extLst>
          </p:cNvPr>
          <p:cNvSpPr txBox="1"/>
          <p:nvPr/>
        </p:nvSpPr>
        <p:spPr>
          <a:xfrm>
            <a:off x="9791700" y="3403600"/>
            <a:ext cx="1485900" cy="2489200"/>
          </a:xfrm>
          <a:prstGeom prst="rect">
            <a:avLst/>
          </a:prstGeom>
          <a:noFill/>
        </p:spPr>
        <p:txBody>
          <a:bodyPr vert="horz" wrap="square" lIns="0" tIns="0" rIns="0" bIns="0" rtlCol="0" anchor="t">
            <a:noAutofit/>
          </a:bodyPr>
          <a:lstStyle/>
          <a:p>
            <a:pPr marL="177800" indent="-177800">
              <a:spcAft>
                <a:spcPts val="600"/>
              </a:spcAft>
              <a:buClr>
                <a:srgbClr val="3B4A5C"/>
              </a:buClr>
              <a:buFont typeface="+mj-lt"/>
              <a:buChar char="•"/>
            </a:pPr>
            <a:r>
              <a:rPr lang="en-US" sz="1250">
                <a:solidFill>
                  <a:srgbClr val="3B4A5C"/>
                </a:solidFill>
                <a:latin typeface="Calibri" panose="020F0502020204030204" pitchFamily="34" charset="0"/>
                <a:cs typeface="Segoe UI" panose="020B0502040204020203" pitchFamily="34" charset="0"/>
              </a:rPr>
              <a:t>Prospective studies</a:t>
            </a:r>
          </a:p>
          <a:p>
            <a:pPr marL="177800" indent="-177800">
              <a:spcAft>
                <a:spcPts val="600"/>
              </a:spcAft>
              <a:buClr>
                <a:srgbClr val="3B4A5C"/>
              </a:buClr>
              <a:buFont typeface="+mj-lt"/>
              <a:buChar char="•"/>
            </a:pPr>
            <a:r>
              <a:rPr lang="en-US" sz="1250">
                <a:solidFill>
                  <a:srgbClr val="3B4A5C"/>
                </a:solidFill>
                <a:latin typeface="Calibri" panose="020F0502020204030204" pitchFamily="34" charset="0"/>
                <a:cs typeface="Segoe UI" panose="020B0502040204020203" pitchFamily="34" charset="0"/>
              </a:rPr>
              <a:t>Governance · security</a:t>
            </a:r>
          </a:p>
          <a:p>
            <a:pPr marL="177800" indent="-177800">
              <a:spcAft>
                <a:spcPts val="600"/>
              </a:spcAft>
              <a:buClr>
                <a:srgbClr val="3B4A5C"/>
              </a:buClr>
              <a:buFont typeface="+mj-lt"/>
              <a:buChar char="•"/>
            </a:pPr>
            <a:r>
              <a:rPr lang="en-US" sz="1250">
                <a:solidFill>
                  <a:srgbClr val="3B4A5C"/>
                </a:solidFill>
                <a:latin typeface="Calibri" panose="020F0502020204030204" pitchFamily="34" charset="0"/>
                <a:cs typeface="Segoe UI" panose="020B0502040204020203" pitchFamily="34" charset="0"/>
              </a:rPr>
              <a:t>Regulatory requirements</a:t>
            </a:r>
          </a:p>
        </p:txBody>
      </p:sp>
      <p:sp>
        <p:nvSpPr>
          <p:cNvPr id="36" name="txt-306">
            <a:extLst>
              <a:ext uri="{FF2B5EF4-FFF2-40B4-BE49-F238E27FC236}">
                <a16:creationId xmlns:a16="http://schemas.microsoft.com/office/drawing/2014/main" id="{5348B5E9-4F8F-788A-B124-5D7E9C637CED}"/>
              </a:ext>
            </a:extLst>
          </p:cNvPr>
          <p:cNvSpPr txBox="1"/>
          <p:nvPr/>
        </p:nvSpPr>
        <p:spPr>
          <a:xfrm>
            <a:off x="711200" y="6070600"/>
            <a:ext cx="10922000" cy="2540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Solid = implemented in the published prototype.  Dashed = future research, not built.</a:t>
            </a:r>
          </a:p>
        </p:txBody>
      </p:sp>
      <p:sp>
        <p:nvSpPr>
          <p:cNvPr id="37" name="txt-307">
            <a:extLst>
              <a:ext uri="{FF2B5EF4-FFF2-40B4-BE49-F238E27FC236}">
                <a16:creationId xmlns:a16="http://schemas.microsoft.com/office/drawing/2014/main" id="{3CD878BC-9BBD-DF40-F194-F119044D8AF8}"/>
              </a:ext>
            </a:extLst>
          </p:cNvPr>
          <p:cNvSpPr txBox="1"/>
          <p:nvPr/>
        </p:nvSpPr>
        <p:spPr>
          <a:xfrm>
            <a:off x="711200" y="6527800"/>
            <a:ext cx="8890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DIAGNOSTIC INTELLIGENCE LAB · AL DHAFRA HEALTH FORUM · EDUCATIONAL PROTOTYPE · NOT A MEDICAL DEVICE</a:t>
            </a:r>
          </a:p>
        </p:txBody>
      </p:sp>
      <p:sp>
        <p:nvSpPr>
          <p:cNvPr id="38" name="txt-308">
            <a:extLst>
              <a:ext uri="{FF2B5EF4-FFF2-40B4-BE49-F238E27FC236}">
                <a16:creationId xmlns:a16="http://schemas.microsoft.com/office/drawing/2014/main" id="{EB6A3690-5721-517A-EDD7-C0E2BE2C2E3A}"/>
              </a:ext>
            </a:extLst>
          </p:cNvPr>
          <p:cNvSpPr txBox="1"/>
          <p:nvPr/>
        </p:nvSpPr>
        <p:spPr>
          <a:xfrm>
            <a:off x="10972800" y="6527800"/>
            <a:ext cx="5080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cs typeface="Segoe UI" panose="020B0502040204020203" pitchFamily="34" charset="0"/>
              </a:rPr>
              <a:t>11</a:t>
            </a:r>
          </a:p>
        </p:txBody>
      </p:sp>
    </p:spTree>
    <p:extLst>
      <p:ext uri="{BB962C8B-B14F-4D97-AF65-F5344CB8AC3E}">
        <p14:creationId xmlns:p14="http://schemas.microsoft.com/office/powerpoint/2010/main" val="4203458331"/>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A2C"/>
        </a:solidFill>
        <a:effectLst/>
      </p:bgPr>
    </p:bg>
    <p:spTree>
      <p:nvGrpSpPr>
        <p:cNvPr id="1" name=""/>
        <p:cNvGrpSpPr/>
        <p:nvPr/>
      </p:nvGrpSpPr>
      <p:grpSpPr>
        <a:xfrm>
          <a:off x="0" y="0"/>
          <a:ext cx="0" cy="0"/>
          <a:chOff x="0" y="0"/>
          <a:chExt cx="0" cy="0"/>
        </a:xfrm>
      </p:grpSpPr>
      <p:sp>
        <p:nvSpPr>
          <p:cNvPr id="2" name="txt-309">
            <a:extLst>
              <a:ext uri="{FF2B5EF4-FFF2-40B4-BE49-F238E27FC236}">
                <a16:creationId xmlns:a16="http://schemas.microsoft.com/office/drawing/2014/main" id="{90C6CF76-C375-ACA5-39F3-A8D04595FA3B}"/>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4A9A92"/>
                </a:solidFill>
                <a:latin typeface="Consolas" panose="020B0609020204030204" pitchFamily="49" charset="0"/>
                <a:cs typeface="Segoe UI" panose="020B0502040204020203" pitchFamily="34" charset="0"/>
              </a:rPr>
              <a:t>11 · INTELLIGENCE REQUIRES EVIDENCE</a:t>
            </a:r>
          </a:p>
        </p:txBody>
      </p:sp>
      <p:sp>
        <p:nvSpPr>
          <p:cNvPr id="3" name="txt-310">
            <a:extLst>
              <a:ext uri="{FF2B5EF4-FFF2-40B4-BE49-F238E27FC236}">
                <a16:creationId xmlns:a16="http://schemas.microsoft.com/office/drawing/2014/main" id="{A018B8BC-97D3-FD7E-81F2-C4D5DD54AE8C}"/>
              </a:ext>
            </a:extLst>
          </p:cNvPr>
          <p:cNvSpPr txBox="1"/>
          <p:nvPr/>
        </p:nvSpPr>
        <p:spPr>
          <a:xfrm>
            <a:off x="711200" y="787400"/>
            <a:ext cx="7112000" cy="3175000"/>
          </a:xfrm>
          <a:prstGeom prst="rect">
            <a:avLst/>
          </a:prstGeom>
          <a:noFill/>
        </p:spPr>
        <p:txBody>
          <a:bodyPr vert="horz" wrap="square" lIns="0" tIns="0" rIns="0" bIns="0" rtlCol="0" anchor="t">
            <a:noAutofit/>
          </a:bodyPr>
          <a:lstStyle/>
          <a:p>
            <a:r>
              <a:rPr lang="en-US" sz="2900" i="1">
                <a:solidFill>
                  <a:srgbClr val="F7F2E8"/>
                </a:solidFill>
                <a:latin typeface="Georgia" panose="02040502050405020303" pitchFamily="18" charset="0"/>
                <a:cs typeface="Segoe UI" panose="020B0502040204020203" pitchFamily="34" charset="0"/>
              </a:rPr>
              <a:t>“The future of diagnostic AI should not be judged by how confidently it predicts — but by how reliably its accuracy can be demonstrated.”</a:t>
            </a:r>
          </a:p>
        </p:txBody>
      </p:sp>
      <p:sp>
        <p:nvSpPr>
          <p:cNvPr id="4" name="shape-311">
            <a:extLst>
              <a:ext uri="{FF2B5EF4-FFF2-40B4-BE49-F238E27FC236}">
                <a16:creationId xmlns:a16="http://schemas.microsoft.com/office/drawing/2014/main" id="{60D59233-7918-9FBE-200A-9B52BE9CA6D1}"/>
              </a:ext>
            </a:extLst>
          </p:cNvPr>
          <p:cNvSpPr/>
          <p:nvPr/>
        </p:nvSpPr>
        <p:spPr>
          <a:xfrm>
            <a:off x="711200" y="4089400"/>
            <a:ext cx="2286000" cy="304800"/>
          </a:xfrm>
          <a:prstGeom prst="rect">
            <a:avLst/>
          </a:prstGeom>
          <a:solidFill>
            <a:srgbClr val="12304F"/>
          </a:solidFill>
          <a:ln w="9525">
            <a:solidFill>
              <a:srgbClr val="234A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xt-312">
            <a:extLst>
              <a:ext uri="{FF2B5EF4-FFF2-40B4-BE49-F238E27FC236}">
                <a16:creationId xmlns:a16="http://schemas.microsoft.com/office/drawing/2014/main" id="{AFF02AE3-DF90-9C89-63C3-1561755921EE}"/>
              </a:ext>
            </a:extLst>
          </p:cNvPr>
          <p:cNvSpPr txBox="1"/>
          <p:nvPr/>
        </p:nvSpPr>
        <p:spPr>
          <a:xfrm>
            <a:off x="711200" y="4152900"/>
            <a:ext cx="2286000" cy="203200"/>
          </a:xfrm>
          <a:prstGeom prst="rect">
            <a:avLst/>
          </a:prstGeom>
          <a:noFill/>
        </p:spPr>
        <p:txBody>
          <a:bodyPr vert="horz" wrap="square" lIns="0" tIns="0" rIns="0" bIns="0" rtlCol="0" anchor="t">
            <a:noAutofit/>
          </a:bodyPr>
          <a:lstStyle/>
          <a:p>
            <a:pPr algn="ctr"/>
            <a:r>
              <a:rPr lang="en-US" sz="1000">
                <a:solidFill>
                  <a:srgbClr val="8FD0C8"/>
                </a:solidFill>
                <a:latin typeface="Consolas" panose="020B0609020204030204" pitchFamily="49" charset="0"/>
                <a:cs typeface="Segoe UI" panose="020B0502040204020203" pitchFamily="34" charset="0"/>
              </a:rPr>
              <a:t>TRANSPARENT EVIDENCE</a:t>
            </a:r>
          </a:p>
        </p:txBody>
      </p:sp>
      <p:sp>
        <p:nvSpPr>
          <p:cNvPr id="6" name="shape-313">
            <a:extLst>
              <a:ext uri="{FF2B5EF4-FFF2-40B4-BE49-F238E27FC236}">
                <a16:creationId xmlns:a16="http://schemas.microsoft.com/office/drawing/2014/main" id="{57B19F30-F6D3-A7AE-2D1D-2D4BB6C5C110}"/>
              </a:ext>
            </a:extLst>
          </p:cNvPr>
          <p:cNvSpPr/>
          <p:nvPr/>
        </p:nvSpPr>
        <p:spPr>
          <a:xfrm>
            <a:off x="3124200" y="4089400"/>
            <a:ext cx="2286000" cy="304800"/>
          </a:xfrm>
          <a:prstGeom prst="rect">
            <a:avLst/>
          </a:prstGeom>
          <a:solidFill>
            <a:srgbClr val="12304F"/>
          </a:solidFill>
          <a:ln w="9525">
            <a:solidFill>
              <a:srgbClr val="234A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xt-314">
            <a:extLst>
              <a:ext uri="{FF2B5EF4-FFF2-40B4-BE49-F238E27FC236}">
                <a16:creationId xmlns:a16="http://schemas.microsoft.com/office/drawing/2014/main" id="{94567A84-BF6E-A5CD-BD4B-D023CEF07A57}"/>
              </a:ext>
            </a:extLst>
          </p:cNvPr>
          <p:cNvSpPr txBox="1"/>
          <p:nvPr/>
        </p:nvSpPr>
        <p:spPr>
          <a:xfrm>
            <a:off x="3124200" y="4152900"/>
            <a:ext cx="2286000" cy="203200"/>
          </a:xfrm>
          <a:prstGeom prst="rect">
            <a:avLst/>
          </a:prstGeom>
          <a:noFill/>
        </p:spPr>
        <p:txBody>
          <a:bodyPr vert="horz" wrap="square" lIns="0" tIns="0" rIns="0" bIns="0" rtlCol="0" anchor="t">
            <a:noAutofit/>
          </a:bodyPr>
          <a:lstStyle/>
          <a:p>
            <a:pPr algn="ctr"/>
            <a:r>
              <a:rPr lang="en-US" sz="1000">
                <a:solidFill>
                  <a:srgbClr val="8FD0C8"/>
                </a:solidFill>
                <a:latin typeface="Consolas" panose="020B0609020204030204" pitchFamily="49" charset="0"/>
                <a:cs typeface="Segoe UI" panose="020B0502040204020203" pitchFamily="34" charset="0"/>
              </a:rPr>
              <a:t>MEASURABLE ACCURACY</a:t>
            </a:r>
          </a:p>
        </p:txBody>
      </p:sp>
      <p:sp>
        <p:nvSpPr>
          <p:cNvPr id="8" name="shape-315">
            <a:extLst>
              <a:ext uri="{FF2B5EF4-FFF2-40B4-BE49-F238E27FC236}">
                <a16:creationId xmlns:a16="http://schemas.microsoft.com/office/drawing/2014/main" id="{51C2BEAA-BE7E-B9E1-43E1-4B526D12F2D7}"/>
              </a:ext>
            </a:extLst>
          </p:cNvPr>
          <p:cNvSpPr/>
          <p:nvPr/>
        </p:nvSpPr>
        <p:spPr>
          <a:xfrm>
            <a:off x="711200" y="4495800"/>
            <a:ext cx="2286000" cy="304800"/>
          </a:xfrm>
          <a:prstGeom prst="rect">
            <a:avLst/>
          </a:prstGeom>
          <a:solidFill>
            <a:srgbClr val="12304F"/>
          </a:solidFill>
          <a:ln w="9525">
            <a:solidFill>
              <a:srgbClr val="234A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xt-316">
            <a:extLst>
              <a:ext uri="{FF2B5EF4-FFF2-40B4-BE49-F238E27FC236}">
                <a16:creationId xmlns:a16="http://schemas.microsoft.com/office/drawing/2014/main" id="{BA9E27BA-937A-6FD5-8CEC-3DA4074446C2}"/>
              </a:ext>
            </a:extLst>
          </p:cNvPr>
          <p:cNvSpPr txBox="1"/>
          <p:nvPr/>
        </p:nvSpPr>
        <p:spPr>
          <a:xfrm>
            <a:off x="711200" y="4559300"/>
            <a:ext cx="2286000" cy="203200"/>
          </a:xfrm>
          <a:prstGeom prst="rect">
            <a:avLst/>
          </a:prstGeom>
          <a:noFill/>
        </p:spPr>
        <p:txBody>
          <a:bodyPr vert="horz" wrap="square" lIns="0" tIns="0" rIns="0" bIns="0" rtlCol="0" anchor="t">
            <a:noAutofit/>
          </a:bodyPr>
          <a:lstStyle/>
          <a:p>
            <a:pPr algn="ctr"/>
            <a:r>
              <a:rPr lang="en-US" sz="1000">
                <a:solidFill>
                  <a:srgbClr val="8FD0C8"/>
                </a:solidFill>
                <a:latin typeface="Consolas" panose="020B0609020204030204" pitchFamily="49" charset="0"/>
                <a:cs typeface="Segoe UI" panose="020B0502040204020203" pitchFamily="34" charset="0"/>
              </a:rPr>
              <a:t>RESPONSIBLE DEVELOPMENT</a:t>
            </a:r>
          </a:p>
        </p:txBody>
      </p:sp>
      <p:sp>
        <p:nvSpPr>
          <p:cNvPr id="10" name="shape-317">
            <a:extLst>
              <a:ext uri="{FF2B5EF4-FFF2-40B4-BE49-F238E27FC236}">
                <a16:creationId xmlns:a16="http://schemas.microsoft.com/office/drawing/2014/main" id="{EC5207BA-439D-38C7-4849-5B78B4DAB189}"/>
              </a:ext>
            </a:extLst>
          </p:cNvPr>
          <p:cNvSpPr/>
          <p:nvPr/>
        </p:nvSpPr>
        <p:spPr>
          <a:xfrm>
            <a:off x="3124200" y="4495800"/>
            <a:ext cx="2286000" cy="304800"/>
          </a:xfrm>
          <a:prstGeom prst="rect">
            <a:avLst/>
          </a:prstGeom>
          <a:solidFill>
            <a:srgbClr val="12304F"/>
          </a:solidFill>
          <a:ln w="9525">
            <a:solidFill>
              <a:srgbClr val="234A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xt-318">
            <a:extLst>
              <a:ext uri="{FF2B5EF4-FFF2-40B4-BE49-F238E27FC236}">
                <a16:creationId xmlns:a16="http://schemas.microsoft.com/office/drawing/2014/main" id="{A12907C8-943B-83AF-3C01-EE2A5C520A41}"/>
              </a:ext>
            </a:extLst>
          </p:cNvPr>
          <p:cNvSpPr txBox="1"/>
          <p:nvPr/>
        </p:nvSpPr>
        <p:spPr>
          <a:xfrm>
            <a:off x="3124200" y="4559300"/>
            <a:ext cx="2286000" cy="203200"/>
          </a:xfrm>
          <a:prstGeom prst="rect">
            <a:avLst/>
          </a:prstGeom>
          <a:noFill/>
        </p:spPr>
        <p:txBody>
          <a:bodyPr vert="horz" wrap="square" lIns="0" tIns="0" rIns="0" bIns="0" rtlCol="0" anchor="t">
            <a:noAutofit/>
          </a:bodyPr>
          <a:lstStyle/>
          <a:p>
            <a:pPr algn="ctr"/>
            <a:r>
              <a:rPr lang="en-US" sz="1000">
                <a:solidFill>
                  <a:srgbClr val="8FD0C8"/>
                </a:solidFill>
                <a:latin typeface="Consolas" panose="020B0609020204030204" pitchFamily="49" charset="0"/>
                <a:cs typeface="Segoe UI" panose="020B0502040204020203" pitchFamily="34" charset="0"/>
              </a:rPr>
              <a:t>HUMAN OVERSIGHT</a:t>
            </a:r>
          </a:p>
        </p:txBody>
      </p:sp>
      <p:sp>
        <p:nvSpPr>
          <p:cNvPr id="12" name="txt-319">
            <a:extLst>
              <a:ext uri="{FF2B5EF4-FFF2-40B4-BE49-F238E27FC236}">
                <a16:creationId xmlns:a16="http://schemas.microsoft.com/office/drawing/2014/main" id="{8F66E0B2-A5BA-4604-EE8D-4B3EA6F83BE5}"/>
              </a:ext>
            </a:extLst>
          </p:cNvPr>
          <p:cNvSpPr txBox="1"/>
          <p:nvPr/>
        </p:nvSpPr>
        <p:spPr>
          <a:xfrm>
            <a:off x="711200" y="5080000"/>
            <a:ext cx="6604000" cy="1270000"/>
          </a:xfrm>
          <a:prstGeom prst="rect">
            <a:avLst/>
          </a:prstGeom>
          <a:noFill/>
        </p:spPr>
        <p:txBody>
          <a:bodyPr vert="horz" wrap="square" lIns="0" tIns="0" rIns="0" bIns="0" rtlCol="0" anchor="t">
            <a:noAutofit/>
          </a:bodyPr>
          <a:lstStyle/>
          <a:p>
            <a:pPr>
              <a:spcAft>
                <a:spcPts val="300"/>
              </a:spcAft>
            </a:pPr>
            <a:r>
              <a:rPr lang="en-US">
                <a:solidFill>
                  <a:srgbClr val="F7F2E8"/>
                </a:solidFill>
                <a:latin typeface="Georgia" panose="02040502050405020303" pitchFamily="18" charset="0"/>
                <a:cs typeface="Segoe UI" panose="020B0502040204020203" pitchFamily="34" charset="0"/>
              </a:rPr>
              <a:t>Diagnostic Intelligence Lab</a:t>
            </a:r>
          </a:p>
          <a:p>
            <a:pPr>
              <a:spcAft>
                <a:spcPts val="300"/>
              </a:spcAft>
            </a:pPr>
            <a:r>
              <a:rPr lang="en-US" sz="1200">
                <a:solidFill>
                  <a:srgbClr val="C9CFD6"/>
                </a:solidFill>
                <a:latin typeface="Calibri" panose="020F0502020204030204" pitchFamily="34" charset="0"/>
                <a:cs typeface="Segoe UI" panose="020B0502040204020203" pitchFamily="34" charset="0"/>
              </a:rPr>
              <a:t>May Ahmed Mourad (G12) · Shamsa Faris Almazrouei (G12) · Fatima Mohamed Almazrouei (G11)</a:t>
            </a:r>
          </a:p>
          <a:p>
            <a:pPr>
              <a:spcAft>
                <a:spcPts val="300"/>
              </a:spcAft>
            </a:pPr>
            <a:r>
              <a:rPr lang="en-US" sz="1200">
                <a:solidFill>
                  <a:srgbClr val="C9CFD6"/>
                </a:solidFill>
                <a:latin typeface="Calibri" panose="020F0502020204030204" pitchFamily="34" charset="0"/>
                <a:cs typeface="Segoe UI" panose="020B0502040204020203" pitchFamily="34" charset="0"/>
              </a:rPr>
              <a:t>ADNOC Schools — Madinat Zayed · Al Dhafra Health Forum · Accurate Diagnosis — </a:t>
            </a:r>
            <a:r>
              <a:rPr lang="ar-AE" sz="1200">
                <a:solidFill>
                  <a:srgbClr val="C9CFD6"/>
                </a:solidFill>
                <a:latin typeface="Calibri" panose="020F0502020204030204" pitchFamily="34" charset="0"/>
                <a:cs typeface="Segoe UI" panose="020B0502040204020203" pitchFamily="34" charset="0"/>
              </a:rPr>
              <a:t>التشخيص الدقيق</a:t>
            </a:r>
            <a:endParaRPr lang="en-US" sz="1200">
              <a:solidFill>
                <a:srgbClr val="C9CFD6"/>
              </a:solidFill>
              <a:latin typeface="Calibri" panose="020F0502020204030204" pitchFamily="34" charset="0"/>
              <a:cs typeface="Segoe UI" panose="020B0502040204020203" pitchFamily="34" charset="0"/>
            </a:endParaRPr>
          </a:p>
        </p:txBody>
      </p:sp>
      <p:sp>
        <p:nvSpPr>
          <p:cNvPr id="13" name="shape-320">
            <a:extLst>
              <a:ext uri="{FF2B5EF4-FFF2-40B4-BE49-F238E27FC236}">
                <a16:creationId xmlns:a16="http://schemas.microsoft.com/office/drawing/2014/main" id="{F9265474-6E82-C060-42F5-5C2D612E2AD2}"/>
              </a:ext>
            </a:extLst>
          </p:cNvPr>
          <p:cNvSpPr/>
          <p:nvPr/>
        </p:nvSpPr>
        <p:spPr>
          <a:xfrm>
            <a:off x="8763000" y="889000"/>
            <a:ext cx="2717800" cy="29464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321" descr="QR code linking to the live Diagnostic Intelligence Lab prototype at maymourad.github.io/Diagnostic-Intelligence-Lab.">
            <a:extLst>
              <a:ext uri="{FF2B5EF4-FFF2-40B4-BE49-F238E27FC236}">
                <a16:creationId xmlns:a16="http://schemas.microsoft.com/office/drawing/2014/main" id="{15C79DE0-5D2E-E175-6193-012F594DFE19}"/>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a:xfrm>
            <a:off x="8915400" y="1041400"/>
            <a:ext cx="2413000" cy="2413000"/>
          </a:xfrm>
          <a:prstGeom prst="rect">
            <a:avLst/>
          </a:prstGeom>
        </p:spPr>
      </p:pic>
      <p:sp>
        <p:nvSpPr>
          <p:cNvPr id="16" name="txt-322">
            <a:extLst>
              <a:ext uri="{FF2B5EF4-FFF2-40B4-BE49-F238E27FC236}">
                <a16:creationId xmlns:a16="http://schemas.microsoft.com/office/drawing/2014/main" id="{B3F7B806-579C-6058-817A-4D3D55768BDE}"/>
              </a:ext>
            </a:extLst>
          </p:cNvPr>
          <p:cNvSpPr txBox="1"/>
          <p:nvPr/>
        </p:nvSpPr>
        <p:spPr>
          <a:xfrm>
            <a:off x="8763000" y="3454400"/>
            <a:ext cx="2717800" cy="304800"/>
          </a:xfrm>
          <a:prstGeom prst="rect">
            <a:avLst/>
          </a:prstGeom>
          <a:noFill/>
        </p:spPr>
        <p:txBody>
          <a:bodyPr vert="horz" wrap="square" lIns="0" tIns="0" rIns="0" bIns="0" rtlCol="0" anchor="t">
            <a:noAutofit/>
          </a:bodyPr>
          <a:lstStyle/>
          <a:p>
            <a:pPr algn="ctr"/>
            <a:r>
              <a:rPr lang="en-US" sz="1000">
                <a:solidFill>
                  <a:srgbClr val="0A1A2C"/>
                </a:solidFill>
                <a:latin typeface="Consolas" panose="020B0609020204030204" pitchFamily="49" charset="0"/>
                <a:cs typeface="Segoe UI" panose="020B0502040204020203" pitchFamily="34" charset="0"/>
              </a:rPr>
              <a:t>SCAN · LIVE PROTOTYPE</a:t>
            </a:r>
          </a:p>
        </p:txBody>
      </p:sp>
      <p:sp>
        <p:nvSpPr>
          <p:cNvPr id="17" name="txt-323">
            <a:extLst>
              <a:ext uri="{FF2B5EF4-FFF2-40B4-BE49-F238E27FC236}">
                <a16:creationId xmlns:a16="http://schemas.microsoft.com/office/drawing/2014/main" id="{8EC1FAB2-ED30-FE8C-BD58-BEF89FCB808C}"/>
              </a:ext>
            </a:extLst>
          </p:cNvPr>
          <p:cNvSpPr txBox="1"/>
          <p:nvPr/>
        </p:nvSpPr>
        <p:spPr>
          <a:xfrm>
            <a:off x="7670800" y="4013200"/>
            <a:ext cx="3810000" cy="254000"/>
          </a:xfrm>
          <a:prstGeom prst="rect">
            <a:avLst/>
          </a:prstGeom>
          <a:noFill/>
        </p:spPr>
        <p:txBody>
          <a:bodyPr vert="horz" wrap="square" lIns="0" tIns="0" rIns="0" bIns="0" rtlCol="0" anchor="t">
            <a:noAutofit/>
          </a:bodyPr>
          <a:lstStyle/>
          <a:p>
            <a:pPr algn="r"/>
            <a:r>
              <a:rPr lang="en-US" sz="1100">
                <a:solidFill>
                  <a:srgbClr val="8FD0C8"/>
                </a:solidFill>
                <a:latin typeface="Consolas" panose="020B0609020204030204" pitchFamily="49" charset="0"/>
                <a:cs typeface="Segoe UI" panose="020B0502040204020203" pitchFamily="34" charset="0"/>
                <a:hlinkClick r:id="rId4"/>
              </a:rPr>
              <a:t>maymourad.github.io/</a:t>
            </a:r>
            <a:r>
              <a:rPr lang="en-US" sz="1100" b="1">
                <a:solidFill>
                  <a:srgbClr val="F7F2E8"/>
                </a:solidFill>
                <a:latin typeface="Consolas" panose="020B0609020204030204" pitchFamily="49" charset="0"/>
                <a:cs typeface="Segoe UI" panose="020B0502040204020203" pitchFamily="34" charset="0"/>
                <a:hlinkClick r:id="rId4"/>
              </a:rPr>
              <a:t>Diagnostic-Intelligence-Lab</a:t>
            </a:r>
            <a:endParaRPr lang="en-US" sz="1100" b="1">
              <a:solidFill>
                <a:srgbClr val="F7F2E8"/>
              </a:solidFill>
              <a:latin typeface="Consolas" panose="020B0609020204030204" pitchFamily="49" charset="0"/>
              <a:cs typeface="Segoe UI" panose="020B0502040204020203" pitchFamily="34" charset="0"/>
            </a:endParaRPr>
          </a:p>
        </p:txBody>
      </p:sp>
      <p:sp>
        <p:nvSpPr>
          <p:cNvPr id="18" name="txt-324">
            <a:extLst>
              <a:ext uri="{FF2B5EF4-FFF2-40B4-BE49-F238E27FC236}">
                <a16:creationId xmlns:a16="http://schemas.microsoft.com/office/drawing/2014/main" id="{2E75FE54-9D52-E355-4366-65583C747F0F}"/>
              </a:ext>
            </a:extLst>
          </p:cNvPr>
          <p:cNvSpPr txBox="1"/>
          <p:nvPr/>
        </p:nvSpPr>
        <p:spPr>
          <a:xfrm>
            <a:off x="7670800" y="4343400"/>
            <a:ext cx="3810000" cy="381000"/>
          </a:xfrm>
          <a:prstGeom prst="rect">
            <a:avLst/>
          </a:prstGeom>
          <a:noFill/>
        </p:spPr>
        <p:txBody>
          <a:bodyPr vert="horz" wrap="square" lIns="0" tIns="0" rIns="0" bIns="0" rtlCol="0" anchor="t">
            <a:noAutofit/>
          </a:bodyPr>
          <a:lstStyle/>
          <a:p>
            <a:pPr algn="r"/>
            <a:r>
              <a:rPr lang="en-US" sz="1000">
                <a:solidFill>
                  <a:srgbClr val="9DB1C4"/>
                </a:solidFill>
                <a:latin typeface="Consolas" panose="020B0609020204030204" pitchFamily="49" charset="0"/>
                <a:cs typeface="Segoe UI" panose="020B0502040204020203" pitchFamily="34" charset="0"/>
              </a:rPr>
              <a:t>Open source · MIT · github.com/MayMourad/Diagnostic-Intelligence-Lab</a:t>
            </a:r>
          </a:p>
        </p:txBody>
      </p:sp>
      <p:sp>
        <p:nvSpPr>
          <p:cNvPr id="19" name="txt-325">
            <a:extLst>
              <a:ext uri="{FF2B5EF4-FFF2-40B4-BE49-F238E27FC236}">
                <a16:creationId xmlns:a16="http://schemas.microsoft.com/office/drawing/2014/main" id="{10ECD70F-A93A-AF00-0A21-BB268D0D7D1E}"/>
              </a:ext>
            </a:extLst>
          </p:cNvPr>
          <p:cNvSpPr txBox="1"/>
          <p:nvPr/>
        </p:nvSpPr>
        <p:spPr>
          <a:xfrm>
            <a:off x="711200" y="6527800"/>
            <a:ext cx="8890000" cy="1778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cs typeface="Segoe UI" panose="020B0502040204020203" pitchFamily="34" charset="0"/>
              </a:rPr>
              <a:t>DIAGNOSTIC INTELLIGENCE LAB · AL DHAFRA HEALTH FORUM · EDUCATIONAL PROTOTYPE · NOT A MEDICAL DEVICE</a:t>
            </a:r>
          </a:p>
        </p:txBody>
      </p:sp>
      <p:sp>
        <p:nvSpPr>
          <p:cNvPr id="20" name="txt-326">
            <a:extLst>
              <a:ext uri="{FF2B5EF4-FFF2-40B4-BE49-F238E27FC236}">
                <a16:creationId xmlns:a16="http://schemas.microsoft.com/office/drawing/2014/main" id="{51CB3FF1-D074-0717-B0C7-F776DBCF1A30}"/>
              </a:ext>
            </a:extLst>
          </p:cNvPr>
          <p:cNvSpPr txBox="1"/>
          <p:nvPr/>
        </p:nvSpPr>
        <p:spPr>
          <a:xfrm>
            <a:off x="10972800" y="6527800"/>
            <a:ext cx="508000" cy="177800"/>
          </a:xfrm>
          <a:prstGeom prst="rect">
            <a:avLst/>
          </a:prstGeom>
          <a:noFill/>
        </p:spPr>
        <p:txBody>
          <a:bodyPr vert="horz" wrap="square" lIns="0" tIns="0" rIns="0" bIns="0" rtlCol="0" anchor="t">
            <a:noAutofit/>
          </a:bodyPr>
          <a:lstStyle/>
          <a:p>
            <a:pPr algn="r"/>
            <a:r>
              <a:rPr lang="en-US" sz="1000">
                <a:solidFill>
                  <a:srgbClr val="9DB1C4"/>
                </a:solidFill>
                <a:latin typeface="Consolas" panose="020B0609020204030204" pitchFamily="49" charset="0"/>
                <a:cs typeface="Segoe UI" panose="020B0502040204020203" pitchFamily="34" charset="0"/>
              </a:rPr>
              <a:t>12</a:t>
            </a:r>
          </a:p>
        </p:txBody>
      </p:sp>
    </p:spTree>
    <p:extLst>
      <p:ext uri="{BB962C8B-B14F-4D97-AF65-F5344CB8AC3E}">
        <p14:creationId xmlns:p14="http://schemas.microsoft.com/office/powerpoint/2010/main" val="402759101"/>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327">
            <a:extLst>
              <a:ext uri="{FF2B5EF4-FFF2-40B4-BE49-F238E27FC236}">
                <a16:creationId xmlns:a16="http://schemas.microsoft.com/office/drawing/2014/main" id="{DC0C9081-F1C3-BBBA-713C-01CF0A12EF5E}"/>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APPENDIX A · DIAGNOSTIC EVALUATION MATHEMATICS</a:t>
            </a:r>
          </a:p>
        </p:txBody>
      </p:sp>
      <p:sp>
        <p:nvSpPr>
          <p:cNvPr id="3" name="txt-328">
            <a:extLst>
              <a:ext uri="{FF2B5EF4-FFF2-40B4-BE49-F238E27FC236}">
                <a16:creationId xmlns:a16="http://schemas.microsoft.com/office/drawing/2014/main" id="{283D1AAF-97A6-73A2-4BC4-E35F0FA1A650}"/>
              </a:ext>
            </a:extLst>
          </p:cNvPr>
          <p:cNvSpPr txBox="1"/>
          <p:nvPr/>
        </p:nvSpPr>
        <p:spPr>
          <a:xfrm>
            <a:off x="711200" y="685800"/>
            <a:ext cx="9652000" cy="1143000"/>
          </a:xfrm>
          <a:prstGeom prst="rect">
            <a:avLst/>
          </a:prstGeom>
          <a:noFill/>
        </p:spPr>
        <p:txBody>
          <a:bodyPr vert="horz" wrap="square" lIns="0" tIns="0" rIns="0" bIns="0" rtlCol="0" anchor="t">
            <a:noAutofit/>
          </a:bodyPr>
          <a:lstStyle/>
          <a:p>
            <a:pPr>
              <a:lnSpc>
                <a:spcPct val="95000"/>
              </a:lnSpc>
            </a:pPr>
            <a:r>
              <a:rPr lang="en-US" sz="3200">
                <a:solidFill>
                  <a:srgbClr val="0A1A2C"/>
                </a:solidFill>
                <a:latin typeface="Georgia" panose="02040502050405020303" pitchFamily="18" charset="0"/>
                <a:cs typeface="Segoe UI" panose="020B0502040204020203" pitchFamily="34" charset="0"/>
              </a:rPr>
              <a:t>Four counts. Everything else follows.</a:t>
            </a:r>
          </a:p>
        </p:txBody>
      </p:sp>
      <p:cxnSp>
        <p:nvCxnSpPr>
          <p:cNvPr id="4" name="rule-329">
            <a:extLst>
              <a:ext uri="{FF2B5EF4-FFF2-40B4-BE49-F238E27FC236}">
                <a16:creationId xmlns:a16="http://schemas.microsoft.com/office/drawing/2014/main" id="{ACE7C7C2-5F52-A708-7164-AB13E7892753}"/>
              </a:ext>
            </a:extLst>
          </p:cNvPr>
          <p:cNvCxnSpPr/>
          <p:nvPr/>
        </p:nvCxnSpPr>
        <p:spPr>
          <a:xfrm>
            <a:off x="711200" y="1625600"/>
            <a:ext cx="51816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5" name="txt-330">
            <a:extLst>
              <a:ext uri="{FF2B5EF4-FFF2-40B4-BE49-F238E27FC236}">
                <a16:creationId xmlns:a16="http://schemas.microsoft.com/office/drawing/2014/main" id="{99A432C2-070E-4173-0D11-C112A8521371}"/>
              </a:ext>
            </a:extLst>
          </p:cNvPr>
          <p:cNvSpPr txBox="1"/>
          <p:nvPr/>
        </p:nvSpPr>
        <p:spPr>
          <a:xfrm>
            <a:off x="711200" y="1701800"/>
            <a:ext cx="1524000" cy="254000"/>
          </a:xfrm>
          <a:prstGeom prst="rect">
            <a:avLst/>
          </a:prstGeom>
          <a:noFill/>
        </p:spPr>
        <p:txBody>
          <a:bodyPr vert="horz" wrap="square" lIns="0" tIns="0" rIns="0" bIns="0" rtlCol="0" anchor="t">
            <a:noAutofit/>
          </a:bodyPr>
          <a:lstStyle/>
          <a:p>
            <a:r>
              <a:rPr lang="en-US" sz="1600">
                <a:solidFill>
                  <a:srgbClr val="0A1A2C"/>
                </a:solidFill>
                <a:latin typeface="Georgia" panose="02040502050405020303" pitchFamily="18" charset="0"/>
                <a:cs typeface="Segoe UI" panose="020B0502040204020203" pitchFamily="34" charset="0"/>
              </a:rPr>
              <a:t>Sensitivity</a:t>
            </a:r>
          </a:p>
        </p:txBody>
      </p:sp>
      <p:sp>
        <p:nvSpPr>
          <p:cNvPr id="6" name="txt-331">
            <a:extLst>
              <a:ext uri="{FF2B5EF4-FFF2-40B4-BE49-F238E27FC236}">
                <a16:creationId xmlns:a16="http://schemas.microsoft.com/office/drawing/2014/main" id="{0EC70E55-FED2-2625-CA05-8E173C3150E2}"/>
              </a:ext>
            </a:extLst>
          </p:cNvPr>
          <p:cNvSpPr txBox="1"/>
          <p:nvPr/>
        </p:nvSpPr>
        <p:spPr>
          <a:xfrm>
            <a:off x="2286000" y="1714500"/>
            <a:ext cx="3606800" cy="228600"/>
          </a:xfrm>
          <a:prstGeom prst="rect">
            <a:avLst/>
          </a:prstGeom>
          <a:noFill/>
        </p:spPr>
        <p:txBody>
          <a:bodyPr vert="horz" wrap="square" lIns="0" tIns="0" rIns="0" bIns="0" rtlCol="0" anchor="t">
            <a:noAutofit/>
          </a:bodyPr>
          <a:lstStyle/>
          <a:p>
            <a:r>
              <a:rPr lang="en-US" sz="1050">
                <a:solidFill>
                  <a:srgbClr val="2A665F"/>
                </a:solidFill>
                <a:latin typeface="Consolas" panose="020B0609020204030204" pitchFamily="49" charset="0"/>
                <a:cs typeface="Segoe UI" panose="020B0502040204020203" pitchFamily="34" charset="0"/>
              </a:rPr>
              <a:t>TP ÷ (TP + FN)</a:t>
            </a:r>
          </a:p>
        </p:txBody>
      </p:sp>
      <p:sp>
        <p:nvSpPr>
          <p:cNvPr id="7" name="txt-332">
            <a:extLst>
              <a:ext uri="{FF2B5EF4-FFF2-40B4-BE49-F238E27FC236}">
                <a16:creationId xmlns:a16="http://schemas.microsoft.com/office/drawing/2014/main" id="{55B16543-6DC1-3A73-FD33-5AE3D408059C}"/>
              </a:ext>
            </a:extLst>
          </p:cNvPr>
          <p:cNvSpPr txBox="1"/>
          <p:nvPr/>
        </p:nvSpPr>
        <p:spPr>
          <a:xfrm>
            <a:off x="2286000" y="1981200"/>
            <a:ext cx="3632200" cy="584200"/>
          </a:xfrm>
          <a:prstGeom prst="rect">
            <a:avLst/>
          </a:prstGeom>
          <a:noFill/>
        </p:spPr>
        <p:txBody>
          <a:bodyPr vert="horz" wrap="square" lIns="0" tIns="0" rIns="0" bIns="0" rtlCol="0" anchor="t">
            <a:noAutofit/>
          </a:bodyPr>
          <a:lstStyle/>
          <a:p>
            <a:r>
              <a:rPr lang="en-US" sz="1250">
                <a:solidFill>
                  <a:srgbClr val="3B4A5C"/>
                </a:solidFill>
                <a:latin typeface="Calibri" panose="020F0502020204030204" pitchFamily="34" charset="0"/>
                <a:cs typeface="Segoe UI" panose="020B0502040204020203" pitchFamily="34" charset="0"/>
              </a:rPr>
              <a:t>Of the truly referable, the share found. Misses are FN.</a:t>
            </a:r>
          </a:p>
        </p:txBody>
      </p:sp>
      <p:cxnSp>
        <p:nvCxnSpPr>
          <p:cNvPr id="8" name="rule-333">
            <a:extLst>
              <a:ext uri="{FF2B5EF4-FFF2-40B4-BE49-F238E27FC236}">
                <a16:creationId xmlns:a16="http://schemas.microsoft.com/office/drawing/2014/main" id="{3E1F89FF-C524-BB0E-4BDD-70F0C389200D}"/>
              </a:ext>
            </a:extLst>
          </p:cNvPr>
          <p:cNvCxnSpPr/>
          <p:nvPr/>
        </p:nvCxnSpPr>
        <p:spPr>
          <a:xfrm>
            <a:off x="6248400" y="1625600"/>
            <a:ext cx="51816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9" name="txt-334">
            <a:extLst>
              <a:ext uri="{FF2B5EF4-FFF2-40B4-BE49-F238E27FC236}">
                <a16:creationId xmlns:a16="http://schemas.microsoft.com/office/drawing/2014/main" id="{6B845A13-1E38-0608-7190-AA017283D708}"/>
              </a:ext>
            </a:extLst>
          </p:cNvPr>
          <p:cNvSpPr txBox="1"/>
          <p:nvPr/>
        </p:nvSpPr>
        <p:spPr>
          <a:xfrm>
            <a:off x="6248400" y="1701800"/>
            <a:ext cx="1524000" cy="254000"/>
          </a:xfrm>
          <a:prstGeom prst="rect">
            <a:avLst/>
          </a:prstGeom>
          <a:noFill/>
        </p:spPr>
        <p:txBody>
          <a:bodyPr vert="horz" wrap="square" lIns="0" tIns="0" rIns="0" bIns="0" rtlCol="0" anchor="t">
            <a:noAutofit/>
          </a:bodyPr>
          <a:lstStyle/>
          <a:p>
            <a:r>
              <a:rPr lang="en-US" sz="1600">
                <a:solidFill>
                  <a:srgbClr val="0A1A2C"/>
                </a:solidFill>
                <a:latin typeface="Georgia" panose="02040502050405020303" pitchFamily="18" charset="0"/>
                <a:cs typeface="Segoe UI" panose="020B0502040204020203" pitchFamily="34" charset="0"/>
              </a:rPr>
              <a:t>Specificity</a:t>
            </a:r>
          </a:p>
        </p:txBody>
      </p:sp>
      <p:sp>
        <p:nvSpPr>
          <p:cNvPr id="10" name="txt-335">
            <a:extLst>
              <a:ext uri="{FF2B5EF4-FFF2-40B4-BE49-F238E27FC236}">
                <a16:creationId xmlns:a16="http://schemas.microsoft.com/office/drawing/2014/main" id="{F9B8A5DD-109A-00F1-FBF2-521274A2D71A}"/>
              </a:ext>
            </a:extLst>
          </p:cNvPr>
          <p:cNvSpPr txBox="1"/>
          <p:nvPr/>
        </p:nvSpPr>
        <p:spPr>
          <a:xfrm>
            <a:off x="7823200" y="1714500"/>
            <a:ext cx="3606800" cy="228600"/>
          </a:xfrm>
          <a:prstGeom prst="rect">
            <a:avLst/>
          </a:prstGeom>
          <a:noFill/>
        </p:spPr>
        <p:txBody>
          <a:bodyPr vert="horz" wrap="square" lIns="0" tIns="0" rIns="0" bIns="0" rtlCol="0" anchor="t">
            <a:noAutofit/>
          </a:bodyPr>
          <a:lstStyle/>
          <a:p>
            <a:r>
              <a:rPr lang="en-US" sz="1050">
                <a:solidFill>
                  <a:srgbClr val="2A665F"/>
                </a:solidFill>
                <a:latin typeface="Consolas" panose="020B0609020204030204" pitchFamily="49" charset="0"/>
                <a:cs typeface="Segoe UI" panose="020B0502040204020203" pitchFamily="34" charset="0"/>
              </a:rPr>
              <a:t>TN ÷ (TN + FP)</a:t>
            </a:r>
          </a:p>
        </p:txBody>
      </p:sp>
      <p:sp>
        <p:nvSpPr>
          <p:cNvPr id="11" name="txt-336">
            <a:extLst>
              <a:ext uri="{FF2B5EF4-FFF2-40B4-BE49-F238E27FC236}">
                <a16:creationId xmlns:a16="http://schemas.microsoft.com/office/drawing/2014/main" id="{7357C5B5-7905-D6A2-F177-9070156D87F3}"/>
              </a:ext>
            </a:extLst>
          </p:cNvPr>
          <p:cNvSpPr txBox="1"/>
          <p:nvPr/>
        </p:nvSpPr>
        <p:spPr>
          <a:xfrm>
            <a:off x="7823200" y="1981200"/>
            <a:ext cx="3632200" cy="584200"/>
          </a:xfrm>
          <a:prstGeom prst="rect">
            <a:avLst/>
          </a:prstGeom>
          <a:noFill/>
        </p:spPr>
        <p:txBody>
          <a:bodyPr vert="horz" wrap="square" lIns="0" tIns="0" rIns="0" bIns="0" rtlCol="0" anchor="t">
            <a:noAutofit/>
          </a:bodyPr>
          <a:lstStyle/>
          <a:p>
            <a:r>
              <a:rPr lang="en-US" sz="1250">
                <a:solidFill>
                  <a:srgbClr val="3B4A5C"/>
                </a:solidFill>
                <a:latin typeface="Calibri" panose="020F0502020204030204" pitchFamily="34" charset="0"/>
                <a:cs typeface="Segoe UI" panose="020B0502040204020203" pitchFamily="34" charset="0"/>
              </a:rPr>
              <a:t>Of the truly non-referable, the share correctly cleared.</a:t>
            </a:r>
          </a:p>
        </p:txBody>
      </p:sp>
      <p:cxnSp>
        <p:nvCxnSpPr>
          <p:cNvPr id="12" name="rule-337">
            <a:extLst>
              <a:ext uri="{FF2B5EF4-FFF2-40B4-BE49-F238E27FC236}">
                <a16:creationId xmlns:a16="http://schemas.microsoft.com/office/drawing/2014/main" id="{53597F60-8388-A734-EC4F-6EFB15F45A0A}"/>
              </a:ext>
            </a:extLst>
          </p:cNvPr>
          <p:cNvCxnSpPr/>
          <p:nvPr/>
        </p:nvCxnSpPr>
        <p:spPr>
          <a:xfrm>
            <a:off x="711200" y="2616200"/>
            <a:ext cx="51816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13" name="txt-338">
            <a:extLst>
              <a:ext uri="{FF2B5EF4-FFF2-40B4-BE49-F238E27FC236}">
                <a16:creationId xmlns:a16="http://schemas.microsoft.com/office/drawing/2014/main" id="{EFC61A8F-53A2-CDE2-3853-5BD14F3380E3}"/>
              </a:ext>
            </a:extLst>
          </p:cNvPr>
          <p:cNvSpPr txBox="1"/>
          <p:nvPr/>
        </p:nvSpPr>
        <p:spPr>
          <a:xfrm>
            <a:off x="711200" y="2692400"/>
            <a:ext cx="1524000" cy="254000"/>
          </a:xfrm>
          <a:prstGeom prst="rect">
            <a:avLst/>
          </a:prstGeom>
          <a:noFill/>
        </p:spPr>
        <p:txBody>
          <a:bodyPr vert="horz" wrap="square" lIns="0" tIns="0" rIns="0" bIns="0" rtlCol="0" anchor="t">
            <a:noAutofit/>
          </a:bodyPr>
          <a:lstStyle/>
          <a:p>
            <a:r>
              <a:rPr lang="en-US" sz="1600">
                <a:solidFill>
                  <a:srgbClr val="0A1A2C"/>
                </a:solidFill>
                <a:latin typeface="Georgia" panose="02040502050405020303" pitchFamily="18" charset="0"/>
                <a:cs typeface="Segoe UI" panose="020B0502040204020203" pitchFamily="34" charset="0"/>
              </a:rPr>
              <a:t>PPV</a:t>
            </a:r>
          </a:p>
        </p:txBody>
      </p:sp>
      <p:sp>
        <p:nvSpPr>
          <p:cNvPr id="14" name="txt-339">
            <a:extLst>
              <a:ext uri="{FF2B5EF4-FFF2-40B4-BE49-F238E27FC236}">
                <a16:creationId xmlns:a16="http://schemas.microsoft.com/office/drawing/2014/main" id="{67335015-FAC6-A58F-B60B-D7ADBC443AC8}"/>
              </a:ext>
            </a:extLst>
          </p:cNvPr>
          <p:cNvSpPr txBox="1"/>
          <p:nvPr/>
        </p:nvSpPr>
        <p:spPr>
          <a:xfrm>
            <a:off x="2286000" y="2705100"/>
            <a:ext cx="3606800" cy="228600"/>
          </a:xfrm>
          <a:prstGeom prst="rect">
            <a:avLst/>
          </a:prstGeom>
          <a:noFill/>
        </p:spPr>
        <p:txBody>
          <a:bodyPr vert="horz" wrap="square" lIns="0" tIns="0" rIns="0" bIns="0" rtlCol="0" anchor="t">
            <a:noAutofit/>
          </a:bodyPr>
          <a:lstStyle/>
          <a:p>
            <a:r>
              <a:rPr lang="en-US" sz="1050">
                <a:solidFill>
                  <a:srgbClr val="2A665F"/>
                </a:solidFill>
                <a:latin typeface="Consolas" panose="020B0609020204030204" pitchFamily="49" charset="0"/>
                <a:cs typeface="Segoe UI" panose="020B0502040204020203" pitchFamily="34" charset="0"/>
              </a:rPr>
              <a:t>TP ÷ (TP + FP)</a:t>
            </a:r>
          </a:p>
        </p:txBody>
      </p:sp>
      <p:sp>
        <p:nvSpPr>
          <p:cNvPr id="15" name="txt-340">
            <a:extLst>
              <a:ext uri="{FF2B5EF4-FFF2-40B4-BE49-F238E27FC236}">
                <a16:creationId xmlns:a16="http://schemas.microsoft.com/office/drawing/2014/main" id="{C93DC544-776C-F5AB-C7AB-1BD329261477}"/>
              </a:ext>
            </a:extLst>
          </p:cNvPr>
          <p:cNvSpPr txBox="1"/>
          <p:nvPr/>
        </p:nvSpPr>
        <p:spPr>
          <a:xfrm>
            <a:off x="2286000" y="2971800"/>
            <a:ext cx="3632200" cy="584200"/>
          </a:xfrm>
          <a:prstGeom prst="rect">
            <a:avLst/>
          </a:prstGeom>
          <a:noFill/>
        </p:spPr>
        <p:txBody>
          <a:bodyPr vert="horz" wrap="square" lIns="0" tIns="0" rIns="0" bIns="0" rtlCol="0" anchor="t">
            <a:noAutofit/>
          </a:bodyPr>
          <a:lstStyle/>
          <a:p>
            <a:r>
              <a:rPr lang="en-US" sz="1250">
                <a:solidFill>
                  <a:srgbClr val="3B4A5C"/>
                </a:solidFill>
                <a:latin typeface="Calibri" panose="020F0502020204030204" pitchFamily="34" charset="0"/>
                <a:cs typeface="Segoe UI" panose="020B0502040204020203" pitchFamily="34" charset="0"/>
              </a:rPr>
              <a:t>When it says “refer”, how often it is right — depends on prevalence.</a:t>
            </a:r>
          </a:p>
        </p:txBody>
      </p:sp>
      <p:cxnSp>
        <p:nvCxnSpPr>
          <p:cNvPr id="16" name="rule-341">
            <a:extLst>
              <a:ext uri="{FF2B5EF4-FFF2-40B4-BE49-F238E27FC236}">
                <a16:creationId xmlns:a16="http://schemas.microsoft.com/office/drawing/2014/main" id="{972D5C24-2003-CC1B-52A6-C0B0A265CA2F}"/>
              </a:ext>
            </a:extLst>
          </p:cNvPr>
          <p:cNvCxnSpPr/>
          <p:nvPr/>
        </p:nvCxnSpPr>
        <p:spPr>
          <a:xfrm>
            <a:off x="6248400" y="2616200"/>
            <a:ext cx="51816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17" name="txt-342">
            <a:extLst>
              <a:ext uri="{FF2B5EF4-FFF2-40B4-BE49-F238E27FC236}">
                <a16:creationId xmlns:a16="http://schemas.microsoft.com/office/drawing/2014/main" id="{14505CD0-4ACD-AB3A-E91B-0B7B30FAD53A}"/>
              </a:ext>
            </a:extLst>
          </p:cNvPr>
          <p:cNvSpPr txBox="1"/>
          <p:nvPr/>
        </p:nvSpPr>
        <p:spPr>
          <a:xfrm>
            <a:off x="6248400" y="2692400"/>
            <a:ext cx="1524000" cy="254000"/>
          </a:xfrm>
          <a:prstGeom prst="rect">
            <a:avLst/>
          </a:prstGeom>
          <a:noFill/>
        </p:spPr>
        <p:txBody>
          <a:bodyPr vert="horz" wrap="square" lIns="0" tIns="0" rIns="0" bIns="0" rtlCol="0" anchor="t">
            <a:noAutofit/>
          </a:bodyPr>
          <a:lstStyle/>
          <a:p>
            <a:r>
              <a:rPr lang="en-US" sz="1600">
                <a:solidFill>
                  <a:srgbClr val="0A1A2C"/>
                </a:solidFill>
                <a:latin typeface="Georgia" panose="02040502050405020303" pitchFamily="18" charset="0"/>
                <a:cs typeface="Segoe UI" panose="020B0502040204020203" pitchFamily="34" charset="0"/>
              </a:rPr>
              <a:t>NPV</a:t>
            </a:r>
          </a:p>
        </p:txBody>
      </p:sp>
      <p:sp>
        <p:nvSpPr>
          <p:cNvPr id="18" name="txt-343">
            <a:extLst>
              <a:ext uri="{FF2B5EF4-FFF2-40B4-BE49-F238E27FC236}">
                <a16:creationId xmlns:a16="http://schemas.microsoft.com/office/drawing/2014/main" id="{B3AAD120-9EB3-065A-D753-D912118513AC}"/>
              </a:ext>
            </a:extLst>
          </p:cNvPr>
          <p:cNvSpPr txBox="1"/>
          <p:nvPr/>
        </p:nvSpPr>
        <p:spPr>
          <a:xfrm>
            <a:off x="7823200" y="2705100"/>
            <a:ext cx="3606800" cy="228600"/>
          </a:xfrm>
          <a:prstGeom prst="rect">
            <a:avLst/>
          </a:prstGeom>
          <a:noFill/>
        </p:spPr>
        <p:txBody>
          <a:bodyPr vert="horz" wrap="square" lIns="0" tIns="0" rIns="0" bIns="0" rtlCol="0" anchor="t">
            <a:noAutofit/>
          </a:bodyPr>
          <a:lstStyle/>
          <a:p>
            <a:r>
              <a:rPr lang="en-US" sz="1050">
                <a:solidFill>
                  <a:srgbClr val="2A665F"/>
                </a:solidFill>
                <a:latin typeface="Consolas" panose="020B0609020204030204" pitchFamily="49" charset="0"/>
                <a:cs typeface="Segoe UI" panose="020B0502040204020203" pitchFamily="34" charset="0"/>
              </a:rPr>
              <a:t>TN ÷ (TN + FN)</a:t>
            </a:r>
          </a:p>
        </p:txBody>
      </p:sp>
      <p:sp>
        <p:nvSpPr>
          <p:cNvPr id="19" name="txt-344">
            <a:extLst>
              <a:ext uri="{FF2B5EF4-FFF2-40B4-BE49-F238E27FC236}">
                <a16:creationId xmlns:a16="http://schemas.microsoft.com/office/drawing/2014/main" id="{36152F52-78C5-50AE-68AC-A98DB5C1E72C}"/>
              </a:ext>
            </a:extLst>
          </p:cNvPr>
          <p:cNvSpPr txBox="1"/>
          <p:nvPr/>
        </p:nvSpPr>
        <p:spPr>
          <a:xfrm>
            <a:off x="7823200" y="2971800"/>
            <a:ext cx="3632200" cy="584200"/>
          </a:xfrm>
          <a:prstGeom prst="rect">
            <a:avLst/>
          </a:prstGeom>
          <a:noFill/>
        </p:spPr>
        <p:txBody>
          <a:bodyPr vert="horz" wrap="square" lIns="0" tIns="0" rIns="0" bIns="0" rtlCol="0" anchor="t">
            <a:noAutofit/>
          </a:bodyPr>
          <a:lstStyle/>
          <a:p>
            <a:r>
              <a:rPr lang="en-US" sz="1250">
                <a:solidFill>
                  <a:srgbClr val="3B4A5C"/>
                </a:solidFill>
                <a:latin typeface="Calibri" panose="020F0502020204030204" pitchFamily="34" charset="0"/>
                <a:cs typeface="Segoe UI" panose="020B0502040204020203" pitchFamily="34" charset="0"/>
              </a:rPr>
              <a:t>When it says “routine”, how often it is right — depends on prevalence.</a:t>
            </a:r>
          </a:p>
        </p:txBody>
      </p:sp>
      <p:cxnSp>
        <p:nvCxnSpPr>
          <p:cNvPr id="20" name="rule-345">
            <a:extLst>
              <a:ext uri="{FF2B5EF4-FFF2-40B4-BE49-F238E27FC236}">
                <a16:creationId xmlns:a16="http://schemas.microsoft.com/office/drawing/2014/main" id="{43480077-E5BA-6A40-D5E2-D12C69A5866E}"/>
              </a:ext>
            </a:extLst>
          </p:cNvPr>
          <p:cNvCxnSpPr/>
          <p:nvPr/>
        </p:nvCxnSpPr>
        <p:spPr>
          <a:xfrm>
            <a:off x="711200" y="3606800"/>
            <a:ext cx="51816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21" name="txt-346">
            <a:extLst>
              <a:ext uri="{FF2B5EF4-FFF2-40B4-BE49-F238E27FC236}">
                <a16:creationId xmlns:a16="http://schemas.microsoft.com/office/drawing/2014/main" id="{8898D3D1-0F8C-27BB-B2C2-8F5697D8E66F}"/>
              </a:ext>
            </a:extLst>
          </p:cNvPr>
          <p:cNvSpPr txBox="1"/>
          <p:nvPr/>
        </p:nvSpPr>
        <p:spPr>
          <a:xfrm>
            <a:off x="711200" y="3683000"/>
            <a:ext cx="1524000" cy="254000"/>
          </a:xfrm>
          <a:prstGeom prst="rect">
            <a:avLst/>
          </a:prstGeom>
          <a:noFill/>
        </p:spPr>
        <p:txBody>
          <a:bodyPr vert="horz" wrap="square" lIns="0" tIns="0" rIns="0" bIns="0" rtlCol="0" anchor="t">
            <a:noAutofit/>
          </a:bodyPr>
          <a:lstStyle/>
          <a:p>
            <a:r>
              <a:rPr lang="en-US" sz="1600">
                <a:solidFill>
                  <a:srgbClr val="0A1A2C"/>
                </a:solidFill>
                <a:latin typeface="Georgia" panose="02040502050405020303" pitchFamily="18" charset="0"/>
                <a:cs typeface="Segoe UI" panose="020B0502040204020203" pitchFamily="34" charset="0"/>
              </a:rPr>
              <a:t>Accuracy</a:t>
            </a:r>
          </a:p>
        </p:txBody>
      </p:sp>
      <p:sp>
        <p:nvSpPr>
          <p:cNvPr id="22" name="txt-347">
            <a:extLst>
              <a:ext uri="{FF2B5EF4-FFF2-40B4-BE49-F238E27FC236}">
                <a16:creationId xmlns:a16="http://schemas.microsoft.com/office/drawing/2014/main" id="{6756968D-78E6-393E-AEA8-FA6D3B4135A4}"/>
              </a:ext>
            </a:extLst>
          </p:cNvPr>
          <p:cNvSpPr txBox="1"/>
          <p:nvPr/>
        </p:nvSpPr>
        <p:spPr>
          <a:xfrm>
            <a:off x="2286000" y="3695700"/>
            <a:ext cx="3606800" cy="228600"/>
          </a:xfrm>
          <a:prstGeom prst="rect">
            <a:avLst/>
          </a:prstGeom>
          <a:noFill/>
        </p:spPr>
        <p:txBody>
          <a:bodyPr vert="horz" wrap="square" lIns="0" tIns="0" rIns="0" bIns="0" rtlCol="0" anchor="t">
            <a:noAutofit/>
          </a:bodyPr>
          <a:lstStyle/>
          <a:p>
            <a:r>
              <a:rPr lang="en-US" sz="1050">
                <a:solidFill>
                  <a:srgbClr val="2A665F"/>
                </a:solidFill>
                <a:latin typeface="Consolas" panose="020B0609020204030204" pitchFamily="49" charset="0"/>
                <a:cs typeface="Segoe UI" panose="020B0502040204020203" pitchFamily="34" charset="0"/>
              </a:rPr>
              <a:t>(TP + TN) ÷ all</a:t>
            </a:r>
          </a:p>
        </p:txBody>
      </p:sp>
      <p:sp>
        <p:nvSpPr>
          <p:cNvPr id="23" name="txt-348">
            <a:extLst>
              <a:ext uri="{FF2B5EF4-FFF2-40B4-BE49-F238E27FC236}">
                <a16:creationId xmlns:a16="http://schemas.microsoft.com/office/drawing/2014/main" id="{804DF992-D555-1C8A-E948-781EBE9F6418}"/>
              </a:ext>
            </a:extLst>
          </p:cNvPr>
          <p:cNvSpPr txBox="1"/>
          <p:nvPr/>
        </p:nvSpPr>
        <p:spPr>
          <a:xfrm>
            <a:off x="2286000" y="3962400"/>
            <a:ext cx="3632200" cy="584200"/>
          </a:xfrm>
          <a:prstGeom prst="rect">
            <a:avLst/>
          </a:prstGeom>
          <a:noFill/>
        </p:spPr>
        <p:txBody>
          <a:bodyPr vert="horz" wrap="square" lIns="0" tIns="0" rIns="0" bIns="0" rtlCol="0" anchor="t">
            <a:noAutofit/>
          </a:bodyPr>
          <a:lstStyle/>
          <a:p>
            <a:r>
              <a:rPr lang="en-US" sz="1250">
                <a:solidFill>
                  <a:srgbClr val="3B4A5C"/>
                </a:solidFill>
                <a:latin typeface="Calibri" panose="020F0502020204030204" pitchFamily="34" charset="0"/>
                <a:cs typeface="Segoe UI" panose="020B0502040204020203" pitchFamily="34" charset="0"/>
              </a:rPr>
              <a:t>Overall agreement; can hide a poor sensitivity when disease is rare.</a:t>
            </a:r>
          </a:p>
        </p:txBody>
      </p:sp>
      <p:cxnSp>
        <p:nvCxnSpPr>
          <p:cNvPr id="24" name="rule-349">
            <a:extLst>
              <a:ext uri="{FF2B5EF4-FFF2-40B4-BE49-F238E27FC236}">
                <a16:creationId xmlns:a16="http://schemas.microsoft.com/office/drawing/2014/main" id="{AD7B5130-89D6-CDB7-6F1B-7B40680EB901}"/>
              </a:ext>
            </a:extLst>
          </p:cNvPr>
          <p:cNvCxnSpPr/>
          <p:nvPr/>
        </p:nvCxnSpPr>
        <p:spPr>
          <a:xfrm>
            <a:off x="6248400" y="3606800"/>
            <a:ext cx="51816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25" name="txt-350">
            <a:extLst>
              <a:ext uri="{FF2B5EF4-FFF2-40B4-BE49-F238E27FC236}">
                <a16:creationId xmlns:a16="http://schemas.microsoft.com/office/drawing/2014/main" id="{E6B5F7B7-FB16-4D32-0DC5-622DE1E29014}"/>
              </a:ext>
            </a:extLst>
          </p:cNvPr>
          <p:cNvSpPr txBox="1"/>
          <p:nvPr/>
        </p:nvSpPr>
        <p:spPr>
          <a:xfrm>
            <a:off x="6248400" y="3683000"/>
            <a:ext cx="1524000" cy="254000"/>
          </a:xfrm>
          <a:prstGeom prst="rect">
            <a:avLst/>
          </a:prstGeom>
          <a:noFill/>
        </p:spPr>
        <p:txBody>
          <a:bodyPr vert="horz" wrap="square" lIns="0" tIns="0" rIns="0" bIns="0" rtlCol="0" anchor="t">
            <a:noAutofit/>
          </a:bodyPr>
          <a:lstStyle/>
          <a:p>
            <a:r>
              <a:rPr lang="en-US" sz="1600">
                <a:solidFill>
                  <a:srgbClr val="0A1A2C"/>
                </a:solidFill>
                <a:latin typeface="Georgia" panose="02040502050405020303" pitchFamily="18" charset="0"/>
                <a:cs typeface="Segoe UI" panose="020B0502040204020203" pitchFamily="34" charset="0"/>
              </a:rPr>
              <a:t>Wilson 95% CI</a:t>
            </a:r>
          </a:p>
        </p:txBody>
      </p:sp>
      <p:sp>
        <p:nvSpPr>
          <p:cNvPr id="26" name="txt-351">
            <a:extLst>
              <a:ext uri="{FF2B5EF4-FFF2-40B4-BE49-F238E27FC236}">
                <a16:creationId xmlns:a16="http://schemas.microsoft.com/office/drawing/2014/main" id="{90BE4F12-C24E-EE93-CD32-D69D1C41D53C}"/>
              </a:ext>
            </a:extLst>
          </p:cNvPr>
          <p:cNvSpPr txBox="1"/>
          <p:nvPr/>
        </p:nvSpPr>
        <p:spPr>
          <a:xfrm>
            <a:off x="7823200" y="3695700"/>
            <a:ext cx="3606800" cy="228600"/>
          </a:xfrm>
          <a:prstGeom prst="rect">
            <a:avLst/>
          </a:prstGeom>
          <a:noFill/>
        </p:spPr>
        <p:txBody>
          <a:bodyPr vert="horz" wrap="square" lIns="0" tIns="0" rIns="0" bIns="0" rtlCol="0" anchor="t">
            <a:noAutofit/>
          </a:bodyPr>
          <a:lstStyle/>
          <a:p>
            <a:r>
              <a:rPr lang="pl-PL" sz="1050">
                <a:solidFill>
                  <a:srgbClr val="2A665F"/>
                </a:solidFill>
                <a:latin typeface="Consolas" panose="020B0609020204030204" pitchFamily="49" charset="0"/>
                <a:cs typeface="Segoe UI" panose="020B0502040204020203" pitchFamily="34" charset="0"/>
              </a:rPr>
              <a:t>p̂ ± z·√(p̂(1−p̂)/n + z²/4n²) ÷ (1+z²/n)</a:t>
            </a:r>
            <a:endParaRPr lang="en-US" sz="1050">
              <a:solidFill>
                <a:srgbClr val="2A665F"/>
              </a:solidFill>
              <a:latin typeface="Consolas" panose="020B0609020204030204" pitchFamily="49" charset="0"/>
              <a:cs typeface="Segoe UI" panose="020B0502040204020203" pitchFamily="34" charset="0"/>
            </a:endParaRPr>
          </a:p>
        </p:txBody>
      </p:sp>
      <p:sp>
        <p:nvSpPr>
          <p:cNvPr id="27" name="txt-352">
            <a:extLst>
              <a:ext uri="{FF2B5EF4-FFF2-40B4-BE49-F238E27FC236}">
                <a16:creationId xmlns:a16="http://schemas.microsoft.com/office/drawing/2014/main" id="{17DAEF03-4571-1FF8-FE0F-4276E73E35B1}"/>
              </a:ext>
            </a:extLst>
          </p:cNvPr>
          <p:cNvSpPr txBox="1"/>
          <p:nvPr/>
        </p:nvSpPr>
        <p:spPr>
          <a:xfrm>
            <a:off x="7823200" y="3962400"/>
            <a:ext cx="3632200" cy="584200"/>
          </a:xfrm>
          <a:prstGeom prst="rect">
            <a:avLst/>
          </a:prstGeom>
          <a:noFill/>
        </p:spPr>
        <p:txBody>
          <a:bodyPr vert="horz" wrap="square" lIns="0" tIns="0" rIns="0" bIns="0" rtlCol="0" anchor="t">
            <a:noAutofit/>
          </a:bodyPr>
          <a:lstStyle/>
          <a:p>
            <a:r>
              <a:rPr lang="en-US" sz="1250">
                <a:solidFill>
                  <a:srgbClr val="3B4A5C"/>
                </a:solidFill>
                <a:latin typeface="Calibri" panose="020F0502020204030204" pitchFamily="34" charset="0"/>
                <a:cs typeface="Segoe UI" panose="020B0502040204020203" pitchFamily="34" charset="0"/>
              </a:rPr>
              <a:t>Interval for a proportion; wide when n is small.</a:t>
            </a:r>
          </a:p>
        </p:txBody>
      </p:sp>
      <p:sp>
        <p:nvSpPr>
          <p:cNvPr id="28" name="txt-353">
            <a:extLst>
              <a:ext uri="{FF2B5EF4-FFF2-40B4-BE49-F238E27FC236}">
                <a16:creationId xmlns:a16="http://schemas.microsoft.com/office/drawing/2014/main" id="{356B47F9-B52B-EA72-0AC0-022A278CB032}"/>
              </a:ext>
            </a:extLst>
          </p:cNvPr>
          <p:cNvSpPr txBox="1"/>
          <p:nvPr/>
        </p:nvSpPr>
        <p:spPr>
          <a:xfrm>
            <a:off x="711200" y="4648200"/>
            <a:ext cx="5334000" cy="889000"/>
          </a:xfrm>
          <a:prstGeom prst="rect">
            <a:avLst/>
          </a:prstGeom>
          <a:noFill/>
        </p:spPr>
        <p:txBody>
          <a:bodyPr vert="horz" wrap="square" lIns="0" tIns="0" rIns="0" bIns="0" rtlCol="0" anchor="t">
            <a:noAutofit/>
          </a:bodyPr>
          <a:lstStyle/>
          <a:p>
            <a:pPr>
              <a:spcAft>
                <a:spcPts val="300"/>
              </a:spcAft>
            </a:pPr>
            <a:r>
              <a:rPr lang="en-US" sz="1000">
                <a:solidFill>
                  <a:srgbClr val="2A665F"/>
                </a:solidFill>
                <a:latin typeface="Consolas" panose="020B0609020204030204" pitchFamily="49" charset="0"/>
                <a:cs typeface="Segoe UI" panose="020B0502040204020203" pitchFamily="34" charset="0"/>
              </a:rPr>
              <a:t>THRESHOLD TRADE-OFF</a:t>
            </a:r>
          </a:p>
          <a:p>
            <a:pPr>
              <a:spcAft>
                <a:spcPts val="300"/>
              </a:spcAft>
            </a:pPr>
            <a:r>
              <a:rPr lang="en-US" sz="1300">
                <a:solidFill>
                  <a:srgbClr val="3B4A5C"/>
                </a:solidFill>
                <a:latin typeface="Calibri" panose="020F0502020204030204" pitchFamily="34" charset="0"/>
                <a:cs typeface="Segoe UI" panose="020B0502040204020203" pitchFamily="34" charset="0"/>
              </a:rPr>
              <a:t>Raising the decision threshold trades sensitivity for specificity — it never improves both. The simulator at right is stamped SIMULATION and uses random scores, not a model.</a:t>
            </a:r>
          </a:p>
        </p:txBody>
      </p:sp>
      <p:pic>
        <p:nvPicPr>
          <p:cNvPr id="30" name="pic-354" descr="Simulator view of the Accuracy Laboratory, stamped as an educational simulation, showing threshold controls and confusion matrix.">
            <a:extLst>
              <a:ext uri="{FF2B5EF4-FFF2-40B4-BE49-F238E27FC236}">
                <a16:creationId xmlns:a16="http://schemas.microsoft.com/office/drawing/2014/main" id="{1EFDEDBF-DE3F-07DA-7D14-9E94D4D4EFE2}"/>
              </a:ext>
            </a:extLst>
          </p:cNvPr>
          <p:cNvPicPr>
            <a:picLocks/>
          </p:cNvPicPr>
          <p:nvPr/>
        </p:nvPicPr>
        <p:blipFill>
          <a:blip r:embed="rId3">
            <a:extLst>
              <a:ext uri="{28A0092B-C50C-407E-A947-70E740481C1C}">
                <a14:useLocalDpi xmlns:a14="http://schemas.microsoft.com/office/drawing/2010/main" val="0"/>
              </a:ext>
            </a:extLst>
          </a:blip>
          <a:srcRect b="55000"/>
          <a:stretch>
            <a:fillRect/>
          </a:stretch>
        </p:blipFill>
        <p:spPr>
          <a:xfrm>
            <a:off x="6248400" y="4648200"/>
            <a:ext cx="4217905" cy="1625600"/>
          </a:xfrm>
          <a:prstGeom prst="rect">
            <a:avLst/>
          </a:prstGeom>
          <a:ln w="9525">
            <a:solidFill>
              <a:srgbClr val="CFC6B3"/>
            </a:solidFill>
          </a:ln>
        </p:spPr>
      </p:pic>
      <p:sp>
        <p:nvSpPr>
          <p:cNvPr id="31" name="txt-355">
            <a:extLst>
              <a:ext uri="{FF2B5EF4-FFF2-40B4-BE49-F238E27FC236}">
                <a16:creationId xmlns:a16="http://schemas.microsoft.com/office/drawing/2014/main" id="{D499DAF9-1AA9-11BC-3298-291650493C6A}"/>
              </a:ext>
            </a:extLst>
          </p:cNvPr>
          <p:cNvSpPr txBox="1"/>
          <p:nvPr/>
        </p:nvSpPr>
        <p:spPr>
          <a:xfrm>
            <a:off x="711200" y="6527800"/>
            <a:ext cx="8890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DIAGNOSTIC INTELLIGENCE LAB · AL DHAFRA HEALTH FORUM · EDUCATIONAL PROTOTYPE · NOT A MEDICAL DEVICE · APPENDIX</a:t>
            </a:r>
          </a:p>
        </p:txBody>
      </p:sp>
      <p:sp>
        <p:nvSpPr>
          <p:cNvPr id="32" name="txt-356">
            <a:extLst>
              <a:ext uri="{FF2B5EF4-FFF2-40B4-BE49-F238E27FC236}">
                <a16:creationId xmlns:a16="http://schemas.microsoft.com/office/drawing/2014/main" id="{5E547D05-A33F-AAF1-C848-A24290EBD0C6}"/>
              </a:ext>
            </a:extLst>
          </p:cNvPr>
          <p:cNvSpPr txBox="1"/>
          <p:nvPr/>
        </p:nvSpPr>
        <p:spPr>
          <a:xfrm>
            <a:off x="10972800" y="6527800"/>
            <a:ext cx="5080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cs typeface="Segoe UI" panose="020B0502040204020203" pitchFamily="34" charset="0"/>
              </a:rPr>
              <a:t>A1</a:t>
            </a:r>
          </a:p>
        </p:txBody>
      </p:sp>
    </p:spTree>
    <p:extLst>
      <p:ext uri="{BB962C8B-B14F-4D97-AF65-F5344CB8AC3E}">
        <p14:creationId xmlns:p14="http://schemas.microsoft.com/office/powerpoint/2010/main" val="1708981209"/>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357">
            <a:extLst>
              <a:ext uri="{FF2B5EF4-FFF2-40B4-BE49-F238E27FC236}">
                <a16:creationId xmlns:a16="http://schemas.microsoft.com/office/drawing/2014/main" id="{4116B6C0-D3B6-11F1-9267-E01CA432E4CE}"/>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APPENDIX B · DATASET INTEGRITY</a:t>
            </a:r>
          </a:p>
        </p:txBody>
      </p:sp>
      <p:sp>
        <p:nvSpPr>
          <p:cNvPr id="3" name="txt-358">
            <a:extLst>
              <a:ext uri="{FF2B5EF4-FFF2-40B4-BE49-F238E27FC236}">
                <a16:creationId xmlns:a16="http://schemas.microsoft.com/office/drawing/2014/main" id="{F71552A3-E57C-B828-E87C-6107E68CADFC}"/>
              </a:ext>
            </a:extLst>
          </p:cNvPr>
          <p:cNvSpPr txBox="1"/>
          <p:nvPr/>
        </p:nvSpPr>
        <p:spPr>
          <a:xfrm>
            <a:off x="711200" y="685800"/>
            <a:ext cx="9906000" cy="1143000"/>
          </a:xfrm>
          <a:prstGeom prst="rect">
            <a:avLst/>
          </a:prstGeom>
          <a:noFill/>
        </p:spPr>
        <p:txBody>
          <a:bodyPr vert="horz" wrap="square" lIns="0" tIns="0" rIns="0" bIns="0" rtlCol="0" anchor="t">
            <a:noAutofit/>
          </a:bodyPr>
          <a:lstStyle/>
          <a:p>
            <a:pPr>
              <a:lnSpc>
                <a:spcPct val="95000"/>
              </a:lnSpc>
            </a:pPr>
            <a:r>
              <a:rPr lang="en-US" sz="3100">
                <a:solidFill>
                  <a:srgbClr val="0A1A2C"/>
                </a:solidFill>
                <a:latin typeface="Georgia" panose="02040502050405020303" pitchFamily="18" charset="0"/>
                <a:cs typeface="Segoe UI" panose="020B0502040204020203" pitchFamily="34" charset="0"/>
              </a:rPr>
              <a:t>A good result on bad data is a bad result.</a:t>
            </a:r>
          </a:p>
        </p:txBody>
      </p:sp>
      <p:sp>
        <p:nvSpPr>
          <p:cNvPr id="4" name="shape-359">
            <a:extLst>
              <a:ext uri="{FF2B5EF4-FFF2-40B4-BE49-F238E27FC236}">
                <a16:creationId xmlns:a16="http://schemas.microsoft.com/office/drawing/2014/main" id="{7A001EAA-2AC4-F9C4-790F-ECCD6CEA7670}"/>
              </a:ext>
            </a:extLst>
          </p:cNvPr>
          <p:cNvSpPr/>
          <p:nvPr/>
        </p:nvSpPr>
        <p:spPr>
          <a:xfrm>
            <a:off x="711200" y="1600200"/>
            <a:ext cx="2006600" cy="7874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xt-360">
            <a:extLst>
              <a:ext uri="{FF2B5EF4-FFF2-40B4-BE49-F238E27FC236}">
                <a16:creationId xmlns:a16="http://schemas.microsoft.com/office/drawing/2014/main" id="{7FB535B6-E342-3983-2871-F989A096EC02}"/>
              </a:ext>
            </a:extLst>
          </p:cNvPr>
          <p:cNvSpPr txBox="1"/>
          <p:nvPr/>
        </p:nvSpPr>
        <p:spPr>
          <a:xfrm>
            <a:off x="838200" y="1676400"/>
            <a:ext cx="1752600" cy="254000"/>
          </a:xfrm>
          <a:prstGeom prst="rect">
            <a:avLst/>
          </a:prstGeom>
          <a:noFill/>
        </p:spPr>
        <p:txBody>
          <a:bodyPr vert="horz" wrap="square" lIns="0" tIns="0" rIns="0" bIns="0" rtlCol="0" anchor="t">
            <a:noAutofit/>
          </a:bodyPr>
          <a:lstStyle/>
          <a:p>
            <a:r>
              <a:rPr lang="en-US" sz="1500">
                <a:solidFill>
                  <a:srgbClr val="0A1A2C"/>
                </a:solidFill>
                <a:latin typeface="Georgia" panose="02040502050405020303" pitchFamily="18" charset="0"/>
                <a:cs typeface="Segoe UI" panose="020B0502040204020203" pitchFamily="34" charset="0"/>
              </a:rPr>
              <a:t>Held-out file</a:t>
            </a:r>
          </a:p>
        </p:txBody>
      </p:sp>
      <p:sp>
        <p:nvSpPr>
          <p:cNvPr id="6" name="txt-361">
            <a:extLst>
              <a:ext uri="{FF2B5EF4-FFF2-40B4-BE49-F238E27FC236}">
                <a16:creationId xmlns:a16="http://schemas.microsoft.com/office/drawing/2014/main" id="{AD43E9A9-FC14-C575-D643-BAB0EE645A84}"/>
              </a:ext>
            </a:extLst>
          </p:cNvPr>
          <p:cNvSpPr txBox="1"/>
          <p:nvPr/>
        </p:nvSpPr>
        <p:spPr>
          <a:xfrm>
            <a:off x="838200" y="1955800"/>
            <a:ext cx="1752600" cy="3810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id · patient · split · reference · score</a:t>
            </a:r>
          </a:p>
        </p:txBody>
      </p:sp>
      <p:cxnSp>
        <p:nvCxnSpPr>
          <p:cNvPr id="7" name="rule-362">
            <a:extLst>
              <a:ext uri="{FF2B5EF4-FFF2-40B4-BE49-F238E27FC236}">
                <a16:creationId xmlns:a16="http://schemas.microsoft.com/office/drawing/2014/main" id="{5F0A6B0F-0135-2648-CDEA-9A5B3FCEE388}"/>
              </a:ext>
            </a:extLst>
          </p:cNvPr>
          <p:cNvCxnSpPr/>
          <p:nvPr/>
        </p:nvCxnSpPr>
        <p:spPr>
          <a:xfrm>
            <a:off x="2730500" y="1993900"/>
            <a:ext cx="127000" cy="0"/>
          </a:xfrm>
          <a:prstGeom prst="line">
            <a:avLst/>
          </a:prstGeom>
          <a:ln w="15875">
            <a:solidFill>
              <a:srgbClr val="2A66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shape-363">
            <a:extLst>
              <a:ext uri="{FF2B5EF4-FFF2-40B4-BE49-F238E27FC236}">
                <a16:creationId xmlns:a16="http://schemas.microsoft.com/office/drawing/2014/main" id="{C3FB67DF-95D6-8FBF-67A0-EA1146CBDD72}"/>
              </a:ext>
            </a:extLst>
          </p:cNvPr>
          <p:cNvSpPr/>
          <p:nvPr/>
        </p:nvSpPr>
        <p:spPr>
          <a:xfrm>
            <a:off x="2870200" y="1600200"/>
            <a:ext cx="2006600" cy="787400"/>
          </a:xfrm>
          <a:prstGeom prst="rect">
            <a:avLst/>
          </a:prstGeom>
          <a:solidFill>
            <a:srgbClr val="0A1A2C"/>
          </a:solidFill>
          <a:ln w="9525">
            <a:solidFill>
              <a:srgbClr val="0A1A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xt-364">
            <a:extLst>
              <a:ext uri="{FF2B5EF4-FFF2-40B4-BE49-F238E27FC236}">
                <a16:creationId xmlns:a16="http://schemas.microsoft.com/office/drawing/2014/main" id="{4066181F-2B92-EF85-75BF-933778D38C82}"/>
              </a:ext>
            </a:extLst>
          </p:cNvPr>
          <p:cNvSpPr txBox="1"/>
          <p:nvPr/>
        </p:nvSpPr>
        <p:spPr>
          <a:xfrm>
            <a:off x="2997200" y="1676400"/>
            <a:ext cx="1752600" cy="254000"/>
          </a:xfrm>
          <a:prstGeom prst="rect">
            <a:avLst/>
          </a:prstGeom>
          <a:noFill/>
        </p:spPr>
        <p:txBody>
          <a:bodyPr vert="horz" wrap="square" lIns="0" tIns="0" rIns="0" bIns="0" rtlCol="0" anchor="t">
            <a:noAutofit/>
          </a:bodyPr>
          <a:lstStyle/>
          <a:p>
            <a:r>
              <a:rPr lang="en-US" sz="1500">
                <a:solidFill>
                  <a:srgbClr val="F7F2E8"/>
                </a:solidFill>
                <a:latin typeface="Georgia" panose="02040502050405020303" pitchFamily="18" charset="0"/>
                <a:cs typeface="Segoe UI" panose="020B0502040204020203" pitchFamily="34" charset="0"/>
              </a:rPr>
              <a:t>Integrity checks</a:t>
            </a:r>
          </a:p>
        </p:txBody>
      </p:sp>
      <p:sp>
        <p:nvSpPr>
          <p:cNvPr id="10" name="txt-365">
            <a:extLst>
              <a:ext uri="{FF2B5EF4-FFF2-40B4-BE49-F238E27FC236}">
                <a16:creationId xmlns:a16="http://schemas.microsoft.com/office/drawing/2014/main" id="{8978D429-3DB0-DAFE-FA96-8B1A88B8C2FD}"/>
              </a:ext>
            </a:extLst>
          </p:cNvPr>
          <p:cNvSpPr txBox="1"/>
          <p:nvPr/>
        </p:nvSpPr>
        <p:spPr>
          <a:xfrm>
            <a:off x="2997200" y="1955800"/>
            <a:ext cx="1752600" cy="381000"/>
          </a:xfrm>
          <a:prstGeom prst="rect">
            <a:avLst/>
          </a:prstGeom>
          <a:noFill/>
        </p:spPr>
        <p:txBody>
          <a:bodyPr vert="horz" wrap="square" lIns="0" tIns="0" rIns="0" bIns="0" rtlCol="0" anchor="t">
            <a:noAutofit/>
          </a:bodyPr>
          <a:lstStyle/>
          <a:p>
            <a:r>
              <a:rPr lang="en-US" sz="1000">
                <a:solidFill>
                  <a:srgbClr val="8FD0C8"/>
                </a:solidFill>
                <a:latin typeface="Consolas" panose="020B0609020204030204" pitchFamily="49" charset="0"/>
                <a:cs typeface="Segoe UI" panose="020B0502040204020203" pitchFamily="34" charset="0"/>
              </a:rPr>
              <a:t>leakage · duplicates · class balance</a:t>
            </a:r>
          </a:p>
        </p:txBody>
      </p:sp>
      <p:cxnSp>
        <p:nvCxnSpPr>
          <p:cNvPr id="11" name="rule-366">
            <a:extLst>
              <a:ext uri="{FF2B5EF4-FFF2-40B4-BE49-F238E27FC236}">
                <a16:creationId xmlns:a16="http://schemas.microsoft.com/office/drawing/2014/main" id="{ECAA45FF-2A23-F292-F309-FBBED379100A}"/>
              </a:ext>
            </a:extLst>
          </p:cNvPr>
          <p:cNvCxnSpPr/>
          <p:nvPr/>
        </p:nvCxnSpPr>
        <p:spPr>
          <a:xfrm>
            <a:off x="4889500" y="1993900"/>
            <a:ext cx="127000" cy="0"/>
          </a:xfrm>
          <a:prstGeom prst="line">
            <a:avLst/>
          </a:prstGeom>
          <a:ln w="15875">
            <a:solidFill>
              <a:srgbClr val="2A66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shape-367">
            <a:extLst>
              <a:ext uri="{FF2B5EF4-FFF2-40B4-BE49-F238E27FC236}">
                <a16:creationId xmlns:a16="http://schemas.microsoft.com/office/drawing/2014/main" id="{F1174138-EFFA-2E57-C395-BAD5C3D06B90}"/>
              </a:ext>
            </a:extLst>
          </p:cNvPr>
          <p:cNvSpPr/>
          <p:nvPr/>
        </p:nvSpPr>
        <p:spPr>
          <a:xfrm>
            <a:off x="5029200" y="1600200"/>
            <a:ext cx="2006600" cy="7874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xt-368">
            <a:extLst>
              <a:ext uri="{FF2B5EF4-FFF2-40B4-BE49-F238E27FC236}">
                <a16:creationId xmlns:a16="http://schemas.microsoft.com/office/drawing/2014/main" id="{44B1FE93-32ED-2C75-C642-24F7D734C172}"/>
              </a:ext>
            </a:extLst>
          </p:cNvPr>
          <p:cNvSpPr txBox="1"/>
          <p:nvPr/>
        </p:nvSpPr>
        <p:spPr>
          <a:xfrm>
            <a:off x="5156200" y="1676400"/>
            <a:ext cx="1752600" cy="254000"/>
          </a:xfrm>
          <a:prstGeom prst="rect">
            <a:avLst/>
          </a:prstGeom>
          <a:noFill/>
        </p:spPr>
        <p:txBody>
          <a:bodyPr vert="horz" wrap="square" lIns="0" tIns="0" rIns="0" bIns="0" rtlCol="0" anchor="t">
            <a:noAutofit/>
          </a:bodyPr>
          <a:lstStyle/>
          <a:p>
            <a:r>
              <a:rPr lang="en-US" sz="1500">
                <a:solidFill>
                  <a:srgbClr val="0A1A2C"/>
                </a:solidFill>
                <a:latin typeface="Georgia" panose="02040502050405020303" pitchFamily="18" charset="0"/>
                <a:cs typeface="Segoe UI" panose="020B0502040204020203" pitchFamily="34" charset="0"/>
              </a:rPr>
              <a:t>Threshold</a:t>
            </a:r>
          </a:p>
        </p:txBody>
      </p:sp>
      <p:sp>
        <p:nvSpPr>
          <p:cNvPr id="14" name="txt-369">
            <a:extLst>
              <a:ext uri="{FF2B5EF4-FFF2-40B4-BE49-F238E27FC236}">
                <a16:creationId xmlns:a16="http://schemas.microsoft.com/office/drawing/2014/main" id="{8371CEB4-50C4-9A6A-D368-F25E7DC4A02D}"/>
              </a:ext>
            </a:extLst>
          </p:cNvPr>
          <p:cNvSpPr txBox="1"/>
          <p:nvPr/>
        </p:nvSpPr>
        <p:spPr>
          <a:xfrm>
            <a:off x="5156200" y="1955800"/>
            <a:ext cx="1752600" cy="3810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validation data only</a:t>
            </a:r>
          </a:p>
        </p:txBody>
      </p:sp>
      <p:cxnSp>
        <p:nvCxnSpPr>
          <p:cNvPr id="15" name="rule-370">
            <a:extLst>
              <a:ext uri="{FF2B5EF4-FFF2-40B4-BE49-F238E27FC236}">
                <a16:creationId xmlns:a16="http://schemas.microsoft.com/office/drawing/2014/main" id="{5FB92EB9-A26B-E374-E74A-8C9DB66834E2}"/>
              </a:ext>
            </a:extLst>
          </p:cNvPr>
          <p:cNvCxnSpPr/>
          <p:nvPr/>
        </p:nvCxnSpPr>
        <p:spPr>
          <a:xfrm>
            <a:off x="7048500" y="1993900"/>
            <a:ext cx="127000" cy="0"/>
          </a:xfrm>
          <a:prstGeom prst="line">
            <a:avLst/>
          </a:prstGeom>
          <a:ln w="15875">
            <a:solidFill>
              <a:srgbClr val="2A66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hape-371">
            <a:extLst>
              <a:ext uri="{FF2B5EF4-FFF2-40B4-BE49-F238E27FC236}">
                <a16:creationId xmlns:a16="http://schemas.microsoft.com/office/drawing/2014/main" id="{EEACE04A-BC87-44B1-0A69-E0EB9EE3BB68}"/>
              </a:ext>
            </a:extLst>
          </p:cNvPr>
          <p:cNvSpPr/>
          <p:nvPr/>
        </p:nvSpPr>
        <p:spPr>
          <a:xfrm>
            <a:off x="7188200" y="1600200"/>
            <a:ext cx="2006600" cy="7874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xt-372">
            <a:extLst>
              <a:ext uri="{FF2B5EF4-FFF2-40B4-BE49-F238E27FC236}">
                <a16:creationId xmlns:a16="http://schemas.microsoft.com/office/drawing/2014/main" id="{5F8BE7D3-A2A8-B751-D325-1B4DD8DB40CB}"/>
              </a:ext>
            </a:extLst>
          </p:cNvPr>
          <p:cNvSpPr txBox="1"/>
          <p:nvPr/>
        </p:nvSpPr>
        <p:spPr>
          <a:xfrm>
            <a:off x="7315200" y="1676400"/>
            <a:ext cx="1752600" cy="254000"/>
          </a:xfrm>
          <a:prstGeom prst="rect">
            <a:avLst/>
          </a:prstGeom>
          <a:noFill/>
        </p:spPr>
        <p:txBody>
          <a:bodyPr vert="horz" wrap="square" lIns="0" tIns="0" rIns="0" bIns="0" rtlCol="0" anchor="t">
            <a:noAutofit/>
          </a:bodyPr>
          <a:lstStyle/>
          <a:p>
            <a:r>
              <a:rPr lang="en-US" sz="1500">
                <a:solidFill>
                  <a:srgbClr val="0A1A2C"/>
                </a:solidFill>
                <a:latin typeface="Georgia" panose="02040502050405020303" pitchFamily="18" charset="0"/>
                <a:cs typeface="Segoe UI" panose="020B0502040204020203" pitchFamily="34" charset="0"/>
              </a:rPr>
              <a:t>Test, once</a:t>
            </a:r>
          </a:p>
        </p:txBody>
      </p:sp>
      <p:sp>
        <p:nvSpPr>
          <p:cNvPr id="18" name="txt-373">
            <a:extLst>
              <a:ext uri="{FF2B5EF4-FFF2-40B4-BE49-F238E27FC236}">
                <a16:creationId xmlns:a16="http://schemas.microsoft.com/office/drawing/2014/main" id="{B5612E23-7A41-1C2E-37F7-D11F8590980D}"/>
              </a:ext>
            </a:extLst>
          </p:cNvPr>
          <p:cNvSpPr txBox="1"/>
          <p:nvPr/>
        </p:nvSpPr>
        <p:spPr>
          <a:xfrm>
            <a:off x="7315200" y="1955800"/>
            <a:ext cx="1752600" cy="3810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evaluations are counted</a:t>
            </a:r>
          </a:p>
        </p:txBody>
      </p:sp>
      <p:cxnSp>
        <p:nvCxnSpPr>
          <p:cNvPr id="19" name="rule-374">
            <a:extLst>
              <a:ext uri="{FF2B5EF4-FFF2-40B4-BE49-F238E27FC236}">
                <a16:creationId xmlns:a16="http://schemas.microsoft.com/office/drawing/2014/main" id="{C34810D1-C735-BB9A-0664-B34EC7740FCC}"/>
              </a:ext>
            </a:extLst>
          </p:cNvPr>
          <p:cNvCxnSpPr/>
          <p:nvPr/>
        </p:nvCxnSpPr>
        <p:spPr>
          <a:xfrm>
            <a:off x="9207500" y="1993900"/>
            <a:ext cx="127000" cy="0"/>
          </a:xfrm>
          <a:prstGeom prst="line">
            <a:avLst/>
          </a:prstGeom>
          <a:ln w="15875">
            <a:solidFill>
              <a:srgbClr val="2A66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hape-375">
            <a:extLst>
              <a:ext uri="{FF2B5EF4-FFF2-40B4-BE49-F238E27FC236}">
                <a16:creationId xmlns:a16="http://schemas.microsoft.com/office/drawing/2014/main" id="{1EEBB431-5157-B112-9514-4750260A3AC6}"/>
              </a:ext>
            </a:extLst>
          </p:cNvPr>
          <p:cNvSpPr/>
          <p:nvPr/>
        </p:nvSpPr>
        <p:spPr>
          <a:xfrm>
            <a:off x="9347200" y="1600200"/>
            <a:ext cx="2006600" cy="7874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xt-376">
            <a:extLst>
              <a:ext uri="{FF2B5EF4-FFF2-40B4-BE49-F238E27FC236}">
                <a16:creationId xmlns:a16="http://schemas.microsoft.com/office/drawing/2014/main" id="{CF617E7E-BD16-DF7A-782D-F19C646B8D3E}"/>
              </a:ext>
            </a:extLst>
          </p:cNvPr>
          <p:cNvSpPr txBox="1"/>
          <p:nvPr/>
        </p:nvSpPr>
        <p:spPr>
          <a:xfrm>
            <a:off x="9474200" y="1676400"/>
            <a:ext cx="1752600" cy="254000"/>
          </a:xfrm>
          <a:prstGeom prst="rect">
            <a:avLst/>
          </a:prstGeom>
          <a:noFill/>
        </p:spPr>
        <p:txBody>
          <a:bodyPr vert="horz" wrap="square" lIns="0" tIns="0" rIns="0" bIns="0" rtlCol="0" anchor="t">
            <a:noAutofit/>
          </a:bodyPr>
          <a:lstStyle/>
          <a:p>
            <a:r>
              <a:rPr lang="en-US" sz="1500">
                <a:solidFill>
                  <a:srgbClr val="0A1A2C"/>
                </a:solidFill>
                <a:latin typeface="Georgia" panose="02040502050405020303" pitchFamily="18" charset="0"/>
                <a:cs typeface="Segoe UI" panose="020B0502040204020203" pitchFamily="34" charset="0"/>
              </a:rPr>
              <a:t>Provenance</a:t>
            </a:r>
          </a:p>
        </p:txBody>
      </p:sp>
      <p:sp>
        <p:nvSpPr>
          <p:cNvPr id="22" name="txt-377">
            <a:extLst>
              <a:ext uri="{FF2B5EF4-FFF2-40B4-BE49-F238E27FC236}">
                <a16:creationId xmlns:a16="http://schemas.microsoft.com/office/drawing/2014/main" id="{7619397F-A60E-A893-BEEB-FCA9F0B7CFF8}"/>
              </a:ext>
            </a:extLst>
          </p:cNvPr>
          <p:cNvSpPr txBox="1"/>
          <p:nvPr/>
        </p:nvSpPr>
        <p:spPr>
          <a:xfrm>
            <a:off x="9474200" y="1955800"/>
            <a:ext cx="1752600" cy="3810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SHA-256 · declared metadata</a:t>
            </a:r>
          </a:p>
        </p:txBody>
      </p:sp>
      <p:sp>
        <p:nvSpPr>
          <p:cNvPr id="23" name="txt-378">
            <a:extLst>
              <a:ext uri="{FF2B5EF4-FFF2-40B4-BE49-F238E27FC236}">
                <a16:creationId xmlns:a16="http://schemas.microsoft.com/office/drawing/2014/main" id="{8FC4230E-4DCE-C4BE-D6AD-A25EC8EEFD39}"/>
              </a:ext>
            </a:extLst>
          </p:cNvPr>
          <p:cNvSpPr txBox="1"/>
          <p:nvPr/>
        </p:nvSpPr>
        <p:spPr>
          <a:xfrm>
            <a:off x="711200" y="2590800"/>
            <a:ext cx="5080000" cy="2413000"/>
          </a:xfrm>
          <a:prstGeom prst="rect">
            <a:avLst/>
          </a:prstGeom>
          <a:noFill/>
        </p:spPr>
        <p:txBody>
          <a:bodyPr vert="horz" wrap="square" lIns="0" tIns="0" rIns="0" bIns="0" rtlCol="0" anchor="t">
            <a:noAutofit/>
          </a:bodyPr>
          <a:lstStyle/>
          <a:p>
            <a:pPr marL="177800" indent="-177800">
              <a:spcAft>
                <a:spcPts val="700"/>
              </a:spcAft>
              <a:buClr>
                <a:srgbClr val="3B4A5C"/>
              </a:buClr>
              <a:buFont typeface="+mj-lt"/>
              <a:buChar char="•"/>
            </a:pPr>
            <a:r>
              <a:rPr lang="en-US" sz="1400" b="1">
                <a:solidFill>
                  <a:srgbClr val="3B4A5C"/>
                </a:solidFill>
                <a:latin typeface="Calibri" panose="020F0502020204030204" pitchFamily="34" charset="0"/>
                <a:cs typeface="Segoe UI" panose="020B0502040204020203" pitchFamily="34" charset="0"/>
              </a:rPr>
              <a:t>Patient-level leakage: </a:t>
            </a:r>
            <a:r>
              <a:rPr lang="en-US" sz="1400">
                <a:solidFill>
                  <a:srgbClr val="3B4A5C"/>
                </a:solidFill>
                <a:latin typeface="Calibri" panose="020F0502020204030204" pitchFamily="34" charset="0"/>
                <a:cs typeface="Segoe UI" panose="020B0502040204020203" pitchFamily="34" charset="0"/>
              </a:rPr>
              <a:t>one patient, one partition.</a:t>
            </a:r>
          </a:p>
          <a:p>
            <a:pPr marL="177800" indent="-177800">
              <a:spcAft>
                <a:spcPts val="700"/>
              </a:spcAft>
              <a:buClr>
                <a:srgbClr val="3B4A5C"/>
              </a:buClr>
              <a:buFont typeface="+mj-lt"/>
              <a:buChar char="•"/>
            </a:pPr>
            <a:r>
              <a:rPr lang="en-US" sz="1400" b="1">
                <a:solidFill>
                  <a:srgbClr val="3B4A5C"/>
                </a:solidFill>
                <a:latin typeface="Calibri" panose="020F0502020204030204" pitchFamily="34" charset="0"/>
                <a:cs typeface="Segoe UI" panose="020B0502040204020203" pitchFamily="34" charset="0"/>
              </a:rPr>
              <a:t>Separation: </a:t>
            </a:r>
            <a:r>
              <a:rPr lang="en-US" sz="1400">
                <a:solidFill>
                  <a:srgbClr val="3B4A5C"/>
                </a:solidFill>
                <a:latin typeface="Calibri" panose="020F0502020204030204" pitchFamily="34" charset="0"/>
                <a:cs typeface="Segoe UI" panose="020B0502040204020203" pitchFamily="34" charset="0"/>
              </a:rPr>
              <a:t>train fits, validation selects, test reports once.</a:t>
            </a:r>
          </a:p>
          <a:p>
            <a:pPr marL="177800" indent="-177800">
              <a:spcAft>
                <a:spcPts val="700"/>
              </a:spcAft>
              <a:buClr>
                <a:srgbClr val="3B4A5C"/>
              </a:buClr>
              <a:buFont typeface="+mj-lt"/>
              <a:buChar char="•"/>
            </a:pPr>
            <a:r>
              <a:rPr lang="en-US" sz="1400" b="1">
                <a:solidFill>
                  <a:srgbClr val="3B4A5C"/>
                </a:solidFill>
                <a:latin typeface="Calibri" panose="020F0502020204030204" pitchFamily="34" charset="0"/>
                <a:cs typeface="Segoe UI" panose="020B0502040204020203" pitchFamily="34" charset="0"/>
              </a:rPr>
              <a:t>Provenance: </a:t>
            </a:r>
            <a:r>
              <a:rPr lang="en-US" sz="1400">
                <a:solidFill>
                  <a:srgbClr val="3B4A5C"/>
                </a:solidFill>
                <a:latin typeface="Calibri" panose="020F0502020204030204" pitchFamily="34" charset="0"/>
                <a:cs typeface="Segoe UI" panose="020B0502040204020203" pitchFamily="34" charset="0"/>
              </a:rPr>
              <a:t>who made the model, on what data — declared, hashed.</a:t>
            </a:r>
          </a:p>
          <a:p>
            <a:pPr marL="177800" indent="-177800">
              <a:spcAft>
                <a:spcPts val="700"/>
              </a:spcAft>
              <a:buClr>
                <a:srgbClr val="3B4A5C"/>
              </a:buClr>
              <a:buFont typeface="+mj-lt"/>
              <a:buChar char="•"/>
            </a:pPr>
            <a:r>
              <a:rPr lang="en-US" sz="1400" b="1">
                <a:solidFill>
                  <a:srgbClr val="3B4A5C"/>
                </a:solidFill>
                <a:latin typeface="Calibri" panose="020F0502020204030204" pitchFamily="34" charset="0"/>
                <a:cs typeface="Segoe UI" panose="020B0502040204020203" pitchFamily="34" charset="0"/>
              </a:rPr>
              <a:t>External validation: </a:t>
            </a:r>
            <a:r>
              <a:rPr lang="en-US" sz="1400">
                <a:solidFill>
                  <a:srgbClr val="3B4A5C"/>
                </a:solidFill>
                <a:latin typeface="Calibri" panose="020F0502020204030204" pitchFamily="34" charset="0"/>
                <a:cs typeface="Segoe UI" panose="020B0502040204020203" pitchFamily="34" charset="0"/>
              </a:rPr>
              <a:t>a different site or camera.</a:t>
            </a:r>
          </a:p>
          <a:p>
            <a:pPr marL="177800" indent="-177800">
              <a:spcAft>
                <a:spcPts val="700"/>
              </a:spcAft>
              <a:buClr>
                <a:srgbClr val="3B4A5C"/>
              </a:buClr>
              <a:buFont typeface="+mj-lt"/>
              <a:buChar char="•"/>
            </a:pPr>
            <a:r>
              <a:rPr lang="en-US" sz="1400" b="1">
                <a:solidFill>
                  <a:srgbClr val="3B4A5C"/>
                </a:solidFill>
                <a:latin typeface="Calibri" panose="020F0502020204030204" pitchFamily="34" charset="0"/>
                <a:cs typeface="Segoe UI" panose="020B0502040204020203" pitchFamily="34" charset="0"/>
              </a:rPr>
              <a:t>Reproducibility: </a:t>
            </a:r>
            <a:r>
              <a:rPr lang="en-US" sz="1400">
                <a:solidFill>
                  <a:srgbClr val="3B4A5C"/>
                </a:solidFill>
                <a:latin typeface="Calibri" panose="020F0502020204030204" pitchFamily="34" charset="0"/>
                <a:cs typeface="Segoe UI" panose="020B0502040204020203" pitchFamily="34" charset="0"/>
              </a:rPr>
              <a:t>fixed seeds, unit-tested engine, CI.</a:t>
            </a:r>
          </a:p>
        </p:txBody>
      </p:sp>
      <p:pic>
        <p:nvPicPr>
          <p:cNvPr id="25" name="pic-379" descr="Screenshot of the Accuracy Laboratory refusing a synthetic predictions file because one patient appears in more than one partition.">
            <a:extLst>
              <a:ext uri="{FF2B5EF4-FFF2-40B4-BE49-F238E27FC236}">
                <a16:creationId xmlns:a16="http://schemas.microsoft.com/office/drawing/2014/main" id="{E54F4889-178C-4355-5BB4-D395D03C65D0}"/>
              </a:ext>
            </a:extLst>
          </p:cNvPr>
          <p:cNvPicPr>
            <a:picLocks/>
          </p:cNvPicPr>
          <p:nvPr/>
        </p:nvPicPr>
        <p:blipFill>
          <a:blip r:embed="rId3">
            <a:extLst>
              <a:ext uri="{28A0092B-C50C-407E-A947-70E740481C1C}">
                <a14:useLocalDpi xmlns:a14="http://schemas.microsoft.com/office/drawing/2010/main" val="0"/>
              </a:ext>
            </a:extLst>
          </a:blip>
          <a:srcRect l="1" t="1" r="1" b="1"/>
          <a:stretch>
            <a:fillRect/>
          </a:stretch>
        </p:blipFill>
        <p:spPr>
          <a:xfrm>
            <a:off x="6299200" y="2590800"/>
            <a:ext cx="5181600" cy="3354561"/>
          </a:xfrm>
          <a:prstGeom prst="rect">
            <a:avLst/>
          </a:prstGeom>
          <a:ln w="9525">
            <a:solidFill>
              <a:srgbClr val="CFC6B3"/>
            </a:solidFill>
          </a:ln>
        </p:spPr>
      </p:pic>
      <p:sp>
        <p:nvSpPr>
          <p:cNvPr id="26" name="txt-380">
            <a:extLst>
              <a:ext uri="{FF2B5EF4-FFF2-40B4-BE49-F238E27FC236}">
                <a16:creationId xmlns:a16="http://schemas.microsoft.com/office/drawing/2014/main" id="{7A6ACC21-E30A-18E4-3231-57A556026F6F}"/>
              </a:ext>
            </a:extLst>
          </p:cNvPr>
          <p:cNvSpPr txBox="1"/>
          <p:nvPr/>
        </p:nvSpPr>
        <p:spPr>
          <a:xfrm>
            <a:off x="6299200" y="5996162"/>
            <a:ext cx="53340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LIVE APPLICATION · synthetic test file with a deliberate leak → reporting blocked</a:t>
            </a:r>
          </a:p>
        </p:txBody>
      </p:sp>
      <p:sp>
        <p:nvSpPr>
          <p:cNvPr id="27" name="txt-381">
            <a:extLst>
              <a:ext uri="{FF2B5EF4-FFF2-40B4-BE49-F238E27FC236}">
                <a16:creationId xmlns:a16="http://schemas.microsoft.com/office/drawing/2014/main" id="{586D2E3C-DDEE-05F3-8E70-3AC985CDBF24}"/>
              </a:ext>
            </a:extLst>
          </p:cNvPr>
          <p:cNvSpPr txBox="1"/>
          <p:nvPr/>
        </p:nvSpPr>
        <p:spPr>
          <a:xfrm>
            <a:off x="711200" y="6527800"/>
            <a:ext cx="8890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DIAGNOSTIC INTELLIGENCE LAB · AL DHAFRA HEALTH FORUM · EDUCATIONAL PROTOTYPE · NOT A MEDICAL DEVICE · APPENDIX</a:t>
            </a:r>
          </a:p>
        </p:txBody>
      </p:sp>
      <p:sp>
        <p:nvSpPr>
          <p:cNvPr id="28" name="txt-382">
            <a:extLst>
              <a:ext uri="{FF2B5EF4-FFF2-40B4-BE49-F238E27FC236}">
                <a16:creationId xmlns:a16="http://schemas.microsoft.com/office/drawing/2014/main" id="{A016FC06-2AC1-4672-77CA-9DB2934A03E6}"/>
              </a:ext>
            </a:extLst>
          </p:cNvPr>
          <p:cNvSpPr txBox="1"/>
          <p:nvPr/>
        </p:nvSpPr>
        <p:spPr>
          <a:xfrm>
            <a:off x="10972800" y="6527800"/>
            <a:ext cx="5080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cs typeface="Segoe UI" panose="020B0502040204020203" pitchFamily="34" charset="0"/>
              </a:rPr>
              <a:t>A2</a:t>
            </a:r>
          </a:p>
        </p:txBody>
      </p:sp>
    </p:spTree>
    <p:extLst>
      <p:ext uri="{BB962C8B-B14F-4D97-AF65-F5344CB8AC3E}">
        <p14:creationId xmlns:p14="http://schemas.microsoft.com/office/powerpoint/2010/main" val="4267642954"/>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383">
            <a:extLst>
              <a:ext uri="{FF2B5EF4-FFF2-40B4-BE49-F238E27FC236}">
                <a16:creationId xmlns:a16="http://schemas.microsoft.com/office/drawing/2014/main" id="{849AE6F2-DE6F-23C5-5D8B-CDEA1BF40BB2}"/>
              </a:ext>
            </a:extLst>
          </p:cNvPr>
          <p:cNvSpPr txBox="1"/>
          <p:nvPr/>
        </p:nvSpPr>
        <p:spPr>
          <a:xfrm>
            <a:off x="711200" y="406400"/>
            <a:ext cx="9652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APPENDIX C · CURRENT STATUS AND LIMITATIONS</a:t>
            </a:r>
          </a:p>
        </p:txBody>
      </p:sp>
      <p:sp>
        <p:nvSpPr>
          <p:cNvPr id="3" name="txt-384">
            <a:extLst>
              <a:ext uri="{FF2B5EF4-FFF2-40B4-BE49-F238E27FC236}">
                <a16:creationId xmlns:a16="http://schemas.microsoft.com/office/drawing/2014/main" id="{72D06B02-155C-0879-E7F0-635B79B19808}"/>
              </a:ext>
            </a:extLst>
          </p:cNvPr>
          <p:cNvSpPr txBox="1"/>
          <p:nvPr/>
        </p:nvSpPr>
        <p:spPr>
          <a:xfrm>
            <a:off x="711200" y="685800"/>
            <a:ext cx="9906000" cy="1143000"/>
          </a:xfrm>
          <a:prstGeom prst="rect">
            <a:avLst/>
          </a:prstGeom>
          <a:noFill/>
        </p:spPr>
        <p:txBody>
          <a:bodyPr vert="horz" wrap="square" lIns="0" tIns="0" rIns="0" bIns="0" rtlCol="0" anchor="t">
            <a:noAutofit/>
          </a:bodyPr>
          <a:lstStyle/>
          <a:p>
            <a:pPr>
              <a:lnSpc>
                <a:spcPct val="95000"/>
              </a:lnSpc>
            </a:pPr>
            <a:r>
              <a:rPr lang="en-US" sz="3100">
                <a:solidFill>
                  <a:srgbClr val="0A1A2C"/>
                </a:solidFill>
                <a:latin typeface="Georgia" panose="02040502050405020303" pitchFamily="18" charset="0"/>
                <a:cs typeface="Segoe UI" panose="020B0502040204020203" pitchFamily="34" charset="0"/>
              </a:rPr>
              <a:t>Exactly what exists — and what does not.</a:t>
            </a:r>
          </a:p>
        </p:txBody>
      </p:sp>
      <p:sp>
        <p:nvSpPr>
          <p:cNvPr id="4" name="shape-385">
            <a:extLst>
              <a:ext uri="{FF2B5EF4-FFF2-40B4-BE49-F238E27FC236}">
                <a16:creationId xmlns:a16="http://schemas.microsoft.com/office/drawing/2014/main" id="{CB1B6859-2EE1-0585-693D-47AACD128B5B}"/>
              </a:ext>
            </a:extLst>
          </p:cNvPr>
          <p:cNvSpPr/>
          <p:nvPr/>
        </p:nvSpPr>
        <p:spPr>
          <a:xfrm>
            <a:off x="711200" y="1625600"/>
            <a:ext cx="2514600" cy="38100"/>
          </a:xfrm>
          <a:prstGeom prst="rect">
            <a:avLst/>
          </a:prstGeom>
          <a:solidFill>
            <a:srgbClr val="2A665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xt-386">
            <a:extLst>
              <a:ext uri="{FF2B5EF4-FFF2-40B4-BE49-F238E27FC236}">
                <a16:creationId xmlns:a16="http://schemas.microsoft.com/office/drawing/2014/main" id="{398FD019-45C7-AC64-6603-4F2B035A6C96}"/>
              </a:ext>
            </a:extLst>
          </p:cNvPr>
          <p:cNvSpPr txBox="1"/>
          <p:nvPr/>
        </p:nvSpPr>
        <p:spPr>
          <a:xfrm>
            <a:off x="711200" y="1752600"/>
            <a:ext cx="2514600" cy="3810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cs typeface="Segoe UI" panose="020B0502040204020203" pitchFamily="34" charset="0"/>
              </a:rPr>
              <a:t>IMPLEMENTED</a:t>
            </a:r>
          </a:p>
        </p:txBody>
      </p:sp>
      <p:sp>
        <p:nvSpPr>
          <p:cNvPr id="6" name="txt-387">
            <a:extLst>
              <a:ext uri="{FF2B5EF4-FFF2-40B4-BE49-F238E27FC236}">
                <a16:creationId xmlns:a16="http://schemas.microsoft.com/office/drawing/2014/main" id="{7D5176F7-9584-5AC5-8168-0721E62DEB16}"/>
              </a:ext>
            </a:extLst>
          </p:cNvPr>
          <p:cNvSpPr txBox="1"/>
          <p:nvPr/>
        </p:nvSpPr>
        <p:spPr>
          <a:xfrm>
            <a:off x="711200" y="2184400"/>
            <a:ext cx="2514600" cy="2413000"/>
          </a:xfrm>
          <a:prstGeom prst="rect">
            <a:avLst/>
          </a:prstGeom>
          <a:noFill/>
        </p:spPr>
        <p:txBody>
          <a:bodyPr vert="horz" wrap="square" lIns="0" tIns="0" rIns="0" bIns="0" rtlCol="0" anchor="t">
            <a:noAutofit/>
          </a:bodyPr>
          <a:lstStyle/>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Entry, Workbench, EvidenceLens</a:t>
            </a:r>
          </a:p>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Diagnostic Duel · quality and stress test</a:t>
            </a:r>
          </a:p>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Clinician approval · review · CareBridge</a:t>
            </a:r>
          </a:p>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English and Arabic interface</a:t>
            </a:r>
          </a:p>
        </p:txBody>
      </p:sp>
      <p:sp>
        <p:nvSpPr>
          <p:cNvPr id="7" name="shape-388">
            <a:extLst>
              <a:ext uri="{FF2B5EF4-FFF2-40B4-BE49-F238E27FC236}">
                <a16:creationId xmlns:a16="http://schemas.microsoft.com/office/drawing/2014/main" id="{84A28673-CF15-1168-20BA-186EA283BCB2}"/>
              </a:ext>
            </a:extLst>
          </p:cNvPr>
          <p:cNvSpPr/>
          <p:nvPr/>
        </p:nvSpPr>
        <p:spPr>
          <a:xfrm>
            <a:off x="3403600" y="1625600"/>
            <a:ext cx="2514600" cy="38100"/>
          </a:xfrm>
          <a:prstGeom prst="rect">
            <a:avLst/>
          </a:prstGeom>
          <a:solidFill>
            <a:srgbClr val="8F661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xt-389">
            <a:extLst>
              <a:ext uri="{FF2B5EF4-FFF2-40B4-BE49-F238E27FC236}">
                <a16:creationId xmlns:a16="http://schemas.microsoft.com/office/drawing/2014/main" id="{4E755E83-8F7F-5CA2-597F-5DB8D43140D2}"/>
              </a:ext>
            </a:extLst>
          </p:cNvPr>
          <p:cNvSpPr txBox="1"/>
          <p:nvPr/>
        </p:nvSpPr>
        <p:spPr>
          <a:xfrm>
            <a:off x="3403600" y="1752600"/>
            <a:ext cx="2514600" cy="381000"/>
          </a:xfrm>
          <a:prstGeom prst="rect">
            <a:avLst/>
          </a:prstGeom>
          <a:noFill/>
        </p:spPr>
        <p:txBody>
          <a:bodyPr vert="horz" wrap="square" lIns="0" tIns="0" rIns="0" bIns="0" rtlCol="0" anchor="t">
            <a:noAutofit/>
          </a:bodyPr>
          <a:lstStyle/>
          <a:p>
            <a:r>
              <a:rPr lang="en-US" sz="1100">
                <a:solidFill>
                  <a:srgbClr val="8F6614"/>
                </a:solidFill>
                <a:latin typeface="Consolas" panose="020B0609020204030204" pitchFamily="49" charset="0"/>
                <a:cs typeface="Segoe UI" panose="020B0502040204020203" pitchFamily="34" charset="0"/>
              </a:rPr>
              <a:t>SYNTHETIC · EDUCATIONAL</a:t>
            </a:r>
          </a:p>
        </p:txBody>
      </p:sp>
      <p:sp>
        <p:nvSpPr>
          <p:cNvPr id="9" name="txt-390">
            <a:extLst>
              <a:ext uri="{FF2B5EF4-FFF2-40B4-BE49-F238E27FC236}">
                <a16:creationId xmlns:a16="http://schemas.microsoft.com/office/drawing/2014/main" id="{A69EC0ED-43CF-99BD-ACB0-245FDDE8DD62}"/>
              </a:ext>
            </a:extLst>
          </p:cNvPr>
          <p:cNvSpPr txBox="1"/>
          <p:nvPr/>
        </p:nvSpPr>
        <p:spPr>
          <a:xfrm>
            <a:off x="3403600" y="2184400"/>
            <a:ext cx="2514600" cy="2413000"/>
          </a:xfrm>
          <a:prstGeom prst="rect">
            <a:avLst/>
          </a:prstGeom>
          <a:noFill/>
        </p:spPr>
        <p:txBody>
          <a:bodyPr vert="horz" wrap="square" lIns="0" tIns="0" rIns="0" bIns="0" rtlCol="0" anchor="t">
            <a:noAutofit/>
          </a:bodyPr>
          <a:lstStyle/>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16 retinal teaching illustrations</a:t>
            </a:r>
          </a:p>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Authored lesions → ICDR-derived labels</a:t>
            </a:r>
          </a:p>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Statistics simulator (stamped)</a:t>
            </a:r>
          </a:p>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Educational duel score</a:t>
            </a:r>
          </a:p>
        </p:txBody>
      </p:sp>
      <p:sp>
        <p:nvSpPr>
          <p:cNvPr id="10" name="shape-391">
            <a:extLst>
              <a:ext uri="{FF2B5EF4-FFF2-40B4-BE49-F238E27FC236}">
                <a16:creationId xmlns:a16="http://schemas.microsoft.com/office/drawing/2014/main" id="{44DB931E-B890-E142-8EEC-F9B6A5A077C6}"/>
              </a:ext>
            </a:extLst>
          </p:cNvPr>
          <p:cNvSpPr/>
          <p:nvPr/>
        </p:nvSpPr>
        <p:spPr>
          <a:xfrm>
            <a:off x="6096000" y="1625600"/>
            <a:ext cx="2514600" cy="38100"/>
          </a:xfrm>
          <a:prstGeom prst="rect">
            <a:avLst/>
          </a:prstGeom>
          <a:solidFill>
            <a:srgbClr val="2F6FB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xt-392">
            <a:extLst>
              <a:ext uri="{FF2B5EF4-FFF2-40B4-BE49-F238E27FC236}">
                <a16:creationId xmlns:a16="http://schemas.microsoft.com/office/drawing/2014/main" id="{78180148-6D82-23B0-4746-059CEE2DAB39}"/>
              </a:ext>
            </a:extLst>
          </p:cNvPr>
          <p:cNvSpPr txBox="1"/>
          <p:nvPr/>
        </p:nvSpPr>
        <p:spPr>
          <a:xfrm>
            <a:off x="6096000" y="1752600"/>
            <a:ext cx="2514600" cy="381000"/>
          </a:xfrm>
          <a:prstGeom prst="rect">
            <a:avLst/>
          </a:prstGeom>
          <a:noFill/>
        </p:spPr>
        <p:txBody>
          <a:bodyPr vert="horz" wrap="square" lIns="0" tIns="0" rIns="0" bIns="0" rtlCol="0" anchor="t">
            <a:noAutofit/>
          </a:bodyPr>
          <a:lstStyle/>
          <a:p>
            <a:r>
              <a:rPr lang="en-US" sz="1100">
                <a:solidFill>
                  <a:srgbClr val="2F6FB7"/>
                </a:solidFill>
                <a:latin typeface="Consolas" panose="020B0609020204030204" pitchFamily="49" charset="0"/>
                <a:cs typeface="Segoe UI" panose="020B0502040204020203" pitchFamily="34" charset="0"/>
              </a:rPr>
              <a:t>EVALUATION INFRASTRUCTURE</a:t>
            </a:r>
          </a:p>
        </p:txBody>
      </p:sp>
      <p:sp>
        <p:nvSpPr>
          <p:cNvPr id="12" name="txt-393">
            <a:extLst>
              <a:ext uri="{FF2B5EF4-FFF2-40B4-BE49-F238E27FC236}">
                <a16:creationId xmlns:a16="http://schemas.microsoft.com/office/drawing/2014/main" id="{DE6B79D0-AB87-D096-90F9-AEB0C4CF1B74}"/>
              </a:ext>
            </a:extLst>
          </p:cNvPr>
          <p:cNvSpPr txBox="1"/>
          <p:nvPr/>
        </p:nvSpPr>
        <p:spPr>
          <a:xfrm>
            <a:off x="6096000" y="2184400"/>
            <a:ext cx="2514600" cy="2413000"/>
          </a:xfrm>
          <a:prstGeom prst="rect">
            <a:avLst/>
          </a:prstGeom>
          <a:noFill/>
        </p:spPr>
        <p:txBody>
          <a:bodyPr vert="horz" wrap="square" lIns="0" tIns="0" rIns="0" bIns="0" rtlCol="0" anchor="t">
            <a:noAutofit/>
          </a:bodyPr>
          <a:lstStyle/>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Confusion matrix, sens/spec, PPV/NPV, AUC, Wilson CI</a:t>
            </a:r>
          </a:p>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Held-out import · leakage checks</a:t>
            </a:r>
          </a:p>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Validation-only thresholds</a:t>
            </a:r>
          </a:p>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31 unit + 35 browser tests · CI</a:t>
            </a:r>
          </a:p>
        </p:txBody>
      </p:sp>
      <p:sp>
        <p:nvSpPr>
          <p:cNvPr id="13" name="shape-394">
            <a:extLst>
              <a:ext uri="{FF2B5EF4-FFF2-40B4-BE49-F238E27FC236}">
                <a16:creationId xmlns:a16="http://schemas.microsoft.com/office/drawing/2014/main" id="{EE1DBFA2-6B16-F8BE-1C6B-0ADBD529FF45}"/>
              </a:ext>
            </a:extLst>
          </p:cNvPr>
          <p:cNvSpPr/>
          <p:nvPr/>
        </p:nvSpPr>
        <p:spPr>
          <a:xfrm>
            <a:off x="8788400" y="1625600"/>
            <a:ext cx="2514600" cy="38100"/>
          </a:xfrm>
          <a:prstGeom prst="rect">
            <a:avLst/>
          </a:prstGeom>
          <a:solidFill>
            <a:srgbClr val="A946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xt-395">
            <a:extLst>
              <a:ext uri="{FF2B5EF4-FFF2-40B4-BE49-F238E27FC236}">
                <a16:creationId xmlns:a16="http://schemas.microsoft.com/office/drawing/2014/main" id="{C3375E7E-3135-7A8D-2460-6042C895456C}"/>
              </a:ext>
            </a:extLst>
          </p:cNvPr>
          <p:cNvSpPr txBox="1"/>
          <p:nvPr/>
        </p:nvSpPr>
        <p:spPr>
          <a:xfrm>
            <a:off x="8788400" y="1752600"/>
            <a:ext cx="2514600" cy="381000"/>
          </a:xfrm>
          <a:prstGeom prst="rect">
            <a:avLst/>
          </a:prstGeom>
          <a:noFill/>
        </p:spPr>
        <p:txBody>
          <a:bodyPr vert="horz" wrap="square" lIns="0" tIns="0" rIns="0" bIns="0" rtlCol="0" anchor="t">
            <a:noAutofit/>
          </a:bodyPr>
          <a:lstStyle/>
          <a:p>
            <a:r>
              <a:rPr lang="en-US" sz="1100">
                <a:solidFill>
                  <a:srgbClr val="A94632"/>
                </a:solidFill>
                <a:latin typeface="Consolas" panose="020B0609020204030204" pitchFamily="49" charset="0"/>
                <a:cs typeface="Segoe UI" panose="020B0502040204020203" pitchFamily="34" charset="0"/>
              </a:rPr>
              <a:t>NOT IMPLEMENTED</a:t>
            </a:r>
          </a:p>
        </p:txBody>
      </p:sp>
      <p:sp>
        <p:nvSpPr>
          <p:cNvPr id="15" name="txt-396">
            <a:extLst>
              <a:ext uri="{FF2B5EF4-FFF2-40B4-BE49-F238E27FC236}">
                <a16:creationId xmlns:a16="http://schemas.microsoft.com/office/drawing/2014/main" id="{3577B07F-11F5-997E-41BD-450E4FC15FBC}"/>
              </a:ext>
            </a:extLst>
          </p:cNvPr>
          <p:cNvSpPr txBox="1"/>
          <p:nvPr/>
        </p:nvSpPr>
        <p:spPr>
          <a:xfrm>
            <a:off x="8788400" y="2184400"/>
            <a:ext cx="2514600" cy="2413000"/>
          </a:xfrm>
          <a:prstGeom prst="rect">
            <a:avLst/>
          </a:prstGeom>
          <a:noFill/>
        </p:spPr>
        <p:txBody>
          <a:bodyPr vert="horz" wrap="square" lIns="0" tIns="0" rIns="0" bIns="0" rtlCol="0" anchor="t">
            <a:noAutofit/>
          </a:bodyPr>
          <a:lstStyle/>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Any trained diagnostic model</a:t>
            </a:r>
          </a:p>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Real-dataset evaluation</a:t>
            </a:r>
          </a:p>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Validated sensitivity / specificity</a:t>
            </a:r>
          </a:p>
          <a:p>
            <a:pPr marL="177800" indent="-177800">
              <a:spcAft>
                <a:spcPts val="6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Evidence of improved clinician accuracy</a:t>
            </a:r>
          </a:p>
        </p:txBody>
      </p:sp>
      <p:sp>
        <p:nvSpPr>
          <p:cNvPr id="16" name="shape-397">
            <a:extLst>
              <a:ext uri="{FF2B5EF4-FFF2-40B4-BE49-F238E27FC236}">
                <a16:creationId xmlns:a16="http://schemas.microsoft.com/office/drawing/2014/main" id="{C3B73239-E5C7-A258-7824-BCBCEFEFF431}"/>
              </a:ext>
            </a:extLst>
          </p:cNvPr>
          <p:cNvSpPr/>
          <p:nvPr/>
        </p:nvSpPr>
        <p:spPr>
          <a:xfrm>
            <a:off x="711200" y="4724400"/>
            <a:ext cx="10769600" cy="16002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xt-398">
            <a:extLst>
              <a:ext uri="{FF2B5EF4-FFF2-40B4-BE49-F238E27FC236}">
                <a16:creationId xmlns:a16="http://schemas.microsoft.com/office/drawing/2014/main" id="{E54576A1-82FE-5799-3F20-6B83BD03D957}"/>
              </a:ext>
            </a:extLst>
          </p:cNvPr>
          <p:cNvSpPr txBox="1"/>
          <p:nvPr/>
        </p:nvSpPr>
        <p:spPr>
          <a:xfrm>
            <a:off x="914400" y="4826000"/>
            <a:ext cx="4826000" cy="1397000"/>
          </a:xfrm>
          <a:prstGeom prst="rect">
            <a:avLst/>
          </a:prstGeom>
          <a:noFill/>
        </p:spPr>
        <p:txBody>
          <a:bodyPr vert="horz" wrap="square" lIns="0" tIns="0" rIns="0" bIns="0" rtlCol="0" anchor="t">
            <a:noAutofit/>
          </a:bodyPr>
          <a:lstStyle/>
          <a:p>
            <a:pPr marL="177800" indent="-177800">
              <a:spcAft>
                <a:spcPts val="300"/>
              </a:spcAft>
            </a:pPr>
            <a:r>
              <a:rPr lang="en-US" sz="1000">
                <a:solidFill>
                  <a:srgbClr val="2A665F"/>
                </a:solidFill>
                <a:latin typeface="Consolas" panose="020B0609020204030204" pitchFamily="49" charset="0"/>
                <a:cs typeface="Segoe UI" panose="020B0502040204020203" pitchFamily="34" charset="0"/>
              </a:rPr>
              <a:t>REQUIRED BEFORE ANY CLINICAL USE</a:t>
            </a:r>
          </a:p>
          <a:p>
            <a:pPr marL="177800" indent="-177800">
              <a:spcAft>
                <a:spcPts val="3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Licensed data and ethics approval</a:t>
            </a:r>
          </a:p>
          <a:p>
            <a:pPr marL="177800" indent="-177800">
              <a:spcAft>
                <a:spcPts val="3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External and prospective validation</a:t>
            </a:r>
          </a:p>
          <a:p>
            <a:pPr marL="177800" indent="-177800">
              <a:spcAft>
                <a:spcPts val="3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Clinician-supervised research</a:t>
            </a:r>
          </a:p>
          <a:p>
            <a:pPr marL="177800" indent="-177800">
              <a:spcAft>
                <a:spcPts val="3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Governance, security, regulatory review</a:t>
            </a:r>
          </a:p>
        </p:txBody>
      </p:sp>
      <p:sp>
        <p:nvSpPr>
          <p:cNvPr id="18" name="txt-399">
            <a:extLst>
              <a:ext uri="{FF2B5EF4-FFF2-40B4-BE49-F238E27FC236}">
                <a16:creationId xmlns:a16="http://schemas.microsoft.com/office/drawing/2014/main" id="{BE8D260B-02A8-3DC6-A8C5-AF115F66C589}"/>
              </a:ext>
            </a:extLst>
          </p:cNvPr>
          <p:cNvSpPr txBox="1"/>
          <p:nvPr/>
        </p:nvSpPr>
        <p:spPr>
          <a:xfrm>
            <a:off x="6299200" y="4826000"/>
            <a:ext cx="5080000" cy="1397000"/>
          </a:xfrm>
          <a:prstGeom prst="rect">
            <a:avLst/>
          </a:prstGeom>
          <a:noFill/>
        </p:spPr>
        <p:txBody>
          <a:bodyPr vert="horz" wrap="square" lIns="0" tIns="0" rIns="0" bIns="0" rtlCol="0" anchor="t">
            <a:noAutofit/>
          </a:bodyPr>
          <a:lstStyle/>
          <a:p>
            <a:pPr marL="177800" indent="-177800">
              <a:spcAft>
                <a:spcPts val="300"/>
              </a:spcAft>
            </a:pPr>
            <a:r>
              <a:rPr lang="en-US" sz="1000">
                <a:solidFill>
                  <a:srgbClr val="A94632"/>
                </a:solidFill>
                <a:latin typeface="Consolas" panose="020B0609020204030204" pitchFamily="49" charset="0"/>
                <a:cs typeface="Segoe UI" panose="020B0502040204020203" pitchFamily="34" charset="0"/>
              </a:rPr>
              <a:t>WHY IT IS NOT A MEDICAL DEVICE</a:t>
            </a:r>
          </a:p>
          <a:p>
            <a:pPr marL="177800" indent="-177800">
              <a:spcAft>
                <a:spcPts val="3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No validated performance claim</a:t>
            </a:r>
          </a:p>
          <a:p>
            <a:pPr marL="177800" indent="-177800">
              <a:spcAft>
                <a:spcPts val="3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Synthetic cases only; no patient data</a:t>
            </a:r>
          </a:p>
          <a:p>
            <a:pPr marL="177800" indent="-177800">
              <a:spcAft>
                <a:spcPts val="3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Never produces a diagnosis or treatment advice</a:t>
            </a:r>
          </a:p>
          <a:p>
            <a:pPr marL="177800" indent="-177800">
              <a:spcAft>
                <a:spcPts val="300"/>
              </a:spcAft>
              <a:buClr>
                <a:srgbClr val="3B4A5C"/>
              </a:buClr>
              <a:buFont typeface="+mj-lt"/>
              <a:buChar char="•"/>
            </a:pPr>
            <a:r>
              <a:rPr lang="en-US" sz="1300">
                <a:solidFill>
                  <a:srgbClr val="3B4A5C"/>
                </a:solidFill>
                <a:latin typeface="Calibri" panose="020F0502020204030204" pitchFamily="34" charset="0"/>
                <a:cs typeface="Segoe UI" panose="020B0502040204020203" pitchFamily="34" charset="0"/>
              </a:rPr>
              <a:t>Every decision is a human’s</a:t>
            </a:r>
          </a:p>
        </p:txBody>
      </p:sp>
      <p:sp>
        <p:nvSpPr>
          <p:cNvPr id="19" name="txt-400">
            <a:extLst>
              <a:ext uri="{FF2B5EF4-FFF2-40B4-BE49-F238E27FC236}">
                <a16:creationId xmlns:a16="http://schemas.microsoft.com/office/drawing/2014/main" id="{99167373-F472-4C04-7208-DEACC5948EEA}"/>
              </a:ext>
            </a:extLst>
          </p:cNvPr>
          <p:cNvSpPr txBox="1"/>
          <p:nvPr/>
        </p:nvSpPr>
        <p:spPr>
          <a:xfrm>
            <a:off x="711200" y="6527800"/>
            <a:ext cx="8890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cs typeface="Segoe UI" panose="020B0502040204020203" pitchFamily="34" charset="0"/>
              </a:rPr>
              <a:t>DIAGNOSTIC INTELLIGENCE LAB · AL DHAFRA HEALTH FORUM · EDUCATIONAL PROTOTYPE · NOT A MEDICAL DEVICE · APPENDIX</a:t>
            </a:r>
          </a:p>
        </p:txBody>
      </p:sp>
      <p:sp>
        <p:nvSpPr>
          <p:cNvPr id="20" name="txt-401">
            <a:extLst>
              <a:ext uri="{FF2B5EF4-FFF2-40B4-BE49-F238E27FC236}">
                <a16:creationId xmlns:a16="http://schemas.microsoft.com/office/drawing/2014/main" id="{1131F84E-344C-E549-EE8B-1B84CEF7F323}"/>
              </a:ext>
            </a:extLst>
          </p:cNvPr>
          <p:cNvSpPr txBox="1"/>
          <p:nvPr/>
        </p:nvSpPr>
        <p:spPr>
          <a:xfrm>
            <a:off x="10972800" y="6527800"/>
            <a:ext cx="5080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cs typeface="Segoe UI" panose="020B0502040204020203" pitchFamily="34" charset="0"/>
              </a:rPr>
              <a:t>A3</a:t>
            </a:r>
          </a:p>
        </p:txBody>
      </p:sp>
    </p:spTree>
    <p:extLst>
      <p:ext uri="{BB962C8B-B14F-4D97-AF65-F5344CB8AC3E}">
        <p14:creationId xmlns:p14="http://schemas.microsoft.com/office/powerpoint/2010/main" val="571227233"/>
      </p:ext>
    </p:extLst>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3816</Words>
  <Application>Microsoft Office PowerPoint</Application>
  <PresentationFormat>Custom</PresentationFormat>
  <Paragraphs>386</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Display</vt: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Diagnostic Intelligence Lab student team</dc:creator>
  <cp:lastModifiedBy>Diagnostic Intelligence Lab student team</cp:lastModifiedBy>
  <cp:revision>1</cp:revision>
  <dcterms:created xsi:type="dcterms:W3CDTF">2026-10-27T15:01:21Z</dcterms:created>
  <dcterms:modified xsi:type="dcterms:W3CDTF">2026-10-27T15:01:21Z</dcterms:modified>
</cp:coreProperties>
</file>